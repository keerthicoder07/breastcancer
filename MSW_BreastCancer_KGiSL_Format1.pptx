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charts/chart1.xml" ContentType="application/vnd.openxmlformats-officedocument.drawingml.chart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4"/>
  </p:notesMasterIdLst>
  <p:sldIdLst>
    <p:sldId id="256" r:id="rId2"/>
    <p:sldId id="260" r:id="rId3"/>
    <p:sldId id="289" r:id="rId4"/>
    <p:sldId id="285" r:id="rId5"/>
    <p:sldId id="258" r:id="rId6"/>
    <p:sldId id="259" r:id="rId7"/>
    <p:sldId id="286" r:id="rId8"/>
    <p:sldId id="261" r:id="rId9"/>
    <p:sldId id="275" r:id="rId10"/>
    <p:sldId id="270" r:id="rId11"/>
    <p:sldId id="266" r:id="rId12"/>
    <p:sldId id="287" r:id="rId13"/>
    <p:sldId id="262" r:id="rId14"/>
    <p:sldId id="263" r:id="rId15"/>
    <p:sldId id="264" r:id="rId16"/>
    <p:sldId id="265" r:id="rId17"/>
    <p:sldId id="267" r:id="rId18"/>
    <p:sldId id="268" r:id="rId19"/>
    <p:sldId id="269" r:id="rId20"/>
    <p:sldId id="271" r:id="rId21"/>
    <p:sldId id="288" r:id="rId22"/>
    <p:sldId id="272" r:id="rId23"/>
    <p:sldId id="273" r:id="rId24"/>
    <p:sldId id="274" r:id="rId25"/>
    <p:sldId id="277" r:id="rId26"/>
    <p:sldId id="278" r:id="rId27"/>
    <p:sldId id="279" r:id="rId28"/>
    <p:sldId id="284" r:id="rId29"/>
    <p:sldId id="280" r:id="rId30"/>
    <p:sldId id="281" r:id="rId31"/>
    <p:sldId id="282" r:id="rId32"/>
    <p:sldId id="283" r:id="rId33"/>
  </p:sldIdLst>
  <p:sldSz cx="9144000" cy="5143500" type="screen16x9"/>
  <p:notesSz cx="51435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91E22"/>
    <a:srgbClr val="191D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1" d="100"/>
          <a:sy n="111" d="100"/>
        </p:scale>
        <p:origin x="63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GB"/>
  <c:roundedCorners val="0"/>
  <c:style val="2"/>
  <c:chart>
    <c:title>
      <c:tx>
        <c:rich>
          <a:bodyPr rot="0"/>
          <a:lstStyle/>
          <a:p>
            <a:pPr>
              <a:defRPr sz="1800" b="0" strike="noStrike" spc="-1">
                <a:solidFill>
                  <a:srgbClr val="000000"/>
                </a:solidFill>
                <a:latin typeface="Arial"/>
              </a:defRPr>
            </a:pPr>
            <a:r>
              <a:rPr lang="en-IN" sz="1800" b="0" strike="noStrike" spc="-1">
                <a:solidFill>
                  <a:srgbClr val="000000"/>
                </a:solidFill>
                <a:latin typeface="Arial"/>
              </a:rPr>
              <a:t>Classification Accuracy Comparison (%)</a:t>
            </a:r>
          </a:p>
        </c:rich>
      </c:tx>
      <c:overlay val="0"/>
      <c:spPr>
        <a:noFill/>
        <a:ln w="0">
          <a:noFill/>
        </a:ln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Accuracy (%)</c:v>
                </c:pt>
              </c:strCache>
            </c:strRef>
          </c:tx>
          <c:spPr>
            <a:solidFill>
              <a:srgbClr val="9E9E9E"/>
            </a:solidFill>
            <a:ln w="0">
              <a:noFill/>
            </a:ln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EED0-459B-A40D-F4F37298B896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EED0-459B-A40D-F4F37298B896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EED0-459B-A40D-F4F37298B896}"/>
              </c:ext>
            </c:extLst>
          </c:dPt>
          <c:dPt>
            <c:idx val="3"/>
            <c:invertIfNegative val="0"/>
            <c:bubble3D val="0"/>
            <c:spPr>
              <a:solidFill>
                <a:srgbClr val="2E74B5"/>
              </a:solidFill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007-EED0-459B-A40D-F4F37298B896}"/>
              </c:ext>
            </c:extLst>
          </c:dPt>
          <c:dLbls>
            <c:dLbl>
              <c:idx val="0"/>
              <c:numFmt formatCode="#,##0" sourceLinked="0"/>
              <c:spPr/>
              <c:txPr>
                <a:bodyPr wrap="square"/>
                <a:lstStyle/>
                <a:p>
                  <a:pPr>
                    <a:defRPr sz="1200" b="0" strike="noStrike" spc="-1">
                      <a:solidFill>
                        <a:srgbClr val="1F3864"/>
                      </a:solidFill>
                      <a:latin typeface="Arial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EED0-459B-A40D-F4F37298B896}"/>
                </c:ext>
              </c:extLst>
            </c:dLbl>
            <c:dLbl>
              <c:idx val="1"/>
              <c:numFmt formatCode="#,##0" sourceLinked="0"/>
              <c:spPr/>
              <c:txPr>
                <a:bodyPr wrap="square"/>
                <a:lstStyle/>
                <a:p>
                  <a:pPr>
                    <a:defRPr sz="1200" b="0" strike="noStrike" spc="-1">
                      <a:solidFill>
                        <a:srgbClr val="1F3864"/>
                      </a:solidFill>
                      <a:latin typeface="Arial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EED0-459B-A40D-F4F37298B896}"/>
                </c:ext>
              </c:extLst>
            </c:dLbl>
            <c:dLbl>
              <c:idx val="2"/>
              <c:numFmt formatCode="#,##0" sourceLinked="0"/>
              <c:spPr/>
              <c:txPr>
                <a:bodyPr wrap="square"/>
                <a:lstStyle/>
                <a:p>
                  <a:pPr>
                    <a:defRPr sz="1200" b="0" strike="noStrike" spc="-1">
                      <a:solidFill>
                        <a:srgbClr val="1F3864"/>
                      </a:solidFill>
                      <a:latin typeface="Arial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EED0-459B-A40D-F4F37298B896}"/>
                </c:ext>
              </c:extLst>
            </c:dLbl>
            <c:dLbl>
              <c:idx val="3"/>
              <c:numFmt formatCode="#,##0" sourceLinked="0"/>
              <c:spPr/>
              <c:txPr>
                <a:bodyPr wrap="square"/>
                <a:lstStyle/>
                <a:p>
                  <a:pPr>
                    <a:defRPr sz="1200" b="0" strike="noStrike" spc="-1">
                      <a:solidFill>
                        <a:srgbClr val="1F3864"/>
                      </a:solidFill>
                      <a:latin typeface="Arial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EED0-459B-A40D-F4F37298B896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wrap="square"/>
              <a:lstStyle/>
              <a:p>
                <a:pPr>
                  <a:defRPr sz="1200" b="0" strike="noStrike" spc="-1">
                    <a:solidFill>
                      <a:srgbClr val="1F3864"/>
                    </a:solidFill>
                    <a:latin typeface="Arial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1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4"/>
                <c:pt idx="0">
                  <c:v>Traditional CNN</c:v>
                </c:pt>
                <c:pt idx="1">
                  <c:v>Single ViT</c:v>
                </c:pt>
                <c:pt idx="2">
                  <c:v>ResNet-50</c:v>
                </c:pt>
                <c:pt idx="3">
                  <c:v>Proposed Dual-Stream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4"/>
                <c:pt idx="0">
                  <c:v>85</c:v>
                </c:pt>
                <c:pt idx="1">
                  <c:v>88</c:v>
                </c:pt>
                <c:pt idx="2">
                  <c:v>87</c:v>
                </c:pt>
                <c:pt idx="3">
                  <c:v>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EED0-459B-A40D-F4F37298B89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2875101"/>
        <c:axId val="13143780"/>
      </c:barChart>
      <c:catAx>
        <c:axId val="22875101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sz="1100" b="0" strike="noStrike" spc="-1">
                <a:solidFill>
                  <a:srgbClr val="595959"/>
                </a:solidFill>
                <a:latin typeface="Arial"/>
              </a:defRPr>
            </a:pPr>
            <a:endParaRPr lang="en-US"/>
          </a:p>
        </c:txPr>
        <c:crossAx val="13143780"/>
        <c:crosses val="autoZero"/>
        <c:auto val="1"/>
        <c:lblAlgn val="ctr"/>
        <c:lblOffset val="100"/>
        <c:noMultiLvlLbl val="0"/>
      </c:catAx>
      <c:valAx>
        <c:axId val="13143780"/>
        <c:scaling>
          <c:orientation val="minMax"/>
        </c:scaling>
        <c:delete val="0"/>
        <c:axPos val="l"/>
        <c:majorGridlines>
          <c:spPr>
            <a:ln w="6480">
              <a:solidFill>
                <a:srgbClr val="E0E0E0"/>
              </a:solidFill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sz="1200" b="0" strike="noStrike" spc="-1">
                <a:solidFill>
                  <a:srgbClr val="595959"/>
                </a:solidFill>
                <a:latin typeface="Arial"/>
              </a:defRPr>
            </a:pPr>
            <a:endParaRPr lang="en-US"/>
          </a:p>
        </c:txPr>
        <c:crossAx val="22875101"/>
        <c:crosses val="autoZero"/>
        <c:crossBetween val="between"/>
      </c:valAx>
      <c:spPr>
        <a:noFill/>
        <a:ln w="0">
          <a:noFill/>
        </a:ln>
      </c:spPr>
    </c:plotArea>
    <c:plotVisOnly val="1"/>
    <c:dispBlanksAs val="span"/>
    <c:showDLblsOverMax val="1"/>
  </c:chart>
  <c:spPr>
    <a:solidFill>
      <a:srgbClr val="FFFFFF"/>
    </a:solidFill>
    <a:ln w="9360">
      <a:noFill/>
    </a:ln>
  </c:spPr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Click to move the slide</a:t>
            </a: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r>
              <a:rPr lang="en-US" sz="2000" b="0" strike="noStrike" spc="-1">
                <a:latin typeface="Arial"/>
              </a:rPr>
              <a:t>Click to edit the notes format</a:t>
            </a:r>
          </a:p>
        </p:txBody>
      </p:sp>
      <p:sp>
        <p:nvSpPr>
          <p:cNvPr id="4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r>
              <a:rPr lang="en-US" sz="1400" b="0" strike="noStrike" spc="-1">
                <a:latin typeface="Times New Roman"/>
              </a:rPr>
              <a:t>&lt;header&gt;</a:t>
            </a:r>
          </a:p>
        </p:txBody>
      </p:sp>
      <p:sp>
        <p:nvSpPr>
          <p:cNvPr id="41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r">
              <a:buNone/>
              <a:defRPr lang="en-US" sz="1400" b="0" strike="noStrike" spc="-1">
                <a:latin typeface="Times New Roman"/>
              </a:defRPr>
            </a:lvl1pPr>
          </a:lstStyle>
          <a:p>
            <a:pPr algn="r">
              <a:buNone/>
            </a:pPr>
            <a:r>
              <a:rPr lang="en-US" sz="1400" b="0" strike="noStrike" spc="-1">
                <a:latin typeface="Times New Roman"/>
              </a:rPr>
              <a:t>&lt;date/time&gt;</a:t>
            </a:r>
          </a:p>
        </p:txBody>
      </p:sp>
      <p:sp>
        <p:nvSpPr>
          <p:cNvPr id="42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>
              <a:defRPr lang="en-US" sz="1400" b="0" strike="noStrike" spc="-1">
                <a:latin typeface="Times New Roman"/>
              </a:defRPr>
            </a:lvl1pPr>
          </a:lstStyle>
          <a:p>
            <a:r>
              <a:rPr lang="en-US" sz="1400" b="0" strike="noStrike" spc="-1">
                <a:latin typeface="Times New Roman"/>
              </a:rPr>
              <a:t>&lt;footer&gt;</a:t>
            </a:r>
          </a:p>
        </p:txBody>
      </p:sp>
      <p:sp>
        <p:nvSpPr>
          <p:cNvPr id="43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algn="r">
              <a:buNone/>
              <a:defRPr lang="en-US" sz="1400" b="0" strike="noStrike" spc="-1">
                <a:latin typeface="Times New Roman"/>
              </a:defRPr>
            </a:lvl1pPr>
          </a:lstStyle>
          <a:p>
            <a:pPr algn="r">
              <a:buNone/>
            </a:pPr>
            <a:fld id="{C43EA504-56CA-4FDD-896A-4F53207629C0}" type="slidenum">
              <a:rPr lang="en-US" sz="1400" b="0" strike="noStrike" spc="-1">
                <a:latin typeface="Times New Roman"/>
              </a:rPr>
              <a:t>‹#›</a:t>
            </a:fld>
            <a:endParaRPr lang="en-US" sz="14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1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515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lang="en-US" sz="1200" b="0" strike="noStrike" spc="-1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A35F8019-8615-49E0-992B-89C3A76ECF23}" type="slidenum">
              <a:rPr lang="en-US" sz="1200" b="0" strike="noStrike" spc="-1">
                <a:solidFill>
                  <a:srgbClr val="000000"/>
                </a:solidFill>
                <a:latin typeface="+mn-lt"/>
                <a:ea typeface="+mn-ea"/>
              </a:rPr>
              <a:t>1</a:t>
            </a:fld>
            <a:endParaRPr lang="en-US" sz="12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2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527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lang="en-US" sz="1200" b="0" strike="noStrike" spc="-1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DE152F41-C35C-46B3-8514-E0616DA092FB}" type="slidenum">
              <a:rPr lang="en-US" sz="1200" b="0" strike="noStrike" spc="-1">
                <a:solidFill>
                  <a:srgbClr val="000000"/>
                </a:solidFill>
                <a:latin typeface="+mn-lt"/>
                <a:ea typeface="+mn-ea"/>
              </a:rPr>
              <a:t>2</a:t>
            </a:fld>
            <a:endParaRPr lang="en-US" sz="12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4F401C-310D-32C9-356C-B5ECF4E6B8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PlaceHolder 1">
            <a:extLst>
              <a:ext uri="{FF2B5EF4-FFF2-40B4-BE49-F238E27FC236}">
                <a16:creationId xmlns:a16="http://schemas.microsoft.com/office/drawing/2014/main" id="{9A8C2195-9251-8626-98ED-CACF216001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26" name="PlaceHolder 2">
            <a:extLst>
              <a:ext uri="{FF2B5EF4-FFF2-40B4-BE49-F238E27FC236}">
                <a16:creationId xmlns:a16="http://schemas.microsoft.com/office/drawing/2014/main" id="{B58F1B0F-8797-3E04-8961-AE0968357519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527" name="PlaceHolder 3">
            <a:extLst>
              <a:ext uri="{FF2B5EF4-FFF2-40B4-BE49-F238E27FC236}">
                <a16:creationId xmlns:a16="http://schemas.microsoft.com/office/drawing/2014/main" id="{65BAC48B-D9A9-FDDC-6A5D-F8FD0959188C}"/>
              </a:ext>
            </a:extLst>
          </p:cNvPr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lang="en-US" sz="1200" b="0" strike="noStrike" spc="-1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DE152F41-C35C-46B3-8514-E0616DA092FB}" type="slidenum">
              <a:rPr lang="en-US" sz="1200" b="0" strike="noStrike" spc="-1">
                <a:solidFill>
                  <a:srgbClr val="000000"/>
                </a:solidFill>
                <a:latin typeface="+mn-lt"/>
                <a:ea typeface="+mn-ea"/>
              </a:rPr>
              <a:t>3</a:t>
            </a:fld>
            <a:endParaRPr lang="en-US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3654851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C5502D-AE39-D025-AF22-EFAD26E553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PlaceHolder 1">
            <a:extLst>
              <a:ext uri="{FF2B5EF4-FFF2-40B4-BE49-F238E27FC236}">
                <a16:creationId xmlns:a16="http://schemas.microsoft.com/office/drawing/2014/main" id="{278B7997-1B4F-6A32-6E5D-DE85757195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26" name="PlaceHolder 2">
            <a:extLst>
              <a:ext uri="{FF2B5EF4-FFF2-40B4-BE49-F238E27FC236}">
                <a16:creationId xmlns:a16="http://schemas.microsoft.com/office/drawing/2014/main" id="{26C0B35C-3CE4-AC75-7CC3-B3D849A8D036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527" name="PlaceHolder 3">
            <a:extLst>
              <a:ext uri="{FF2B5EF4-FFF2-40B4-BE49-F238E27FC236}">
                <a16:creationId xmlns:a16="http://schemas.microsoft.com/office/drawing/2014/main" id="{1A203611-CBDC-B2BA-6DEC-6283B241087E}"/>
              </a:ext>
            </a:extLst>
          </p:cNvPr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lang="en-US" sz="1200" b="0" strike="noStrike" spc="-1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DE152F41-C35C-46B3-8514-E0616DA092FB}" type="slidenum">
              <a:rPr lang="en-US" sz="1200" b="0" strike="noStrike" spc="-1">
                <a:solidFill>
                  <a:srgbClr val="000000"/>
                </a:solidFill>
                <a:latin typeface="+mn-lt"/>
                <a:ea typeface="+mn-ea"/>
              </a:rPr>
              <a:t>4</a:t>
            </a:fld>
            <a:endParaRPr lang="en-US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7582031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2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521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lang="en-US" sz="1200" b="0" strike="noStrike" spc="-1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3B9EE49C-23F4-4717-8183-39CE4945830A}" type="slidenum">
              <a:rPr lang="en-US" sz="1200" b="0" strike="noStrike" spc="-1">
                <a:solidFill>
                  <a:srgbClr val="000000"/>
                </a:solidFill>
                <a:latin typeface="+mn-lt"/>
                <a:ea typeface="+mn-ea"/>
              </a:rPr>
              <a:t>5</a:t>
            </a:fld>
            <a:endParaRPr lang="en-US" sz="12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2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524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lang="en-US" sz="1200" b="0" strike="noStrike" spc="-1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DE9F4013-4C00-40EE-8A7A-9CC170F893A8}" type="slidenum">
              <a:rPr lang="en-US" sz="1200" b="0" strike="noStrike" spc="-1">
                <a:solidFill>
                  <a:srgbClr val="000000"/>
                </a:solidFill>
                <a:latin typeface="+mn-lt"/>
                <a:ea typeface="+mn-ea"/>
              </a:rPr>
              <a:t>6</a:t>
            </a:fld>
            <a:endParaRPr lang="en-US" sz="12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9023F4-8E3A-6272-B06B-8E9D252DF4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PlaceHolder 1">
            <a:extLst>
              <a:ext uri="{FF2B5EF4-FFF2-40B4-BE49-F238E27FC236}">
                <a16:creationId xmlns:a16="http://schemas.microsoft.com/office/drawing/2014/main" id="{39535DD6-FFF7-542C-A153-BFA52B1EBC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23" name="PlaceHolder 2">
            <a:extLst>
              <a:ext uri="{FF2B5EF4-FFF2-40B4-BE49-F238E27FC236}">
                <a16:creationId xmlns:a16="http://schemas.microsoft.com/office/drawing/2014/main" id="{EFCE285A-C978-AB50-24DE-B869461164BB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524" name="PlaceHolder 3">
            <a:extLst>
              <a:ext uri="{FF2B5EF4-FFF2-40B4-BE49-F238E27FC236}">
                <a16:creationId xmlns:a16="http://schemas.microsoft.com/office/drawing/2014/main" id="{2832C73C-6FFE-34AE-ED05-97BE770111A9}"/>
              </a:ext>
            </a:extLst>
          </p:cNvPr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lang="en-US" sz="1200" b="0" strike="noStrike" spc="-1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DE9F4013-4C00-40EE-8A7A-9CC170F893A8}" type="slidenum">
              <a:rPr lang="en-US" sz="1200" b="0" strike="noStrike" spc="-1">
                <a:solidFill>
                  <a:srgbClr val="000000"/>
                </a:solidFill>
                <a:latin typeface="+mn-lt"/>
                <a:ea typeface="+mn-ea"/>
              </a:rPr>
              <a:t>7</a:t>
            </a:fld>
            <a:endParaRPr lang="en-US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9463904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2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530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lang="en-US" sz="1200" b="0" strike="noStrike" spc="-1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1FA7EB5E-9903-4008-A0A3-8AEF3E37F6FA}" type="slidenum">
              <a:rPr lang="en-US" sz="1200" b="0" strike="noStrike" spc="-1">
                <a:solidFill>
                  <a:srgbClr val="000000"/>
                </a:solidFill>
                <a:latin typeface="+mn-lt"/>
                <a:ea typeface="+mn-ea"/>
              </a:rPr>
              <a:t>8</a:t>
            </a:fld>
            <a:endParaRPr lang="en-US" sz="12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7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572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lang="en-US" sz="1200" b="0" strike="noStrike" spc="-1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12C95754-7EAE-49A8-B272-19E86353B4E5}" type="slidenum">
              <a:rPr lang="en-US" sz="1200" b="0" strike="noStrike" spc="-1">
                <a:solidFill>
                  <a:srgbClr val="000000"/>
                </a:solidFill>
                <a:latin typeface="+mn-lt"/>
                <a:ea typeface="+mn-ea"/>
              </a:rPr>
              <a:t>9</a:t>
            </a:fld>
            <a:endParaRPr lang="en-US" sz="12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5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557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lang="en-US" sz="1200" b="0" strike="noStrike" spc="-1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905D0BA6-D059-4BE7-8654-E4038C9F10CA}" type="slidenum">
              <a:rPr lang="en-US" sz="1200" b="0" strike="noStrike" spc="-1">
                <a:solidFill>
                  <a:srgbClr val="000000"/>
                </a:solidFill>
                <a:latin typeface="+mn-lt"/>
                <a:ea typeface="+mn-ea"/>
              </a:rPr>
              <a:t>10</a:t>
            </a:fld>
            <a:endParaRPr lang="en-US" sz="12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4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545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lang="en-US" sz="1200" b="0" strike="noStrike" spc="-1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85979BA0-D622-40E2-802D-E2F6CB93EC67}" type="slidenum">
              <a:rPr lang="en-US" sz="1200" b="0" strike="noStrike" spc="-1">
                <a:solidFill>
                  <a:srgbClr val="000000"/>
                </a:solidFill>
                <a:latin typeface="+mn-lt"/>
                <a:ea typeface="+mn-ea"/>
              </a:rPr>
              <a:t>11</a:t>
            </a:fld>
            <a:endParaRPr lang="en-US" sz="12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76AC03-ABD8-9773-C3E0-26086A8014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PlaceHolder 1">
            <a:extLst>
              <a:ext uri="{FF2B5EF4-FFF2-40B4-BE49-F238E27FC236}">
                <a16:creationId xmlns:a16="http://schemas.microsoft.com/office/drawing/2014/main" id="{0092DFEB-F06A-AEB0-3292-89662B40F9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44" name="PlaceHolder 2">
            <a:extLst>
              <a:ext uri="{FF2B5EF4-FFF2-40B4-BE49-F238E27FC236}">
                <a16:creationId xmlns:a16="http://schemas.microsoft.com/office/drawing/2014/main" id="{121424B7-40CC-2296-A716-3BF1DFE73945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545" name="PlaceHolder 3">
            <a:extLst>
              <a:ext uri="{FF2B5EF4-FFF2-40B4-BE49-F238E27FC236}">
                <a16:creationId xmlns:a16="http://schemas.microsoft.com/office/drawing/2014/main" id="{463BCEF4-B57D-73A4-5A62-5F23689FAC27}"/>
              </a:ext>
            </a:extLst>
          </p:cNvPr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lang="en-US" sz="1200" b="0" strike="noStrike" spc="-1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85979BA0-D622-40E2-802D-E2F6CB93EC67}" type="slidenum">
              <a:rPr lang="en-US" sz="1200" b="0" strike="noStrike" spc="-1">
                <a:solidFill>
                  <a:srgbClr val="000000"/>
                </a:solidFill>
                <a:latin typeface="+mn-lt"/>
                <a:ea typeface="+mn-ea"/>
              </a:rPr>
              <a:t>12</a:t>
            </a:fld>
            <a:endParaRPr lang="en-US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07173963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3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533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lang="en-US" sz="1200" b="0" strike="noStrike" spc="-1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1A8B253C-7F30-427A-BBAB-596E734A1258}" type="slidenum">
              <a:rPr lang="en-US" sz="1200" b="0" strike="noStrike" spc="-1">
                <a:solidFill>
                  <a:srgbClr val="000000"/>
                </a:solidFill>
                <a:latin typeface="+mn-lt"/>
                <a:ea typeface="+mn-ea"/>
              </a:rPr>
              <a:t>13</a:t>
            </a:fld>
            <a:endParaRPr lang="en-US" sz="12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3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536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lang="en-US" sz="1200" b="0" strike="noStrike" spc="-1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2E491654-0C03-421D-8FB6-4629770DCCA0}" type="slidenum">
              <a:rPr lang="en-US" sz="1200" b="0" strike="noStrike" spc="-1">
                <a:solidFill>
                  <a:srgbClr val="000000"/>
                </a:solidFill>
                <a:latin typeface="+mn-lt"/>
                <a:ea typeface="+mn-ea"/>
              </a:rPr>
              <a:t>14</a:t>
            </a:fld>
            <a:endParaRPr lang="en-US" sz="12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3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539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lang="en-US" sz="1200" b="0" strike="noStrike" spc="-1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81BD82E7-244E-4407-B1FE-F553E9E27222}" type="slidenum">
              <a:rPr lang="en-US" sz="1200" b="0" strike="noStrike" spc="-1">
                <a:solidFill>
                  <a:srgbClr val="000000"/>
                </a:solidFill>
                <a:latin typeface="+mn-lt"/>
                <a:ea typeface="+mn-ea"/>
              </a:rPr>
              <a:t>15</a:t>
            </a:fld>
            <a:endParaRPr lang="en-US" sz="12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4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542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lang="en-US" sz="1200" b="0" strike="noStrike" spc="-1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55DD6739-1CCA-4160-8158-D67D299A3294}" type="slidenum">
              <a:rPr lang="en-US" sz="1200" b="0" strike="noStrike" spc="-1">
                <a:solidFill>
                  <a:srgbClr val="000000"/>
                </a:solidFill>
                <a:latin typeface="+mn-lt"/>
                <a:ea typeface="+mn-ea"/>
              </a:rPr>
              <a:t>16</a:t>
            </a:fld>
            <a:endParaRPr lang="en-US" sz="12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4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548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lang="en-US" sz="1200" b="0" strike="noStrike" spc="-1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A3782A8E-F550-4ACF-8083-CED8EC1A1184}" type="slidenum">
              <a:rPr lang="en-US" sz="1200" b="0" strike="noStrike" spc="-1">
                <a:solidFill>
                  <a:srgbClr val="000000"/>
                </a:solidFill>
                <a:latin typeface="+mn-lt"/>
                <a:ea typeface="+mn-ea"/>
              </a:rPr>
              <a:t>17</a:t>
            </a:fld>
            <a:endParaRPr lang="en-US" sz="12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5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551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lang="en-US" sz="1200" b="0" strike="noStrike" spc="-1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E746FF7D-DE7B-4A1A-89DE-58D6B84FFEBC}" type="slidenum">
              <a:rPr lang="en-US" sz="1200" b="0" strike="noStrike" spc="-1">
                <a:solidFill>
                  <a:srgbClr val="000000"/>
                </a:solidFill>
                <a:latin typeface="+mn-lt"/>
                <a:ea typeface="+mn-ea"/>
              </a:rPr>
              <a:t>18</a:t>
            </a:fld>
            <a:endParaRPr lang="en-US" sz="12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5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554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lang="en-US" sz="1200" b="0" strike="noStrike" spc="-1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C533983F-83FB-483C-9CE7-DB1B5D083763}" type="slidenum">
              <a:rPr lang="en-US" sz="1200" b="0" strike="noStrike" spc="-1">
                <a:solidFill>
                  <a:srgbClr val="000000"/>
                </a:solidFill>
                <a:latin typeface="+mn-lt"/>
                <a:ea typeface="+mn-ea"/>
              </a:rPr>
              <a:t>19</a:t>
            </a:fld>
            <a:endParaRPr lang="en-US" sz="12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5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560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lang="en-US" sz="1200" b="0" strike="noStrike" spc="-1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BAC32F90-3366-4169-A6C5-22BB926671F4}" type="slidenum">
              <a:rPr lang="en-US" sz="1200" b="0" strike="noStrike" spc="-1">
                <a:solidFill>
                  <a:srgbClr val="000000"/>
                </a:solidFill>
                <a:latin typeface="+mn-lt"/>
                <a:ea typeface="+mn-ea"/>
              </a:rPr>
              <a:t>20</a:t>
            </a:fld>
            <a:endParaRPr lang="en-US" sz="12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F9A486-C823-B4D5-19FB-13AC777141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PlaceHolder 1">
            <a:extLst>
              <a:ext uri="{FF2B5EF4-FFF2-40B4-BE49-F238E27FC236}">
                <a16:creationId xmlns:a16="http://schemas.microsoft.com/office/drawing/2014/main" id="{4EAE9A5D-8411-1045-B5BE-77AF9B7885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59" name="PlaceHolder 2">
            <a:extLst>
              <a:ext uri="{FF2B5EF4-FFF2-40B4-BE49-F238E27FC236}">
                <a16:creationId xmlns:a16="http://schemas.microsoft.com/office/drawing/2014/main" id="{F2E94F8A-E938-8BA5-F80F-E13A427420B2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560" name="PlaceHolder 3">
            <a:extLst>
              <a:ext uri="{FF2B5EF4-FFF2-40B4-BE49-F238E27FC236}">
                <a16:creationId xmlns:a16="http://schemas.microsoft.com/office/drawing/2014/main" id="{25D87D8F-E3A3-09C2-F30C-1C874E3E8877}"/>
              </a:ext>
            </a:extLst>
          </p:cNvPr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lang="en-US" sz="1200" b="0" strike="noStrike" spc="-1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BAC32F90-3366-4169-A6C5-22BB926671F4}" type="slidenum">
              <a:rPr lang="en-US" sz="1200" b="0" strike="noStrike" spc="-1">
                <a:solidFill>
                  <a:srgbClr val="000000"/>
                </a:solidFill>
                <a:latin typeface="+mn-lt"/>
                <a:ea typeface="+mn-ea"/>
              </a:rPr>
              <a:t>21</a:t>
            </a:fld>
            <a:endParaRPr lang="en-US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94591003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6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563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lang="en-US" sz="1200" b="0" strike="noStrike" spc="-1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D318C502-B1E5-4E8C-8BED-7C87D9E556D6}" type="slidenum">
              <a:rPr lang="en-US" sz="1200" b="0" strike="noStrike" spc="-1">
                <a:solidFill>
                  <a:srgbClr val="000000"/>
                </a:solidFill>
                <a:latin typeface="+mn-lt"/>
                <a:ea typeface="+mn-ea"/>
              </a:rPr>
              <a:t>22</a:t>
            </a:fld>
            <a:endParaRPr lang="en-US" sz="12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6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566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lang="en-US" sz="1200" b="0" strike="noStrike" spc="-1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391C8DF8-BC22-4B9A-8D37-1335DAD19EAD}" type="slidenum">
              <a:rPr lang="en-US" sz="1200" b="0" strike="noStrike" spc="-1">
                <a:solidFill>
                  <a:srgbClr val="000000"/>
                </a:solidFill>
                <a:latin typeface="+mn-lt"/>
                <a:ea typeface="+mn-ea"/>
              </a:rPr>
              <a:t>23</a:t>
            </a:fld>
            <a:endParaRPr lang="en-US" sz="12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6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569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lang="en-US" sz="1200" b="0" strike="noStrike" spc="-1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59050366-B195-4DD4-AFED-B07AC3D3F698}" type="slidenum">
              <a:rPr lang="en-US" sz="1200" b="0" strike="noStrike" spc="-1">
                <a:solidFill>
                  <a:srgbClr val="000000"/>
                </a:solidFill>
                <a:latin typeface="+mn-lt"/>
                <a:ea typeface="+mn-ea"/>
              </a:rPr>
              <a:t>24</a:t>
            </a:fld>
            <a:endParaRPr lang="en-US" sz="12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7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578" name="PlaceHolder 3"/>
          <p:cNvSpPr>
            <a:spLocks noGrp="1"/>
          </p:cNvSpPr>
          <p:nvPr>
            <p:ph type="sldNum" idx="2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lang="en-US" sz="1200" b="0" strike="noStrike" spc="-1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4068A6D6-F44D-49AB-916D-ECC1DC1B27D4}" type="slidenum">
              <a:rPr lang="en-US" sz="1200" b="0" strike="noStrike" spc="-1">
                <a:solidFill>
                  <a:srgbClr val="000000"/>
                </a:solidFill>
                <a:latin typeface="+mn-lt"/>
                <a:ea typeface="+mn-ea"/>
              </a:rPr>
              <a:t>25</a:t>
            </a:fld>
            <a:endParaRPr lang="en-US" sz="12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8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581" name="PlaceHolder 3"/>
          <p:cNvSpPr>
            <a:spLocks noGrp="1"/>
          </p:cNvSpPr>
          <p:nvPr>
            <p:ph type="sldNum" idx="2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lang="en-US" sz="1200" b="0" strike="noStrike" spc="-1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2B18496A-BD7F-4831-872A-29B5BDC40EA0}" type="slidenum">
              <a:rPr lang="en-US" sz="1200" b="0" strike="noStrike" spc="-1">
                <a:solidFill>
                  <a:srgbClr val="000000"/>
                </a:solidFill>
                <a:latin typeface="+mn-lt"/>
                <a:ea typeface="+mn-ea"/>
              </a:rPr>
              <a:t>26</a:t>
            </a:fld>
            <a:endParaRPr lang="en-US" sz="12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8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584" name="PlaceHolder 3"/>
          <p:cNvSpPr>
            <a:spLocks noGrp="1"/>
          </p:cNvSpPr>
          <p:nvPr>
            <p:ph type="sldNum" idx="2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lang="en-US" sz="1200" b="0" strike="noStrike" spc="-1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0694CAAB-891C-4487-8CD0-CEC7280EE4D6}" type="slidenum">
              <a:rPr lang="en-US" sz="1200" b="0" strike="noStrike" spc="-1">
                <a:solidFill>
                  <a:srgbClr val="000000"/>
                </a:solidFill>
                <a:latin typeface="+mn-lt"/>
                <a:ea typeface="+mn-ea"/>
              </a:rPr>
              <a:t>27</a:t>
            </a:fld>
            <a:endParaRPr lang="en-US" sz="12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8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587" name="PlaceHolder 3"/>
          <p:cNvSpPr>
            <a:spLocks noGrp="1"/>
          </p:cNvSpPr>
          <p:nvPr>
            <p:ph type="sldNum" idx="2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lang="en-US" sz="1200" b="0" strike="noStrike" spc="-1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7A2EA0A2-2F41-41C4-9BD1-B8B9A7A34D05}" type="slidenum">
              <a:rPr lang="en-US" sz="1200" b="0" strike="noStrike" spc="-1">
                <a:solidFill>
                  <a:srgbClr val="000000"/>
                </a:solidFill>
                <a:latin typeface="+mn-lt"/>
                <a:ea typeface="+mn-ea"/>
              </a:rPr>
              <a:t>29</a:t>
            </a:fld>
            <a:endParaRPr lang="en-US" sz="12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8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590" name="PlaceHolder 3"/>
          <p:cNvSpPr>
            <a:spLocks noGrp="1"/>
          </p:cNvSpPr>
          <p:nvPr>
            <p:ph type="sldNum" idx="2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lang="en-US" sz="1200" b="0" strike="noStrike" spc="-1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630E44AA-AF5E-43A2-8F25-FB91395F701D}" type="slidenum">
              <a:rPr lang="en-US" sz="1200" b="0" strike="noStrike" spc="-1">
                <a:solidFill>
                  <a:srgbClr val="000000"/>
                </a:solidFill>
                <a:latin typeface="+mn-lt"/>
                <a:ea typeface="+mn-ea"/>
              </a:rPr>
              <a:t>30</a:t>
            </a:fld>
            <a:endParaRPr lang="en-US" sz="12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9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593" name="PlaceHolder 3"/>
          <p:cNvSpPr>
            <a:spLocks noGrp="1"/>
          </p:cNvSpPr>
          <p:nvPr>
            <p:ph type="sldNum" idx="3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lang="en-US" sz="1200" b="0" strike="noStrike" spc="-1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E12F4E42-A100-4BB3-B432-96FF62451925}" type="slidenum">
              <a:rPr lang="en-US" sz="1200" b="0" strike="noStrike" spc="-1">
                <a:solidFill>
                  <a:srgbClr val="000000"/>
                </a:solidFill>
                <a:latin typeface="+mn-lt"/>
                <a:ea typeface="+mn-ea"/>
              </a:rPr>
              <a:t>31</a:t>
            </a:fld>
            <a:endParaRPr lang="en-US" sz="12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9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596" name="PlaceHolder 3"/>
          <p:cNvSpPr>
            <a:spLocks noGrp="1"/>
          </p:cNvSpPr>
          <p:nvPr>
            <p:ph type="sldNum" idx="3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lang="en-US" sz="1200" b="0" strike="noStrike" spc="-1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9E2B9C32-1379-4965-B774-F2096C293782}" type="slidenum">
              <a:rPr lang="en-US" sz="1200" b="0" strike="noStrike" spc="-1">
                <a:solidFill>
                  <a:srgbClr val="000000"/>
                </a:solidFill>
                <a:latin typeface="+mn-lt"/>
                <a:ea typeface="+mn-ea"/>
              </a:rPr>
              <a:t>32</a:t>
            </a:fld>
            <a:endParaRPr lang="en-US" sz="12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520742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strike="noStrike" spc="-1">
                <a:solidFill>
                  <a:srgbClr val="000000"/>
                </a:solidFill>
                <a:latin typeface="Calibri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jpg"/><Relationship Id="rId5" Type="http://schemas.openxmlformats.org/officeDocument/2006/relationships/image" Target="../media/image9.jpg"/><Relationship Id="rId4" Type="http://schemas.openxmlformats.org/officeDocument/2006/relationships/image" Target="../media/image8.jp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ext 0"/>
          <p:cNvSpPr/>
          <p:nvPr/>
        </p:nvSpPr>
        <p:spPr>
          <a:xfrm>
            <a:off x="1371600" y="164520"/>
            <a:ext cx="640044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1" strike="noStrike" spc="-1" dirty="0">
                <a:latin typeface="Times New Roman" panose="02020603050405020304" pitchFamily="18" charset="0"/>
                <a:ea typeface="Old English Text MT"/>
                <a:cs typeface="Times New Roman" panose="02020603050405020304" pitchFamily="18" charset="0"/>
              </a:rPr>
              <a:t>KGiSL INSTITUTE OF TECHNOLOGY</a:t>
            </a:r>
            <a:endParaRPr lang="en-US" sz="2000" b="0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Text 1"/>
          <p:cNvSpPr/>
          <p:nvPr/>
        </p:nvSpPr>
        <p:spPr>
          <a:xfrm>
            <a:off x="1371600" y="49392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600" b="1" strike="noStrike" spc="-1" dirty="0">
                <a:latin typeface="Times New Roman" panose="02020603050405020304" pitchFamily="18" charset="0"/>
                <a:ea typeface="Old English Text MT"/>
                <a:cs typeface="Times New Roman" panose="02020603050405020304" pitchFamily="18" charset="0"/>
              </a:rPr>
              <a:t>COIMBATORE</a:t>
            </a:r>
            <a:endParaRPr lang="en-US" sz="1600" b="0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Text 2"/>
          <p:cNvSpPr/>
          <p:nvPr/>
        </p:nvSpPr>
        <p:spPr>
          <a:xfrm>
            <a:off x="274320" y="868680"/>
            <a:ext cx="859500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800" b="1" strike="noStrike" spc="-1" dirty="0">
                <a:solidFill>
                  <a:srgbClr val="1F3864"/>
                </a:solidFill>
                <a:latin typeface="Times New Roman" panose="02020603050405020304" pitchFamily="18" charset="0"/>
                <a:ea typeface="Old English Text MT"/>
                <a:cs typeface="Times New Roman" panose="02020603050405020304" pitchFamily="18" charset="0"/>
              </a:rPr>
              <a:t>DEPARTMENT OF COMPUTER SCIENCE &amp; ENGINEERING</a:t>
            </a:r>
            <a:endParaRPr lang="en-US" sz="1800" b="0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Text 3"/>
          <p:cNvSpPr/>
          <p:nvPr/>
        </p:nvSpPr>
        <p:spPr>
          <a:xfrm>
            <a:off x="274320" y="1234440"/>
            <a:ext cx="859500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800" b="1" strike="noStrike" spc="-1" dirty="0">
                <a:solidFill>
                  <a:srgbClr val="1F3864"/>
                </a:solidFill>
                <a:latin typeface="Times New Roman" panose="02020603050405020304" pitchFamily="18" charset="0"/>
                <a:ea typeface="Old English Text MT"/>
                <a:cs typeface="Times New Roman" panose="02020603050405020304" pitchFamily="18" charset="0"/>
              </a:rPr>
              <a:t>FINAL PROJECT REVIEW</a:t>
            </a:r>
            <a:endParaRPr lang="en-US" sz="1800" b="1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Text 5"/>
          <p:cNvSpPr/>
          <p:nvPr/>
        </p:nvSpPr>
        <p:spPr>
          <a:xfrm>
            <a:off x="274320" y="1719000"/>
            <a:ext cx="8595000" cy="959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200" b="1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Parallel Dual-Stream Vision Transformer Network for</a:t>
            </a:r>
            <a:endParaRPr lang="en-US" sz="2200" b="0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200" b="1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Breast Cancer Classification in Mammography Images</a:t>
            </a:r>
            <a:endParaRPr lang="en-US" sz="2200" b="0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Text 6"/>
          <p:cNvSpPr/>
          <p:nvPr/>
        </p:nvSpPr>
        <p:spPr>
          <a:xfrm>
            <a:off x="666281" y="2663737"/>
            <a:ext cx="36572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1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</a:rPr>
              <a:t>TEAM MEMBERS:</a:t>
            </a:r>
            <a:endParaRPr lang="en-US" sz="1200" b="0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Text 8"/>
          <p:cNvSpPr/>
          <p:nvPr/>
        </p:nvSpPr>
        <p:spPr>
          <a:xfrm>
            <a:off x="3813313" y="3090960"/>
            <a:ext cx="365724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00" b="1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</a:rPr>
              <a:t>Keerthi R V</a:t>
            </a:r>
            <a:endParaRPr lang="en-US" sz="1000" b="0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Text 10"/>
          <p:cNvSpPr/>
          <p:nvPr/>
        </p:nvSpPr>
        <p:spPr>
          <a:xfrm>
            <a:off x="3813313" y="3396981"/>
            <a:ext cx="365724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00" b="1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</a:rPr>
              <a:t>Mahesh Kanna K</a:t>
            </a:r>
            <a:endParaRPr lang="en-US" sz="1000" b="0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Text 12"/>
          <p:cNvSpPr/>
          <p:nvPr/>
        </p:nvSpPr>
        <p:spPr>
          <a:xfrm>
            <a:off x="3813313" y="3662293"/>
            <a:ext cx="365724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00" b="1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</a:rPr>
              <a:t>Loganathan S</a:t>
            </a:r>
            <a:endParaRPr lang="en-US" sz="1000" b="0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Text 14"/>
          <p:cNvSpPr/>
          <p:nvPr/>
        </p:nvSpPr>
        <p:spPr>
          <a:xfrm>
            <a:off x="3813313" y="3987180"/>
            <a:ext cx="365724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00" b="1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</a:rPr>
              <a:t>Arunadevi D</a:t>
            </a:r>
            <a:endParaRPr lang="en-US" sz="1000" b="0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Text 15"/>
          <p:cNvSpPr/>
          <p:nvPr/>
        </p:nvSpPr>
        <p:spPr>
          <a:xfrm>
            <a:off x="457200" y="4388032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0" b="1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</a:rPr>
              <a:t>Under the guidance of : Ms. Dhamayanthi P, Assistant Professor, Dept. of CSE</a:t>
            </a:r>
            <a:endParaRPr lang="en-US" sz="1100" b="0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Shape 16"/>
          <p:cNvSpPr/>
          <p:nvPr/>
        </p:nvSpPr>
        <p:spPr>
          <a:xfrm>
            <a:off x="0" y="4919400"/>
            <a:ext cx="9143640" cy="223560"/>
          </a:xfrm>
          <a:prstGeom prst="rect">
            <a:avLst/>
          </a:prstGeom>
          <a:solidFill>
            <a:srgbClr val="D9D9D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9" name="Text 17"/>
          <p:cNvSpPr/>
          <p:nvPr/>
        </p:nvSpPr>
        <p:spPr>
          <a:xfrm>
            <a:off x="0" y="4919400"/>
            <a:ext cx="9143640" cy="223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00" b="0" strike="noStrike" spc="-1">
                <a:solidFill>
                  <a:srgbClr val="80808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Department Of CSE  |  KGiSL Institute of Technology, Coimbatore</a:t>
            </a:r>
            <a:endParaRPr lang="en-US" sz="900" b="0" strike="noStrike" spc="-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Text 18"/>
          <p:cNvSpPr/>
          <p:nvPr/>
        </p:nvSpPr>
        <p:spPr>
          <a:xfrm>
            <a:off x="8778240" y="4846320"/>
            <a:ext cx="27396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00" b="0" strike="noStrike" spc="-1">
                <a:solidFill>
                  <a:srgbClr val="8080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sz="1000" b="0" strike="noStrike" spc="-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1" name="Picture 60"/>
          <p:cNvPicPr/>
          <p:nvPr/>
        </p:nvPicPr>
        <p:blipFill>
          <a:blip r:embed="rId3"/>
          <a:stretch/>
        </p:blipFill>
        <p:spPr>
          <a:xfrm>
            <a:off x="31320" y="0"/>
            <a:ext cx="989280" cy="914400"/>
          </a:xfrm>
          <a:prstGeom prst="rect">
            <a:avLst/>
          </a:prstGeom>
          <a:ln w="0">
            <a:noFill/>
          </a:ln>
        </p:spPr>
      </p:pic>
      <p:pic>
        <p:nvPicPr>
          <p:cNvPr id="62" name="Picture 61"/>
          <p:cNvPicPr/>
          <p:nvPr/>
        </p:nvPicPr>
        <p:blipFill>
          <a:blip r:embed="rId4"/>
          <a:stretch/>
        </p:blipFill>
        <p:spPr>
          <a:xfrm>
            <a:off x="8229600" y="0"/>
            <a:ext cx="914400" cy="934560"/>
          </a:xfrm>
          <a:prstGeom prst="rect">
            <a:avLst/>
          </a:prstGeom>
          <a:ln w="0">
            <a:noFill/>
          </a:ln>
        </p:spPr>
      </p:pic>
      <p:sp>
        <p:nvSpPr>
          <p:cNvPr id="21" name="Text 8">
            <a:extLst>
              <a:ext uri="{FF2B5EF4-FFF2-40B4-BE49-F238E27FC236}">
                <a16:creationId xmlns:a16="http://schemas.microsoft.com/office/drawing/2014/main" id="{6A6B7E23-29AB-4AA1-A2F0-8DB49C6169DC}"/>
              </a:ext>
            </a:extLst>
          </p:cNvPr>
          <p:cNvSpPr/>
          <p:nvPr/>
        </p:nvSpPr>
        <p:spPr>
          <a:xfrm>
            <a:off x="914580" y="3090616"/>
            <a:ext cx="365724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00" b="0" strike="noStrike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711722104055</a:t>
            </a:r>
          </a:p>
        </p:txBody>
      </p:sp>
      <p:sp>
        <p:nvSpPr>
          <p:cNvPr id="22" name="Text 8">
            <a:extLst>
              <a:ext uri="{FF2B5EF4-FFF2-40B4-BE49-F238E27FC236}">
                <a16:creationId xmlns:a16="http://schemas.microsoft.com/office/drawing/2014/main" id="{3013F189-082F-40D8-BA48-B49CF0A4CFDE}"/>
              </a:ext>
            </a:extLst>
          </p:cNvPr>
          <p:cNvSpPr/>
          <p:nvPr/>
        </p:nvSpPr>
        <p:spPr>
          <a:xfrm>
            <a:off x="914580" y="3357408"/>
            <a:ext cx="365724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00" b="0" strike="noStrike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711722104063</a:t>
            </a:r>
          </a:p>
        </p:txBody>
      </p:sp>
      <p:sp>
        <p:nvSpPr>
          <p:cNvPr id="23" name="Text 8">
            <a:extLst>
              <a:ext uri="{FF2B5EF4-FFF2-40B4-BE49-F238E27FC236}">
                <a16:creationId xmlns:a16="http://schemas.microsoft.com/office/drawing/2014/main" id="{72CFAD38-E3D2-4ADB-A4CD-04E9EDFCC4B7}"/>
              </a:ext>
            </a:extLst>
          </p:cNvPr>
          <p:cNvSpPr/>
          <p:nvPr/>
        </p:nvSpPr>
        <p:spPr>
          <a:xfrm>
            <a:off x="914580" y="3654389"/>
            <a:ext cx="365724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00" b="0" strike="noStrike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711722104059</a:t>
            </a:r>
          </a:p>
        </p:txBody>
      </p:sp>
      <p:sp>
        <p:nvSpPr>
          <p:cNvPr id="24" name="Text 8">
            <a:extLst>
              <a:ext uri="{FF2B5EF4-FFF2-40B4-BE49-F238E27FC236}">
                <a16:creationId xmlns:a16="http://schemas.microsoft.com/office/drawing/2014/main" id="{12303F30-60D2-4029-B04D-4ED599E28C44}"/>
              </a:ext>
            </a:extLst>
          </p:cNvPr>
          <p:cNvSpPr/>
          <p:nvPr/>
        </p:nvSpPr>
        <p:spPr>
          <a:xfrm>
            <a:off x="914580" y="3968653"/>
            <a:ext cx="365724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00" b="0" strike="noStrike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711722104012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Text 2"/>
          <p:cNvSpPr/>
          <p:nvPr/>
        </p:nvSpPr>
        <p:spPr>
          <a:xfrm>
            <a:off x="8503920" y="36720"/>
            <a:ext cx="594000" cy="429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1" strike="noStrike" spc="-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en-US" sz="1400" b="0" strike="noStrike" spc="-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4" name="Shape 6"/>
          <p:cNvSpPr/>
          <p:nvPr/>
        </p:nvSpPr>
        <p:spPr>
          <a:xfrm>
            <a:off x="0" y="4919400"/>
            <a:ext cx="9143640" cy="223560"/>
          </a:xfrm>
          <a:prstGeom prst="rect">
            <a:avLst/>
          </a:prstGeom>
          <a:solidFill>
            <a:srgbClr val="D9D9D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95" name="Text 7"/>
          <p:cNvSpPr/>
          <p:nvPr/>
        </p:nvSpPr>
        <p:spPr>
          <a:xfrm>
            <a:off x="0" y="4919400"/>
            <a:ext cx="9143640" cy="223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00" b="0" strike="noStrike" spc="-1">
                <a:solidFill>
                  <a:srgbClr val="80808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Department Of CSE  |  KGiSL Institute of Technology, Coimbatore</a:t>
            </a:r>
            <a:endParaRPr lang="en-US" sz="900" b="0" strike="noStrike" spc="-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E426799-C228-FE74-9716-6AC1E6516B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3640" cy="514349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65A92A3-6381-3710-6B5A-764125CD5F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Shape 0">
            <a:extLst>
              <a:ext uri="{FF2B5EF4-FFF2-40B4-BE49-F238E27FC236}">
                <a16:creationId xmlns:a16="http://schemas.microsoft.com/office/drawing/2014/main" id="{4EE0B98F-C2EF-8D09-36DB-99CA5E39159E}"/>
              </a:ext>
            </a:extLst>
          </p:cNvPr>
          <p:cNvSpPr/>
          <p:nvPr/>
        </p:nvSpPr>
        <p:spPr>
          <a:xfrm>
            <a:off x="0" y="0"/>
            <a:ext cx="9143640" cy="502560"/>
          </a:xfrm>
          <a:prstGeom prst="rect">
            <a:avLst/>
          </a:prstGeom>
          <a:solidFill>
            <a:schemeClr val="bg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9" name="Text 1">
            <a:extLst>
              <a:ext uri="{FF2B5EF4-FFF2-40B4-BE49-F238E27FC236}">
                <a16:creationId xmlns:a16="http://schemas.microsoft.com/office/drawing/2014/main" id="{09A94AF5-6D45-49C4-2AC6-0B40F54BC6D3}"/>
              </a:ext>
            </a:extLst>
          </p:cNvPr>
          <p:cNvSpPr/>
          <p:nvPr/>
        </p:nvSpPr>
        <p:spPr>
          <a:xfrm>
            <a:off x="228600" y="36720"/>
            <a:ext cx="7772040" cy="429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1" strike="noStrike" spc="-1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PROBLEM STATEMENT</a:t>
            </a:r>
            <a:endParaRPr lang="en-US" sz="2000" b="0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0" name="Text 2">
            <a:extLst>
              <a:ext uri="{FF2B5EF4-FFF2-40B4-BE49-F238E27FC236}">
                <a16:creationId xmlns:a16="http://schemas.microsoft.com/office/drawing/2014/main" id="{12B9BBCD-A2CD-9CE3-557C-865E0D2A6786}"/>
              </a:ext>
            </a:extLst>
          </p:cNvPr>
          <p:cNvSpPr/>
          <p:nvPr/>
        </p:nvSpPr>
        <p:spPr>
          <a:xfrm>
            <a:off x="8503920" y="36720"/>
            <a:ext cx="594000" cy="429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1" strike="noStrike" spc="-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en-US" sz="1400" b="0" strike="noStrike" spc="-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1" name="Text 3">
            <a:extLst>
              <a:ext uri="{FF2B5EF4-FFF2-40B4-BE49-F238E27FC236}">
                <a16:creationId xmlns:a16="http://schemas.microsoft.com/office/drawing/2014/main" id="{D58D6F9B-B8FC-1577-D7E1-C39B78F435EC}"/>
              </a:ext>
            </a:extLst>
          </p:cNvPr>
          <p:cNvSpPr/>
          <p:nvPr/>
        </p:nvSpPr>
        <p:spPr>
          <a:xfrm>
            <a:off x="228600" y="594360"/>
            <a:ext cx="868644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600" b="1" strike="noStrike" spc="-1">
                <a:solidFill>
                  <a:srgbClr val="1F3864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Key Challenges in Automated Mammography Analysis</a:t>
            </a:r>
            <a:endParaRPr lang="en-US" sz="1600" b="0" strike="noStrike" spc="-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2" name="Shape 4">
            <a:extLst>
              <a:ext uri="{FF2B5EF4-FFF2-40B4-BE49-F238E27FC236}">
                <a16:creationId xmlns:a16="http://schemas.microsoft.com/office/drawing/2014/main" id="{61A1D21B-01FA-12EF-A69B-E560CE6C891E}"/>
              </a:ext>
            </a:extLst>
          </p:cNvPr>
          <p:cNvSpPr/>
          <p:nvPr/>
        </p:nvSpPr>
        <p:spPr>
          <a:xfrm>
            <a:off x="228600" y="941760"/>
            <a:ext cx="8686440" cy="27000"/>
          </a:xfrm>
          <a:prstGeom prst="rect">
            <a:avLst/>
          </a:prstGeom>
          <a:solidFill>
            <a:srgbClr val="2E74B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93" name="Text 5">
            <a:extLst>
              <a:ext uri="{FF2B5EF4-FFF2-40B4-BE49-F238E27FC236}">
                <a16:creationId xmlns:a16="http://schemas.microsoft.com/office/drawing/2014/main" id="{0D190871-C52C-C8F3-5FA3-D1D8201D5BFE}"/>
              </a:ext>
            </a:extLst>
          </p:cNvPr>
          <p:cNvSpPr/>
          <p:nvPr/>
        </p:nvSpPr>
        <p:spPr>
          <a:xfrm>
            <a:off x="274320" y="1024200"/>
            <a:ext cx="8595000" cy="3420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spcBef>
                <a:spcPts val="115"/>
              </a:spcBef>
            </a:pPr>
            <a:endParaRPr lang="en-US" sz="11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>
              <a:spcBef>
                <a:spcPts val="115"/>
              </a:spcBef>
            </a:pPr>
            <a:r>
              <a:rPr lang="en-US" sz="11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➢  Breast cancer is a </a:t>
            </a:r>
            <a:r>
              <a:rPr lang="en-US" sz="1100" b="1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leading cause of death for women globally</a:t>
            </a:r>
            <a:r>
              <a:rPr lang="en-US" sz="11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— early identification is critical for improving treatment results and survival rates.</a:t>
            </a:r>
            <a:endParaRPr lang="en-US" sz="1100" b="0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115"/>
              </a:spcBef>
              <a:spcAft>
                <a:spcPts val="400"/>
              </a:spcAft>
              <a:buNone/>
              <a:tabLst>
                <a:tab pos="0" algn="l"/>
              </a:tabLst>
            </a:pPr>
            <a:endParaRPr lang="en-US" sz="1100" b="0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115"/>
              </a:spcBef>
              <a:spcAft>
                <a:spcPts val="400"/>
              </a:spcAft>
              <a:buNone/>
              <a:tabLst>
                <a:tab pos="0" algn="l"/>
              </a:tabLst>
            </a:pPr>
            <a:r>
              <a:rPr lang="en-US" sz="11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➢  Many existing deep learning models focus on either </a:t>
            </a:r>
            <a:r>
              <a:rPr lang="en-US" sz="1100" b="1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local texture patterns OR global structural information — not both simultaneously</a:t>
            </a:r>
            <a:r>
              <a:rPr lang="en-US" sz="11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.</a:t>
            </a:r>
            <a:endParaRPr lang="en-US" sz="1100" b="0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115"/>
              </a:spcBef>
              <a:spcAft>
                <a:spcPts val="400"/>
              </a:spcAft>
              <a:buNone/>
              <a:tabLst>
                <a:tab pos="0" algn="l"/>
              </a:tabLst>
            </a:pPr>
            <a:endParaRPr lang="en-US" sz="1100" b="0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115"/>
              </a:spcBef>
              <a:spcAft>
                <a:spcPts val="400"/>
              </a:spcAft>
              <a:buNone/>
              <a:tabLst>
                <a:tab pos="0" algn="l"/>
              </a:tabLst>
            </a:pPr>
            <a:r>
              <a:rPr lang="en-US" sz="11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➢  Mammography images contain complex information across multiple scales: </a:t>
            </a:r>
            <a:r>
              <a:rPr lang="en-US" sz="1100" b="1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tissue density distribution, breast morphology, and tiny microcalcifications</a:t>
            </a:r>
            <a:r>
              <a:rPr lang="en-US" sz="11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.</a:t>
            </a:r>
            <a:endParaRPr lang="en-US" sz="1100" b="0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115"/>
              </a:spcBef>
              <a:spcAft>
                <a:spcPts val="400"/>
              </a:spcAft>
              <a:buNone/>
              <a:tabLst>
                <a:tab pos="0" algn="l"/>
              </a:tabLst>
            </a:pPr>
            <a:endParaRPr lang="en-US" sz="1100" b="0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115"/>
              </a:spcBef>
              <a:spcAft>
                <a:spcPts val="400"/>
              </a:spcAft>
              <a:buNone/>
              <a:tabLst>
                <a:tab pos="0" algn="l"/>
              </a:tabLst>
            </a:pPr>
            <a:r>
              <a:rPr lang="en-US" sz="11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➢  </a:t>
            </a:r>
            <a:r>
              <a:rPr lang="en-US" sz="1100" b="1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Shortcut learning</a:t>
            </a:r>
            <a:r>
              <a:rPr lang="en-US" sz="11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is a major obstacle — models learn non-medical cues like high-contrast breast boundaries, pectoral muscle, or scanner artifacts instead of tumor patterns.</a:t>
            </a:r>
            <a:endParaRPr lang="en-US" sz="1100" b="0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115"/>
              </a:spcBef>
              <a:spcAft>
                <a:spcPts val="400"/>
              </a:spcAft>
              <a:buNone/>
              <a:tabLst>
                <a:tab pos="0" algn="l"/>
              </a:tabLst>
            </a:pPr>
            <a:endParaRPr lang="en-US" sz="1100" b="0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115"/>
              </a:spcBef>
              <a:spcAft>
                <a:spcPts val="400"/>
              </a:spcAft>
              <a:buNone/>
              <a:tabLst>
                <a:tab pos="0" algn="l"/>
              </a:tabLst>
            </a:pPr>
            <a:r>
              <a:rPr lang="en-US" sz="11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➢  Medical imaging datasets are </a:t>
            </a:r>
            <a:r>
              <a:rPr lang="en-US" sz="1100" b="1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significantly smaller</a:t>
            </a:r>
            <a:r>
              <a:rPr lang="en-US" sz="11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than natural image datasets, making it difficult to train large deep learning models without overfitting.</a:t>
            </a:r>
            <a:endParaRPr lang="en-US" sz="1100" b="0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115"/>
              </a:spcBef>
              <a:spcAft>
                <a:spcPts val="400"/>
              </a:spcAft>
              <a:buNone/>
              <a:tabLst>
                <a:tab pos="0" algn="l"/>
              </a:tabLst>
            </a:pPr>
            <a:endParaRPr lang="en-US" sz="1100" b="0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115"/>
              </a:spcBef>
              <a:spcAft>
                <a:spcPts val="400"/>
              </a:spcAft>
              <a:buNone/>
              <a:tabLst>
                <a:tab pos="0" algn="l"/>
              </a:tabLst>
            </a:pPr>
            <a:r>
              <a:rPr lang="en-US" sz="11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➢  The primary challenge: how to create an architecture that </a:t>
            </a:r>
            <a:r>
              <a:rPr lang="en-US" sz="1100" b="1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captures both global anatomical structure and fine-grained local texture</a:t>
            </a:r>
            <a:r>
              <a:rPr lang="en-US" sz="11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while minimizing shortcut learning.</a:t>
            </a:r>
            <a:endParaRPr lang="en-US" sz="1100" b="0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4" name="Shape 6">
            <a:extLst>
              <a:ext uri="{FF2B5EF4-FFF2-40B4-BE49-F238E27FC236}">
                <a16:creationId xmlns:a16="http://schemas.microsoft.com/office/drawing/2014/main" id="{DA1AB318-970E-E10D-CDCE-4713715C305C}"/>
              </a:ext>
            </a:extLst>
          </p:cNvPr>
          <p:cNvSpPr/>
          <p:nvPr/>
        </p:nvSpPr>
        <p:spPr>
          <a:xfrm>
            <a:off x="0" y="4919400"/>
            <a:ext cx="9143640" cy="223560"/>
          </a:xfrm>
          <a:prstGeom prst="rect">
            <a:avLst/>
          </a:prstGeom>
          <a:solidFill>
            <a:srgbClr val="D9D9D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95" name="Text 7">
            <a:extLst>
              <a:ext uri="{FF2B5EF4-FFF2-40B4-BE49-F238E27FC236}">
                <a16:creationId xmlns:a16="http://schemas.microsoft.com/office/drawing/2014/main" id="{11FFA750-A21F-5D53-680C-B1008CED3590}"/>
              </a:ext>
            </a:extLst>
          </p:cNvPr>
          <p:cNvSpPr/>
          <p:nvPr/>
        </p:nvSpPr>
        <p:spPr>
          <a:xfrm>
            <a:off x="0" y="4919400"/>
            <a:ext cx="9143640" cy="223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00" b="0" strike="noStrike" spc="-1">
                <a:solidFill>
                  <a:srgbClr val="80808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Department Of CSE  |  KGiSL Institute of Technology, Coimbatore</a:t>
            </a:r>
            <a:endParaRPr lang="en-US" sz="900" b="0" strike="noStrike" spc="-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38828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6A92341-9605-ABD6-CB52-B17023B320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Shape 0">
            <a:extLst>
              <a:ext uri="{FF2B5EF4-FFF2-40B4-BE49-F238E27FC236}">
                <a16:creationId xmlns:a16="http://schemas.microsoft.com/office/drawing/2014/main" id="{2DEC2955-4F3D-CDDB-67B9-4280B97529F0}"/>
              </a:ext>
            </a:extLst>
          </p:cNvPr>
          <p:cNvSpPr/>
          <p:nvPr/>
        </p:nvSpPr>
        <p:spPr>
          <a:xfrm>
            <a:off x="0" y="0"/>
            <a:ext cx="9143640" cy="502560"/>
          </a:xfrm>
          <a:prstGeom prst="rect">
            <a:avLst/>
          </a:prstGeom>
          <a:solidFill>
            <a:schemeClr val="bg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9" name="Text 1">
            <a:extLst>
              <a:ext uri="{FF2B5EF4-FFF2-40B4-BE49-F238E27FC236}">
                <a16:creationId xmlns:a16="http://schemas.microsoft.com/office/drawing/2014/main" id="{BA233EE0-BE5E-3E9A-E178-003F2C12A4C3}"/>
              </a:ext>
            </a:extLst>
          </p:cNvPr>
          <p:cNvSpPr/>
          <p:nvPr/>
        </p:nvSpPr>
        <p:spPr>
          <a:xfrm>
            <a:off x="228600" y="36720"/>
            <a:ext cx="7772040" cy="429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1" strike="noStrike" spc="-1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PROBLEM STATEMENT</a:t>
            </a:r>
            <a:endParaRPr lang="en-US" sz="2000" b="0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0" name="Text 2">
            <a:extLst>
              <a:ext uri="{FF2B5EF4-FFF2-40B4-BE49-F238E27FC236}">
                <a16:creationId xmlns:a16="http://schemas.microsoft.com/office/drawing/2014/main" id="{47EF49C3-F5DB-5FC8-0F53-68D61FFF07F6}"/>
              </a:ext>
            </a:extLst>
          </p:cNvPr>
          <p:cNvSpPr/>
          <p:nvPr/>
        </p:nvSpPr>
        <p:spPr>
          <a:xfrm>
            <a:off x="8503920" y="36720"/>
            <a:ext cx="594000" cy="429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1" strike="noStrike" spc="-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en-US" sz="1400" b="0" strike="noStrike" spc="-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2" name="Shape 4">
            <a:extLst>
              <a:ext uri="{FF2B5EF4-FFF2-40B4-BE49-F238E27FC236}">
                <a16:creationId xmlns:a16="http://schemas.microsoft.com/office/drawing/2014/main" id="{06B730F0-D4DC-74AD-E740-99BA6A57ED83}"/>
              </a:ext>
            </a:extLst>
          </p:cNvPr>
          <p:cNvSpPr/>
          <p:nvPr/>
        </p:nvSpPr>
        <p:spPr>
          <a:xfrm>
            <a:off x="228600" y="941760"/>
            <a:ext cx="8686440" cy="27000"/>
          </a:xfrm>
          <a:prstGeom prst="rect">
            <a:avLst/>
          </a:prstGeom>
          <a:solidFill>
            <a:srgbClr val="2E74B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94" name="Shape 6">
            <a:extLst>
              <a:ext uri="{FF2B5EF4-FFF2-40B4-BE49-F238E27FC236}">
                <a16:creationId xmlns:a16="http://schemas.microsoft.com/office/drawing/2014/main" id="{E5C6181A-926D-0C7C-2493-8F20CE7C6508}"/>
              </a:ext>
            </a:extLst>
          </p:cNvPr>
          <p:cNvSpPr/>
          <p:nvPr/>
        </p:nvSpPr>
        <p:spPr>
          <a:xfrm>
            <a:off x="0" y="4919400"/>
            <a:ext cx="9143640" cy="223560"/>
          </a:xfrm>
          <a:prstGeom prst="rect">
            <a:avLst/>
          </a:prstGeom>
          <a:solidFill>
            <a:srgbClr val="D9D9D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95" name="Text 7">
            <a:extLst>
              <a:ext uri="{FF2B5EF4-FFF2-40B4-BE49-F238E27FC236}">
                <a16:creationId xmlns:a16="http://schemas.microsoft.com/office/drawing/2014/main" id="{CBA1A3BC-12CB-F7D2-CC09-6586A9E38896}"/>
              </a:ext>
            </a:extLst>
          </p:cNvPr>
          <p:cNvSpPr/>
          <p:nvPr/>
        </p:nvSpPr>
        <p:spPr>
          <a:xfrm>
            <a:off x="0" y="4919400"/>
            <a:ext cx="9143640" cy="223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00" b="0" strike="noStrike" spc="-1">
                <a:solidFill>
                  <a:srgbClr val="80808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Department Of CSE  |  KGiSL Institute of Technology, Coimbatore</a:t>
            </a:r>
            <a:endParaRPr lang="en-US" sz="900" b="0" strike="noStrike" spc="-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 descr="A collage of images of a person's breast&#10;&#10;AI-generated content may be incorrect.">
            <a:extLst>
              <a:ext uri="{FF2B5EF4-FFF2-40B4-BE49-F238E27FC236}">
                <a16:creationId xmlns:a16="http://schemas.microsoft.com/office/drawing/2014/main" id="{6315D8EA-7196-6CEF-A53C-DA23B54C53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6956" y="1030146"/>
            <a:ext cx="3561347" cy="3827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26875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hape 0"/>
          <p:cNvSpPr/>
          <p:nvPr/>
        </p:nvSpPr>
        <p:spPr>
          <a:xfrm>
            <a:off x="0" y="0"/>
            <a:ext cx="9143640" cy="502560"/>
          </a:xfrm>
          <a:prstGeom prst="rect">
            <a:avLst/>
          </a:prstGeom>
          <a:solidFill>
            <a:schemeClr val="bg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72" name="Text 1"/>
          <p:cNvSpPr/>
          <p:nvPr/>
        </p:nvSpPr>
        <p:spPr>
          <a:xfrm>
            <a:off x="228600" y="36720"/>
            <a:ext cx="7772040" cy="429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1" spc="-1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OBJECTIVE OF THE PROJECT</a:t>
            </a:r>
            <a:endParaRPr lang="en-US" sz="2000" b="0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3" name="Text 2"/>
          <p:cNvSpPr/>
          <p:nvPr/>
        </p:nvSpPr>
        <p:spPr>
          <a:xfrm>
            <a:off x="8503920" y="36720"/>
            <a:ext cx="594000" cy="429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1" strike="noStrike" spc="-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US" sz="1400" b="0" strike="noStrike" spc="-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4" name="Text 3"/>
          <p:cNvSpPr/>
          <p:nvPr/>
        </p:nvSpPr>
        <p:spPr>
          <a:xfrm>
            <a:off x="228600" y="594360"/>
            <a:ext cx="868644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endParaRPr lang="en-US" sz="1600" b="0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5" name="Shape 4"/>
          <p:cNvSpPr/>
          <p:nvPr/>
        </p:nvSpPr>
        <p:spPr>
          <a:xfrm>
            <a:off x="182880" y="473474"/>
            <a:ext cx="8686440" cy="27000"/>
          </a:xfrm>
          <a:prstGeom prst="rect">
            <a:avLst/>
          </a:prstGeom>
          <a:solidFill>
            <a:srgbClr val="2E74B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76" name="Text 5"/>
          <p:cNvSpPr/>
          <p:nvPr/>
        </p:nvSpPr>
        <p:spPr>
          <a:xfrm>
            <a:off x="228600" y="697410"/>
            <a:ext cx="8595000" cy="374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200000"/>
              </a:lnSpc>
              <a:buNone/>
            </a:pPr>
            <a:r>
              <a:rPr lang="en-US" sz="11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➢  Breast cancer is among the most prevalent cancers worldwide — millions of </a:t>
            </a:r>
            <a:r>
              <a:rPr lang="en-US" sz="1100" b="1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new cases are detected annually</a:t>
            </a:r>
            <a:r>
              <a:rPr lang="en-US" sz="11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, making early screening critical.</a:t>
            </a:r>
            <a:endParaRPr lang="en-US" sz="1100" b="0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  <a:spcAft>
                <a:spcPts val="400"/>
              </a:spcAft>
              <a:buNone/>
              <a:tabLst>
                <a:tab pos="0" algn="l"/>
              </a:tabLst>
            </a:pPr>
            <a:r>
              <a:rPr lang="en-US" sz="11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➢  </a:t>
            </a:r>
            <a:r>
              <a:rPr lang="en-US" sz="1100" b="1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Mammography screening</a:t>
            </a:r>
            <a:r>
              <a:rPr lang="en-US" sz="11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can detect calcifications, tissue deformities, and tiny lumps before disease reaches an advanced stage.</a:t>
            </a:r>
            <a:endParaRPr lang="en-US" sz="1100" b="0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  <a:spcAft>
                <a:spcPts val="400"/>
              </a:spcAft>
              <a:buNone/>
              <a:tabLst>
                <a:tab pos="0" algn="l"/>
              </a:tabLst>
            </a:pPr>
            <a:r>
              <a:rPr lang="en-US" sz="11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➢  Tumors can have extremely modest appearances, and </a:t>
            </a:r>
            <a:r>
              <a:rPr lang="en-US" sz="1100" b="1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even skilled radiologists occasionally overlook minor anomalies</a:t>
            </a:r>
            <a:r>
              <a:rPr lang="en-US" sz="11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or misclassify benign patterns.</a:t>
            </a:r>
            <a:endParaRPr lang="en-US" sz="1100" b="0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  <a:spcAft>
                <a:spcPts val="400"/>
              </a:spcAft>
              <a:buNone/>
              <a:tabLst>
                <a:tab pos="0" algn="l"/>
              </a:tabLst>
            </a:pPr>
            <a:r>
              <a:rPr lang="en-US" sz="11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➢  Convolutional Neural Networks (CNNs) have shown great performance but </a:t>
            </a:r>
            <a:r>
              <a:rPr lang="en-US" sz="1100" b="1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struggle to capture long-range spatial correlations</a:t>
            </a:r>
            <a:r>
              <a:rPr lang="en-US" sz="11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across large mammogram images.</a:t>
            </a:r>
            <a:endParaRPr lang="en-US" sz="1100" b="0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  <a:spcAft>
                <a:spcPts val="400"/>
              </a:spcAft>
              <a:buNone/>
              <a:tabLst>
                <a:tab pos="0" algn="l"/>
              </a:tabLst>
            </a:pPr>
            <a:r>
              <a:rPr lang="en-US" sz="11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➢  Vision Transformers (</a:t>
            </a:r>
            <a:r>
              <a:rPr lang="en-US" sz="1100" b="0" strike="noStrike" spc="-1" dirty="0" err="1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ViTs</a:t>
            </a:r>
            <a:r>
              <a:rPr lang="en-US" sz="11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) use </a:t>
            </a:r>
            <a:r>
              <a:rPr lang="en-US" sz="1100" b="1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self-attention mechanisms</a:t>
            </a:r>
            <a:r>
              <a:rPr lang="en-US" sz="11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that allow concurrent examination of correlations between different image regions.</a:t>
            </a:r>
            <a:endParaRPr lang="en-US" sz="1100" b="0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  <a:spcAft>
                <a:spcPts val="400"/>
              </a:spcAft>
              <a:buNone/>
              <a:tabLst>
                <a:tab pos="0" algn="l"/>
              </a:tabLst>
            </a:pPr>
            <a:r>
              <a:rPr lang="en-US" sz="11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➢  A single model may still be limited — mammograms require </a:t>
            </a:r>
            <a:r>
              <a:rPr lang="en-US" sz="1100" b="1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both fine-grained local patterns and large-scale structural information</a:t>
            </a:r>
            <a:r>
              <a:rPr lang="en-US" sz="11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.</a:t>
            </a:r>
            <a:endParaRPr lang="en-US" sz="1100" b="0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  <a:spcAft>
                <a:spcPts val="400"/>
              </a:spcAft>
              <a:buNone/>
              <a:tabLst>
                <a:tab pos="0" algn="l"/>
              </a:tabLst>
            </a:pPr>
            <a:r>
              <a:rPr lang="en-US" sz="11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➢  This research proposes a </a:t>
            </a:r>
            <a:r>
              <a:rPr lang="en-US" sz="1100" b="1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dual-stream deep learning architecture</a:t>
            </a:r>
            <a:r>
              <a:rPr lang="en-US" sz="11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combining global and local feature extraction to replicate the radiologist's diagnostic workflow.</a:t>
            </a:r>
            <a:endParaRPr lang="en-US" sz="1100" b="0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7" name="Shape 6"/>
          <p:cNvSpPr/>
          <p:nvPr/>
        </p:nvSpPr>
        <p:spPr>
          <a:xfrm>
            <a:off x="0" y="4919400"/>
            <a:ext cx="9143640" cy="223560"/>
          </a:xfrm>
          <a:prstGeom prst="rect">
            <a:avLst/>
          </a:prstGeom>
          <a:solidFill>
            <a:srgbClr val="D9D9D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78" name="Text 7"/>
          <p:cNvSpPr/>
          <p:nvPr/>
        </p:nvSpPr>
        <p:spPr>
          <a:xfrm>
            <a:off x="0" y="4919400"/>
            <a:ext cx="9143640" cy="223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00" b="0" strike="noStrike" spc="-1">
                <a:solidFill>
                  <a:srgbClr val="80808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Department Of CSE  |  KGiSL Institute of Technology, Coimbatore</a:t>
            </a:r>
            <a:endParaRPr lang="en-US" sz="900" b="0" strike="noStrike" spc="-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Shape 0"/>
          <p:cNvSpPr/>
          <p:nvPr/>
        </p:nvSpPr>
        <p:spPr>
          <a:xfrm>
            <a:off x="0" y="0"/>
            <a:ext cx="9143640" cy="502560"/>
          </a:xfrm>
          <a:prstGeom prst="rect">
            <a:avLst/>
          </a:prstGeom>
          <a:solidFill>
            <a:schemeClr val="bg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0" name="Text 1"/>
          <p:cNvSpPr/>
          <p:nvPr/>
        </p:nvSpPr>
        <p:spPr>
          <a:xfrm>
            <a:off x="228600" y="36720"/>
            <a:ext cx="7772040" cy="429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1" strike="noStrike" spc="-1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LITERATURE</a:t>
            </a:r>
            <a:r>
              <a:rPr lang="en-US" sz="2000" b="1" strike="noStrike" spc="-1" dirty="0">
                <a:solidFill>
                  <a:srgbClr val="FFFFFF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REVIEW</a:t>
            </a:r>
            <a:endParaRPr lang="en-US" sz="2000" b="0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1" name="Text 2"/>
          <p:cNvSpPr/>
          <p:nvPr/>
        </p:nvSpPr>
        <p:spPr>
          <a:xfrm>
            <a:off x="8503920" y="36720"/>
            <a:ext cx="594000" cy="429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1" strike="noStrike" spc="-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en-US" sz="1400" b="0" strike="noStrike" spc="-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3" name="Shape 4"/>
          <p:cNvSpPr/>
          <p:nvPr/>
        </p:nvSpPr>
        <p:spPr>
          <a:xfrm>
            <a:off x="45540" y="466200"/>
            <a:ext cx="8686440" cy="27000"/>
          </a:xfrm>
          <a:prstGeom prst="rect">
            <a:avLst/>
          </a:prstGeom>
          <a:solidFill>
            <a:srgbClr val="2E74B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6" name="Shape 6"/>
          <p:cNvSpPr/>
          <p:nvPr/>
        </p:nvSpPr>
        <p:spPr>
          <a:xfrm>
            <a:off x="0" y="4919400"/>
            <a:ext cx="9143640" cy="223560"/>
          </a:xfrm>
          <a:prstGeom prst="rect">
            <a:avLst/>
          </a:prstGeom>
          <a:solidFill>
            <a:srgbClr val="D9D9D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7" name="Text 7"/>
          <p:cNvSpPr/>
          <p:nvPr/>
        </p:nvSpPr>
        <p:spPr>
          <a:xfrm>
            <a:off x="0" y="4919400"/>
            <a:ext cx="9143640" cy="223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00" b="0" strike="noStrike" spc="-1">
                <a:solidFill>
                  <a:srgbClr val="80808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Department Of CSE  |  KGiSL Institute of Technology, Coimbatore</a:t>
            </a:r>
            <a:endParaRPr lang="en-US" sz="900" b="0" strike="noStrike" spc="-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C5DBFD6-5010-578B-4A7A-2EF12890A3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7241210"/>
              </p:ext>
            </p:extLst>
          </p:nvPr>
        </p:nvGraphicFramePr>
        <p:xfrm>
          <a:off x="83535" y="641298"/>
          <a:ext cx="9014385" cy="4182160"/>
        </p:xfrm>
        <a:graphic>
          <a:graphicData uri="http://schemas.openxmlformats.org/drawingml/2006/table">
            <a:tbl>
              <a:tblPr>
                <a:tableStyleId>{D7AC3CCA-C797-4891-BE02-D94E43425B78}</a:tableStyleId>
              </a:tblPr>
              <a:tblGrid>
                <a:gridCol w="289845">
                  <a:extLst>
                    <a:ext uri="{9D8B030D-6E8A-4147-A177-3AD203B41FA5}">
                      <a16:colId xmlns:a16="http://schemas.microsoft.com/office/drawing/2014/main" val="2527804612"/>
                    </a:ext>
                  </a:extLst>
                </a:gridCol>
                <a:gridCol w="3284220">
                  <a:extLst>
                    <a:ext uri="{9D8B030D-6E8A-4147-A177-3AD203B41FA5}">
                      <a16:colId xmlns:a16="http://schemas.microsoft.com/office/drawing/2014/main" val="2321448864"/>
                    </a:ext>
                  </a:extLst>
                </a:gridCol>
                <a:gridCol w="1834566">
                  <a:extLst>
                    <a:ext uri="{9D8B030D-6E8A-4147-A177-3AD203B41FA5}">
                      <a16:colId xmlns:a16="http://schemas.microsoft.com/office/drawing/2014/main" val="3612343183"/>
                    </a:ext>
                  </a:extLst>
                </a:gridCol>
                <a:gridCol w="1802877">
                  <a:extLst>
                    <a:ext uri="{9D8B030D-6E8A-4147-A177-3AD203B41FA5}">
                      <a16:colId xmlns:a16="http://schemas.microsoft.com/office/drawing/2014/main" val="1159484775"/>
                    </a:ext>
                  </a:extLst>
                </a:gridCol>
                <a:gridCol w="1802877">
                  <a:extLst>
                    <a:ext uri="{9D8B030D-6E8A-4147-A177-3AD203B41FA5}">
                      <a16:colId xmlns:a16="http://schemas.microsoft.com/office/drawing/2014/main" val="9222775"/>
                    </a:ext>
                  </a:extLst>
                </a:gridCol>
              </a:tblGrid>
              <a:tr h="321531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IN" sz="900" b="1" dirty="0">
                          <a:solidFill>
                            <a:srgbClr val="1F1F1F"/>
                          </a:solidFill>
                          <a:effectLst/>
                        </a:rPr>
                        <a:t>S.no</a:t>
                      </a:r>
                      <a:endParaRPr lang="en-IN" sz="9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442" marR="8442" marT="11256" marB="11256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900" b="1" dirty="0">
                          <a:solidFill>
                            <a:srgbClr val="1F1F1F"/>
                          </a:solidFill>
                          <a:effectLst/>
                        </a:rPr>
                        <a:t>Title of the Paper (Concepts)</a:t>
                      </a:r>
                      <a:endParaRPr lang="en-US" sz="9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442" marR="8442" marT="11256" marB="11256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IN" sz="900" b="1" dirty="0">
                          <a:solidFill>
                            <a:srgbClr val="1F1F1F"/>
                          </a:solidFill>
                          <a:effectLst/>
                        </a:rPr>
                        <a:t>Problem Statement Given</a:t>
                      </a:r>
                      <a:endParaRPr lang="en-IN" sz="9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442" marR="8442" marT="11256" marB="11256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IN" sz="900" b="1" dirty="0">
                          <a:solidFill>
                            <a:srgbClr val="1F1F1F"/>
                          </a:solidFill>
                          <a:effectLst/>
                        </a:rPr>
                        <a:t>Proposed Solution</a:t>
                      </a:r>
                      <a:endParaRPr lang="en-IN" sz="9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442" marR="8442" marT="11256" marB="11256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900" b="1" dirty="0">
                          <a:solidFill>
                            <a:srgbClr val="1F1F1F"/>
                          </a:solidFill>
                          <a:effectLst/>
                        </a:rPr>
                        <a:t>Limitations (Why Your Project is Better)</a:t>
                      </a:r>
                      <a:endParaRPr lang="en-US" sz="9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442" marR="8442" marT="11256" marB="11256" anchor="ctr"/>
                </a:tc>
                <a:extLst>
                  <a:ext uri="{0D108BD9-81ED-4DB2-BD59-A6C34878D82A}">
                    <a16:rowId xmlns:a16="http://schemas.microsoft.com/office/drawing/2014/main" val="388646655"/>
                  </a:ext>
                </a:extLst>
              </a:tr>
              <a:tr h="618676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IN" sz="900" dirty="0">
                          <a:solidFill>
                            <a:srgbClr val="1F1F1F"/>
                          </a:solidFill>
                          <a:effectLst/>
                        </a:rPr>
                        <a:t>1</a:t>
                      </a:r>
                      <a:endParaRPr lang="en-IN" sz="9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442" marR="8442" marT="11256" marB="11256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900" dirty="0">
                          <a:solidFill>
                            <a:srgbClr val="1F1F1F"/>
                          </a:solidFill>
                          <a:effectLst/>
                        </a:rPr>
                        <a:t>Deep Convolutional Neural Networks for Breast Cancer Detection</a:t>
                      </a:r>
                      <a:endParaRPr lang="en-US" sz="9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442" marR="8442" marT="11256" marB="11256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900" dirty="0">
                          <a:solidFill>
                            <a:srgbClr val="1F1F1F"/>
                          </a:solidFill>
                          <a:effectLst/>
                        </a:rPr>
                        <a:t>Traditional CAD systems rely on manual feature extraction, which is slow and error-prone for mammograms.</a:t>
                      </a:r>
                      <a:endParaRPr lang="en-US" sz="9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442" marR="8442" marT="11256" marB="11256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900" dirty="0">
                          <a:solidFill>
                            <a:srgbClr val="1F1F1F"/>
                          </a:solidFill>
                          <a:effectLst/>
                        </a:rPr>
                        <a:t>Utilized deep CNNs (like </a:t>
                      </a:r>
                      <a:r>
                        <a:rPr lang="en-US" sz="900" dirty="0" err="1">
                          <a:solidFill>
                            <a:srgbClr val="1F1F1F"/>
                          </a:solidFill>
                          <a:effectLst/>
                        </a:rPr>
                        <a:t>ResNet</a:t>
                      </a:r>
                      <a:r>
                        <a:rPr lang="en-US" sz="900" dirty="0">
                          <a:solidFill>
                            <a:srgbClr val="1F1F1F"/>
                          </a:solidFill>
                          <a:effectLst/>
                        </a:rPr>
                        <a:t>) to automatically extract features from breast X-rays for classification.</a:t>
                      </a:r>
                      <a:endParaRPr lang="en-US" sz="9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442" marR="8442" marT="11256" marB="11256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900" dirty="0">
                          <a:solidFill>
                            <a:srgbClr val="1F1F1F"/>
                          </a:solidFill>
                          <a:effectLst/>
                        </a:rPr>
                        <a:t>CNNs struggle to capture long-range global dependencies across the whole breast image.</a:t>
                      </a:r>
                      <a:endParaRPr lang="en-US" sz="9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442" marR="8442" marT="11256" marB="11256" anchor="ctr"/>
                </a:tc>
                <a:extLst>
                  <a:ext uri="{0D108BD9-81ED-4DB2-BD59-A6C34878D82A}">
                    <a16:rowId xmlns:a16="http://schemas.microsoft.com/office/drawing/2014/main" val="2604029079"/>
                  </a:ext>
                </a:extLst>
              </a:tr>
              <a:tr h="618676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IN" sz="900">
                          <a:solidFill>
                            <a:srgbClr val="1F1F1F"/>
                          </a:solidFill>
                          <a:effectLst/>
                        </a:rPr>
                        <a:t>2</a:t>
                      </a:r>
                      <a:endParaRPr lang="en-IN" sz="9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442" marR="8442" marT="11256" marB="11256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IN" sz="900" dirty="0">
                          <a:solidFill>
                            <a:srgbClr val="1F1F1F"/>
                          </a:solidFill>
                          <a:effectLst/>
                        </a:rPr>
                        <a:t>Vision Transformers (</a:t>
                      </a:r>
                      <a:r>
                        <a:rPr lang="en-IN" sz="900" dirty="0" err="1">
                          <a:solidFill>
                            <a:srgbClr val="1F1F1F"/>
                          </a:solidFill>
                          <a:effectLst/>
                        </a:rPr>
                        <a:t>ViTs</a:t>
                      </a:r>
                      <a:r>
                        <a:rPr lang="en-IN" sz="900" dirty="0">
                          <a:solidFill>
                            <a:srgbClr val="1F1F1F"/>
                          </a:solidFill>
                          <a:effectLst/>
                        </a:rPr>
                        <a:t>) in Medical Image Analysis</a:t>
                      </a:r>
                      <a:endParaRPr lang="en-IN" sz="9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442" marR="8442" marT="11256" marB="11256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900">
                          <a:solidFill>
                            <a:srgbClr val="1F1F1F"/>
                          </a:solidFill>
                          <a:effectLst/>
                        </a:rPr>
                        <a:t>CNNs lose spatial hierarchy; ViTs divide images into patches but require massive datasets to learn inductive biases.</a:t>
                      </a:r>
                      <a:endParaRPr lang="en-US" sz="9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442" marR="8442" marT="11256" marB="11256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900">
                          <a:solidFill>
                            <a:srgbClr val="1F1F1F"/>
                          </a:solidFill>
                          <a:effectLst/>
                        </a:rPr>
                        <a:t>Applied standard Vision Transformers to medical imaging for improved spatial relationship modeling.</a:t>
                      </a:r>
                      <a:endParaRPr lang="en-US" sz="9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442" marR="8442" marT="11256" marB="11256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900" dirty="0">
                          <a:solidFill>
                            <a:srgbClr val="1F1F1F"/>
                          </a:solidFill>
                          <a:effectLst/>
                        </a:rPr>
                        <a:t>Standard </a:t>
                      </a:r>
                      <a:r>
                        <a:rPr lang="en-US" sz="900" dirty="0" err="1">
                          <a:solidFill>
                            <a:srgbClr val="1F1F1F"/>
                          </a:solidFill>
                          <a:effectLst/>
                        </a:rPr>
                        <a:t>ViTs</a:t>
                      </a:r>
                      <a:r>
                        <a:rPr lang="en-US" sz="900" dirty="0">
                          <a:solidFill>
                            <a:srgbClr val="1F1F1F"/>
                          </a:solidFill>
                          <a:effectLst/>
                        </a:rPr>
                        <a:t> struggle with high-resolution mammograms and have massive computational costs.</a:t>
                      </a:r>
                      <a:endParaRPr lang="en-US" sz="9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442" marR="8442" marT="11256" marB="11256" anchor="ctr"/>
                </a:tc>
                <a:extLst>
                  <a:ext uri="{0D108BD9-81ED-4DB2-BD59-A6C34878D82A}">
                    <a16:rowId xmlns:a16="http://schemas.microsoft.com/office/drawing/2014/main" val="3528569188"/>
                  </a:ext>
                </a:extLst>
              </a:tr>
              <a:tr h="618676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IN" sz="900">
                          <a:solidFill>
                            <a:srgbClr val="1F1F1F"/>
                          </a:solidFill>
                          <a:effectLst/>
                        </a:rPr>
                        <a:t>3</a:t>
                      </a:r>
                      <a:endParaRPr lang="en-IN" sz="9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442" marR="8442" marT="11256" marB="11256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900">
                          <a:solidFill>
                            <a:srgbClr val="1F1F1F"/>
                          </a:solidFill>
                          <a:effectLst/>
                        </a:rPr>
                        <a:t>Swin Transformer: Hierarchical Vision Transformer using Shifted Windows</a:t>
                      </a:r>
                      <a:endParaRPr lang="en-US" sz="9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442" marR="8442" marT="11256" marB="11256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900" dirty="0">
                          <a:solidFill>
                            <a:srgbClr val="1F1F1F"/>
                          </a:solidFill>
                          <a:effectLst/>
                        </a:rPr>
                        <a:t>Standard </a:t>
                      </a:r>
                      <a:r>
                        <a:rPr lang="en-US" sz="900" dirty="0" err="1">
                          <a:solidFill>
                            <a:srgbClr val="1F1F1F"/>
                          </a:solidFill>
                          <a:effectLst/>
                        </a:rPr>
                        <a:t>ViTs</a:t>
                      </a:r>
                      <a:r>
                        <a:rPr lang="en-US" sz="900" dirty="0">
                          <a:solidFill>
                            <a:srgbClr val="1F1F1F"/>
                          </a:solidFill>
                          <a:effectLst/>
                        </a:rPr>
                        <a:t> have quadratic complexity, making them too heavy for analyzing tiny micro-textures in high-res images.</a:t>
                      </a:r>
                      <a:endParaRPr lang="en-US" sz="9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442" marR="8442" marT="11256" marB="11256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900">
                          <a:solidFill>
                            <a:srgbClr val="1F1F1F"/>
                          </a:solidFill>
                          <a:effectLst/>
                        </a:rPr>
                        <a:t>Proposed Swin Transformers with shifted windows to compute self-attention locally, saving memory and capturing micro-details.</a:t>
                      </a:r>
                      <a:endParaRPr lang="en-US" sz="9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442" marR="8442" marT="11256" marB="11256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900" dirty="0">
                          <a:solidFill>
                            <a:srgbClr val="1F1F1F"/>
                          </a:solidFill>
                          <a:effectLst/>
                        </a:rPr>
                        <a:t>Swin is excellent at local textures (microcalcifications) but can lose sight of the "big picture" anatomy.</a:t>
                      </a:r>
                      <a:endParaRPr lang="en-US" sz="9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442" marR="8442" marT="11256" marB="11256" anchor="ctr"/>
                </a:tc>
                <a:extLst>
                  <a:ext uri="{0D108BD9-81ED-4DB2-BD59-A6C34878D82A}">
                    <a16:rowId xmlns:a16="http://schemas.microsoft.com/office/drawing/2014/main" val="2759466502"/>
                  </a:ext>
                </a:extLst>
              </a:tr>
              <a:tr h="618676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IN" sz="900">
                          <a:solidFill>
                            <a:srgbClr val="1F1F1F"/>
                          </a:solidFill>
                          <a:effectLst/>
                        </a:rPr>
                        <a:t>4</a:t>
                      </a:r>
                      <a:endParaRPr lang="en-IN" sz="9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442" marR="8442" marT="11256" marB="11256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900">
                          <a:solidFill>
                            <a:srgbClr val="1F1F1F"/>
                          </a:solidFill>
                          <a:effectLst/>
                        </a:rPr>
                        <a:t>Foundation Models in Radiology (e.g., RAD-DINO)</a:t>
                      </a:r>
                      <a:endParaRPr lang="en-US" sz="9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442" marR="8442" marT="11256" marB="11256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900">
                          <a:solidFill>
                            <a:srgbClr val="1F1F1F"/>
                          </a:solidFill>
                          <a:effectLst/>
                        </a:rPr>
                        <a:t>Training models from scratch on small hospital datasets leads to severe underfitting and bias.</a:t>
                      </a:r>
                      <a:endParaRPr lang="en-US" sz="9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442" marR="8442" marT="11256" marB="11256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900">
                          <a:solidFill>
                            <a:srgbClr val="1F1F1F"/>
                          </a:solidFill>
                          <a:effectLst/>
                        </a:rPr>
                        <a:t>Used self-supervised learning on millions of medical images to create "Foundation Models" that understand general anatomy.</a:t>
                      </a:r>
                      <a:endParaRPr lang="en-US" sz="9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442" marR="8442" marT="11256" marB="11256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900" dirty="0">
                          <a:solidFill>
                            <a:srgbClr val="1F1F1F"/>
                          </a:solidFill>
                          <a:effectLst/>
                        </a:rPr>
                        <a:t>They are great at global context but often lack the fine-grained precision needed for specific, tiny tumors.</a:t>
                      </a:r>
                      <a:endParaRPr lang="en-US" sz="9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442" marR="8442" marT="11256" marB="11256" anchor="ctr"/>
                </a:tc>
                <a:extLst>
                  <a:ext uri="{0D108BD9-81ED-4DB2-BD59-A6C34878D82A}">
                    <a16:rowId xmlns:a16="http://schemas.microsoft.com/office/drawing/2014/main" val="3768748545"/>
                  </a:ext>
                </a:extLst>
              </a:tr>
              <a:tr h="618676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IN" sz="900">
                          <a:solidFill>
                            <a:srgbClr val="1F1F1F"/>
                          </a:solidFill>
                          <a:effectLst/>
                        </a:rPr>
                        <a:t>5</a:t>
                      </a:r>
                      <a:endParaRPr lang="en-IN" sz="9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442" marR="8442" marT="11256" marB="11256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900">
                          <a:solidFill>
                            <a:srgbClr val="1F1F1F"/>
                          </a:solidFill>
                          <a:effectLst/>
                        </a:rPr>
                        <a:t>Multi-Scale and Dual-Stream Feature Fusion Networks</a:t>
                      </a:r>
                      <a:endParaRPr lang="en-US" sz="9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442" marR="8442" marT="11256" marB="11256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900">
                          <a:solidFill>
                            <a:srgbClr val="1F1F1F"/>
                          </a:solidFill>
                          <a:effectLst/>
                        </a:rPr>
                        <a:t>Single models force a compromise: they either focus too much on global shape or too much on local texture.</a:t>
                      </a:r>
                      <a:endParaRPr lang="en-US" sz="9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442" marR="8442" marT="11256" marB="11256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900">
                          <a:solidFill>
                            <a:srgbClr val="1F1F1F"/>
                          </a:solidFill>
                          <a:effectLst/>
                        </a:rPr>
                        <a:t>Created parallel streams to capture both global and local features, fusing them at the final classification layer.</a:t>
                      </a:r>
                      <a:endParaRPr lang="en-US" sz="9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442" marR="8442" marT="11256" marB="11256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900" dirty="0">
                          <a:solidFill>
                            <a:srgbClr val="1F1F1F"/>
                          </a:solidFill>
                          <a:effectLst/>
                        </a:rPr>
                        <a:t>Often suffer from high latency and VRAM issues, making them difficult to deploy in live hospital portals.</a:t>
                      </a:r>
                      <a:endParaRPr lang="en-US" sz="9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442" marR="8442" marT="11256" marB="11256" anchor="ctr"/>
                </a:tc>
                <a:extLst>
                  <a:ext uri="{0D108BD9-81ED-4DB2-BD59-A6C34878D82A}">
                    <a16:rowId xmlns:a16="http://schemas.microsoft.com/office/drawing/2014/main" val="2512592694"/>
                  </a:ext>
                </a:extLst>
              </a:tr>
              <a:tr h="767249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IN" sz="900">
                          <a:solidFill>
                            <a:srgbClr val="1F1F1F"/>
                          </a:solidFill>
                          <a:effectLst/>
                        </a:rPr>
                        <a:t>6</a:t>
                      </a:r>
                      <a:endParaRPr lang="en-IN" sz="9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442" marR="8442" marT="11256" marB="11256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900" dirty="0">
                          <a:solidFill>
                            <a:srgbClr val="1F1F1F"/>
                          </a:solidFill>
                          <a:effectLst/>
                        </a:rPr>
                        <a:t>Impact of Extraneous Artifacts on Deep Learning in Mammography</a:t>
                      </a:r>
                      <a:endParaRPr lang="en-US" sz="9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442" marR="8442" marT="11256" marB="11256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900">
                          <a:solidFill>
                            <a:srgbClr val="1F1F1F"/>
                          </a:solidFill>
                          <a:effectLst/>
                        </a:rPr>
                        <a:t>Raw X-rays contain white text labels (R/L, CC/MLO) and large black voids, which severely distract AI models during training.</a:t>
                      </a:r>
                      <a:endParaRPr lang="en-US" sz="9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442" marR="8442" marT="11256" marB="11256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900" dirty="0">
                          <a:solidFill>
                            <a:srgbClr val="1F1F1F"/>
                          </a:solidFill>
                          <a:effectLst/>
                        </a:rPr>
                        <a:t>Proposed manual cropping or complex bounding-box regressions to isolate the breast tissue.</a:t>
                      </a:r>
                      <a:endParaRPr lang="en-US" sz="9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442" marR="8442" marT="11256" marB="11256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900" dirty="0">
                          <a:solidFill>
                            <a:srgbClr val="1F1F1F"/>
                          </a:solidFill>
                          <a:effectLst/>
                        </a:rPr>
                        <a:t>Manual cropping is not scalable, and complex bounding boxes add unnecessary latency to the pipeline. (Your OpenCV Auto-Cropper solves this instantly).</a:t>
                      </a:r>
                      <a:endParaRPr lang="en-US" sz="9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442" marR="8442" marT="11256" marB="11256" anchor="ctr"/>
                </a:tc>
                <a:extLst>
                  <a:ext uri="{0D108BD9-81ED-4DB2-BD59-A6C34878D82A}">
                    <a16:rowId xmlns:a16="http://schemas.microsoft.com/office/drawing/2014/main" val="382138346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42AA4D-B5DC-3E09-82EE-2E0BAB37FD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Shape 0">
            <a:extLst>
              <a:ext uri="{FF2B5EF4-FFF2-40B4-BE49-F238E27FC236}">
                <a16:creationId xmlns:a16="http://schemas.microsoft.com/office/drawing/2014/main" id="{4096ADF8-8197-3D51-A136-FFB03627315F}"/>
              </a:ext>
            </a:extLst>
          </p:cNvPr>
          <p:cNvSpPr/>
          <p:nvPr/>
        </p:nvSpPr>
        <p:spPr>
          <a:xfrm>
            <a:off x="0" y="0"/>
            <a:ext cx="9143640" cy="502560"/>
          </a:xfrm>
          <a:prstGeom prst="rect">
            <a:avLst/>
          </a:prstGeom>
          <a:solidFill>
            <a:schemeClr val="bg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0" name="Text 1">
            <a:extLst>
              <a:ext uri="{FF2B5EF4-FFF2-40B4-BE49-F238E27FC236}">
                <a16:creationId xmlns:a16="http://schemas.microsoft.com/office/drawing/2014/main" id="{40883689-1637-EBE0-83B9-CF35F7B8EBBC}"/>
              </a:ext>
            </a:extLst>
          </p:cNvPr>
          <p:cNvSpPr/>
          <p:nvPr/>
        </p:nvSpPr>
        <p:spPr>
          <a:xfrm>
            <a:off x="228600" y="36720"/>
            <a:ext cx="7772040" cy="429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1" strike="noStrike" spc="-1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LITERATURE</a:t>
            </a:r>
            <a:r>
              <a:rPr lang="en-US" sz="2000" b="1" strike="noStrike" spc="-1" dirty="0">
                <a:solidFill>
                  <a:srgbClr val="FFFFFF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REVIEW</a:t>
            </a:r>
            <a:endParaRPr lang="en-US" sz="2000" b="0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1" name="Text 2">
            <a:extLst>
              <a:ext uri="{FF2B5EF4-FFF2-40B4-BE49-F238E27FC236}">
                <a16:creationId xmlns:a16="http://schemas.microsoft.com/office/drawing/2014/main" id="{BD5AC0BD-A34A-07ED-4F4A-496B0833A6D2}"/>
              </a:ext>
            </a:extLst>
          </p:cNvPr>
          <p:cNvSpPr/>
          <p:nvPr/>
        </p:nvSpPr>
        <p:spPr>
          <a:xfrm>
            <a:off x="8503920" y="36720"/>
            <a:ext cx="594000" cy="429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1" strike="noStrike" spc="-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en-US" sz="1400" b="0" strike="noStrike" spc="-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3" name="Shape 4">
            <a:extLst>
              <a:ext uri="{FF2B5EF4-FFF2-40B4-BE49-F238E27FC236}">
                <a16:creationId xmlns:a16="http://schemas.microsoft.com/office/drawing/2014/main" id="{C0CF83D3-483D-B85A-2721-E5EE7950C7E9}"/>
              </a:ext>
            </a:extLst>
          </p:cNvPr>
          <p:cNvSpPr/>
          <p:nvPr/>
        </p:nvSpPr>
        <p:spPr>
          <a:xfrm>
            <a:off x="45540" y="466200"/>
            <a:ext cx="8686440" cy="27000"/>
          </a:xfrm>
          <a:prstGeom prst="rect">
            <a:avLst/>
          </a:prstGeom>
          <a:solidFill>
            <a:srgbClr val="2E74B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6" name="Shape 6">
            <a:extLst>
              <a:ext uri="{FF2B5EF4-FFF2-40B4-BE49-F238E27FC236}">
                <a16:creationId xmlns:a16="http://schemas.microsoft.com/office/drawing/2014/main" id="{FCD339CB-BCDC-9470-6DB5-7A8A459DDC4D}"/>
              </a:ext>
            </a:extLst>
          </p:cNvPr>
          <p:cNvSpPr/>
          <p:nvPr/>
        </p:nvSpPr>
        <p:spPr>
          <a:xfrm>
            <a:off x="0" y="4919400"/>
            <a:ext cx="9143640" cy="223560"/>
          </a:xfrm>
          <a:prstGeom prst="rect">
            <a:avLst/>
          </a:prstGeom>
          <a:solidFill>
            <a:srgbClr val="D9D9D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7" name="Text 7">
            <a:extLst>
              <a:ext uri="{FF2B5EF4-FFF2-40B4-BE49-F238E27FC236}">
                <a16:creationId xmlns:a16="http://schemas.microsoft.com/office/drawing/2014/main" id="{C2EF3F6E-3B15-C3BC-ED7B-2B506359A18C}"/>
              </a:ext>
            </a:extLst>
          </p:cNvPr>
          <p:cNvSpPr/>
          <p:nvPr/>
        </p:nvSpPr>
        <p:spPr>
          <a:xfrm>
            <a:off x="0" y="4919400"/>
            <a:ext cx="9143640" cy="223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00" b="0" strike="noStrike" spc="-1">
                <a:solidFill>
                  <a:srgbClr val="80808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Department Of CSE  |  KGiSL Institute of Technology, Coimbatore</a:t>
            </a:r>
            <a:endParaRPr lang="en-US" sz="900" b="0" strike="noStrike" spc="-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F6C48B3-4816-DA2A-6835-639C17AB65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2769411"/>
              </p:ext>
            </p:extLst>
          </p:nvPr>
        </p:nvGraphicFramePr>
        <p:xfrm>
          <a:off x="83535" y="1089024"/>
          <a:ext cx="9014385" cy="3588276"/>
        </p:xfrm>
        <a:graphic>
          <a:graphicData uri="http://schemas.openxmlformats.org/drawingml/2006/table">
            <a:tbl>
              <a:tblPr>
                <a:tableStyleId>{D7AC3CCA-C797-4891-BE02-D94E43425B78}</a:tableStyleId>
              </a:tblPr>
              <a:tblGrid>
                <a:gridCol w="289845">
                  <a:extLst>
                    <a:ext uri="{9D8B030D-6E8A-4147-A177-3AD203B41FA5}">
                      <a16:colId xmlns:a16="http://schemas.microsoft.com/office/drawing/2014/main" val="1513403327"/>
                    </a:ext>
                  </a:extLst>
                </a:gridCol>
                <a:gridCol w="3284220">
                  <a:extLst>
                    <a:ext uri="{9D8B030D-6E8A-4147-A177-3AD203B41FA5}">
                      <a16:colId xmlns:a16="http://schemas.microsoft.com/office/drawing/2014/main" val="535822070"/>
                    </a:ext>
                  </a:extLst>
                </a:gridCol>
                <a:gridCol w="1834566">
                  <a:extLst>
                    <a:ext uri="{9D8B030D-6E8A-4147-A177-3AD203B41FA5}">
                      <a16:colId xmlns:a16="http://schemas.microsoft.com/office/drawing/2014/main" val="506276375"/>
                    </a:ext>
                  </a:extLst>
                </a:gridCol>
                <a:gridCol w="1802877">
                  <a:extLst>
                    <a:ext uri="{9D8B030D-6E8A-4147-A177-3AD203B41FA5}">
                      <a16:colId xmlns:a16="http://schemas.microsoft.com/office/drawing/2014/main" val="2290976105"/>
                    </a:ext>
                  </a:extLst>
                </a:gridCol>
                <a:gridCol w="1802877">
                  <a:extLst>
                    <a:ext uri="{9D8B030D-6E8A-4147-A177-3AD203B41FA5}">
                      <a16:colId xmlns:a16="http://schemas.microsoft.com/office/drawing/2014/main" val="249270013"/>
                    </a:ext>
                  </a:extLst>
                </a:gridCol>
              </a:tblGrid>
              <a:tr h="800902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IN" sz="900" dirty="0">
                          <a:solidFill>
                            <a:srgbClr val="1F1F1F"/>
                          </a:solidFill>
                          <a:effectLst/>
                        </a:rPr>
                        <a:t>7</a:t>
                      </a:r>
                      <a:endParaRPr lang="en-IN" sz="9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442" marR="8442" marT="11256" marB="11256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it-IT" sz="900" dirty="0">
                          <a:solidFill>
                            <a:srgbClr val="1F1F1F"/>
                          </a:solidFill>
                          <a:effectLst/>
                        </a:rPr>
                        <a:t>Explainable AI (XAI) in Medical Diagnostics via Grad-CAM</a:t>
                      </a:r>
                      <a:endParaRPr lang="it-IT" sz="9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442" marR="8442" marT="11256" marB="11256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900" dirty="0">
                          <a:solidFill>
                            <a:srgbClr val="1F1F1F"/>
                          </a:solidFill>
                          <a:effectLst/>
                        </a:rPr>
                        <a:t>AI models operate as "black boxes," making doctors hesitant to trust their diagnostic predictions without visual proof.</a:t>
                      </a:r>
                      <a:endParaRPr lang="en-US" sz="9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442" marR="8442" marT="11256" marB="11256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900" dirty="0">
                          <a:solidFill>
                            <a:srgbClr val="1F1F1F"/>
                          </a:solidFill>
                          <a:effectLst/>
                        </a:rPr>
                        <a:t>Utilized Gradient-weighted Class Activation Mapping (Grad-CAM) to generate heatmaps highlighting what the AI is looking at.</a:t>
                      </a:r>
                      <a:endParaRPr lang="en-US" sz="9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442" marR="8442" marT="11256" marB="11256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900" dirty="0">
                          <a:solidFill>
                            <a:srgbClr val="1F1F1F"/>
                          </a:solidFill>
                          <a:effectLst/>
                        </a:rPr>
                        <a:t>Heatmaps on Transformers can be coarse; they must be overlaid precisely on isolated tissue to be clinically useful.</a:t>
                      </a:r>
                      <a:endParaRPr lang="en-US" sz="9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442" marR="8442" marT="11256" marB="11256" anchor="ctr"/>
                </a:tc>
                <a:extLst>
                  <a:ext uri="{0D108BD9-81ED-4DB2-BD59-A6C34878D82A}">
                    <a16:rowId xmlns:a16="http://schemas.microsoft.com/office/drawing/2014/main" val="2429735088"/>
                  </a:ext>
                </a:extLst>
              </a:tr>
              <a:tr h="993236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IN" sz="900">
                          <a:solidFill>
                            <a:srgbClr val="1F1F1F"/>
                          </a:solidFill>
                          <a:effectLst/>
                        </a:rPr>
                        <a:t>8</a:t>
                      </a:r>
                      <a:endParaRPr lang="en-IN" sz="9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442" marR="8442" marT="11256" marB="11256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900" dirty="0">
                          <a:solidFill>
                            <a:srgbClr val="1F1F1F"/>
                          </a:solidFill>
                          <a:effectLst/>
                        </a:rPr>
                        <a:t>Addressing Class Imbalance in Medical Image Datasets</a:t>
                      </a:r>
                      <a:endParaRPr lang="en-US" sz="9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442" marR="8442" marT="11256" marB="11256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900">
                          <a:solidFill>
                            <a:srgbClr val="1F1F1F"/>
                          </a:solidFill>
                          <a:effectLst/>
                        </a:rPr>
                        <a:t>Medical datasets naturally have far more "Benign" cases than "Heavily Malignant" cases, causing AI to heavily bias toward predicting "Healthy."</a:t>
                      </a:r>
                      <a:endParaRPr lang="en-US" sz="9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442" marR="8442" marT="11256" marB="11256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900">
                          <a:solidFill>
                            <a:srgbClr val="1F1F1F"/>
                          </a:solidFill>
                          <a:effectLst/>
                        </a:rPr>
                        <a:t>Employed clinical data augmentation (rotations, flipping, contrast jitter) to artificially balance the dataset.</a:t>
                      </a:r>
                      <a:endParaRPr lang="en-US" sz="9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442" marR="8442" marT="11256" marB="11256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900" dirty="0">
                          <a:solidFill>
                            <a:srgbClr val="1F1F1F"/>
                          </a:solidFill>
                          <a:effectLst/>
                        </a:rPr>
                        <a:t>Augmentation must be carefully controlled so as not to distort actual anatomical realities.</a:t>
                      </a:r>
                      <a:endParaRPr lang="en-US" sz="9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442" marR="8442" marT="11256" marB="11256" anchor="ctr"/>
                </a:tc>
                <a:extLst>
                  <a:ext uri="{0D108BD9-81ED-4DB2-BD59-A6C34878D82A}">
                    <a16:rowId xmlns:a16="http://schemas.microsoft.com/office/drawing/2014/main" val="2463106497"/>
                  </a:ext>
                </a:extLst>
              </a:tr>
              <a:tr h="800902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IN" sz="900" dirty="0">
                          <a:solidFill>
                            <a:srgbClr val="1F1F1F"/>
                          </a:solidFill>
                          <a:effectLst/>
                        </a:rPr>
                        <a:t>9</a:t>
                      </a:r>
                      <a:endParaRPr lang="en-IN" sz="9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442" marR="8442" marT="11256" marB="11256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900" dirty="0">
                          <a:solidFill>
                            <a:srgbClr val="1F1F1F"/>
                          </a:solidFill>
                          <a:effectLst/>
                        </a:rPr>
                        <a:t>Large Language Models (LLMs) in Clinical Report Generation</a:t>
                      </a:r>
                      <a:endParaRPr lang="en-US" sz="9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442" marR="8442" marT="11256" marB="11256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900">
                          <a:solidFill>
                            <a:srgbClr val="1F1F1F"/>
                          </a:solidFill>
                          <a:effectLst/>
                        </a:rPr>
                        <a:t>Radiologists suffer from severe fatigue writing hundreds of repetitive, structured diagnostic reports daily.</a:t>
                      </a:r>
                      <a:endParaRPr lang="en-US" sz="9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442" marR="8442" marT="11256" marB="11256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900">
                          <a:solidFill>
                            <a:srgbClr val="1F1F1F"/>
                          </a:solidFill>
                          <a:effectLst/>
                        </a:rPr>
                        <a:t>Explored using LLMs to automatically generate text-based clinical notes and summaries.</a:t>
                      </a:r>
                      <a:endParaRPr lang="en-US" sz="9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442" marR="8442" marT="11256" marB="11256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900" dirty="0">
                          <a:solidFill>
                            <a:srgbClr val="1F1F1F"/>
                          </a:solidFill>
                          <a:effectLst/>
                        </a:rPr>
                        <a:t>Pure LLMs suffer from "hallucinations" and cannot actually "see" the X-ray to verify the clinical truth.</a:t>
                      </a:r>
                      <a:endParaRPr lang="en-US" sz="9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442" marR="8442" marT="11256" marB="11256" anchor="ctr"/>
                </a:tc>
                <a:extLst>
                  <a:ext uri="{0D108BD9-81ED-4DB2-BD59-A6C34878D82A}">
                    <a16:rowId xmlns:a16="http://schemas.microsoft.com/office/drawing/2014/main" val="20317094"/>
                  </a:ext>
                </a:extLst>
              </a:tr>
              <a:tr h="993236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IN" sz="900">
                          <a:solidFill>
                            <a:srgbClr val="1F1F1F"/>
                          </a:solidFill>
                          <a:effectLst/>
                        </a:rPr>
                        <a:t>10</a:t>
                      </a:r>
                      <a:endParaRPr lang="en-IN" sz="9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442" marR="8442" marT="11256" marB="11256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IN" sz="900" dirty="0">
                          <a:solidFill>
                            <a:srgbClr val="1F1F1F"/>
                          </a:solidFill>
                          <a:effectLst/>
                        </a:rPr>
                        <a:t>Multimodal AI: Coupling Vision Models with LLMs</a:t>
                      </a:r>
                      <a:endParaRPr lang="en-IN" sz="9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442" marR="8442" marT="11256" marB="11256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900" dirty="0">
                          <a:solidFill>
                            <a:srgbClr val="1F1F1F"/>
                          </a:solidFill>
                          <a:effectLst/>
                        </a:rPr>
                        <a:t>Vision models output raw numbers (e.g., 94% Malignant), which are not human-readable or empathetic for patient records.</a:t>
                      </a:r>
                      <a:endParaRPr lang="en-US" sz="9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442" marR="8442" marT="11256" marB="11256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900" dirty="0">
                          <a:solidFill>
                            <a:srgbClr val="1F1F1F"/>
                          </a:solidFill>
                          <a:effectLst/>
                        </a:rPr>
                        <a:t>Linked Vision model outputs directly into LLM prompts (like Gemini) to translate mathematical predictions into professional clinical text.</a:t>
                      </a:r>
                      <a:endParaRPr lang="en-US" sz="9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442" marR="8442" marT="11256" marB="11256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900" dirty="0">
                          <a:solidFill>
                            <a:srgbClr val="1F1F1F"/>
                          </a:solidFill>
                          <a:effectLst/>
                        </a:rPr>
                        <a:t>Requires a decoupled, horizontal architecture (like your </a:t>
                      </a:r>
                      <a:r>
                        <a:rPr lang="en-US" sz="900" dirty="0" err="1">
                          <a:solidFill>
                            <a:srgbClr val="1F1F1F"/>
                          </a:solidFill>
                          <a:effectLst/>
                        </a:rPr>
                        <a:t>FastAPI</a:t>
                      </a:r>
                      <a:r>
                        <a:rPr lang="en-US" sz="900" dirty="0">
                          <a:solidFill>
                            <a:srgbClr val="1F1F1F"/>
                          </a:solidFill>
                          <a:effectLst/>
                        </a:rPr>
                        <a:t> backend) to ensure the heavy models don't crash the UI.</a:t>
                      </a:r>
                      <a:endParaRPr lang="en-US" sz="9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442" marR="8442" marT="11256" marB="11256" anchor="ctr"/>
                </a:tc>
                <a:extLst>
                  <a:ext uri="{0D108BD9-81ED-4DB2-BD59-A6C34878D82A}">
                    <a16:rowId xmlns:a16="http://schemas.microsoft.com/office/drawing/2014/main" val="17362550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84BE132-B257-2009-B1B3-36A18FFA12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1158919"/>
              </p:ext>
            </p:extLst>
          </p:nvPr>
        </p:nvGraphicFramePr>
        <p:xfrm>
          <a:off x="83534" y="798634"/>
          <a:ext cx="9014385" cy="321531"/>
        </p:xfrm>
        <a:graphic>
          <a:graphicData uri="http://schemas.openxmlformats.org/drawingml/2006/table">
            <a:tbl>
              <a:tblPr>
                <a:tableStyleId>{D7AC3CCA-C797-4891-BE02-D94E43425B78}</a:tableStyleId>
              </a:tblPr>
              <a:tblGrid>
                <a:gridCol w="289845">
                  <a:extLst>
                    <a:ext uri="{9D8B030D-6E8A-4147-A177-3AD203B41FA5}">
                      <a16:colId xmlns:a16="http://schemas.microsoft.com/office/drawing/2014/main" val="464793108"/>
                    </a:ext>
                  </a:extLst>
                </a:gridCol>
                <a:gridCol w="3284220">
                  <a:extLst>
                    <a:ext uri="{9D8B030D-6E8A-4147-A177-3AD203B41FA5}">
                      <a16:colId xmlns:a16="http://schemas.microsoft.com/office/drawing/2014/main" val="3500110076"/>
                    </a:ext>
                  </a:extLst>
                </a:gridCol>
                <a:gridCol w="1834566">
                  <a:extLst>
                    <a:ext uri="{9D8B030D-6E8A-4147-A177-3AD203B41FA5}">
                      <a16:colId xmlns:a16="http://schemas.microsoft.com/office/drawing/2014/main" val="2248809492"/>
                    </a:ext>
                  </a:extLst>
                </a:gridCol>
                <a:gridCol w="1802877">
                  <a:extLst>
                    <a:ext uri="{9D8B030D-6E8A-4147-A177-3AD203B41FA5}">
                      <a16:colId xmlns:a16="http://schemas.microsoft.com/office/drawing/2014/main" val="1366691053"/>
                    </a:ext>
                  </a:extLst>
                </a:gridCol>
                <a:gridCol w="1802877">
                  <a:extLst>
                    <a:ext uri="{9D8B030D-6E8A-4147-A177-3AD203B41FA5}">
                      <a16:colId xmlns:a16="http://schemas.microsoft.com/office/drawing/2014/main" val="4011921820"/>
                    </a:ext>
                  </a:extLst>
                </a:gridCol>
              </a:tblGrid>
              <a:tr h="321531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IN" sz="900" b="1" dirty="0">
                          <a:solidFill>
                            <a:srgbClr val="1F1F1F"/>
                          </a:solidFill>
                          <a:effectLst/>
                        </a:rPr>
                        <a:t>S.no</a:t>
                      </a:r>
                      <a:endParaRPr lang="en-IN" sz="9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442" marR="8442" marT="11256" marB="11256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900" b="1" dirty="0">
                          <a:solidFill>
                            <a:srgbClr val="1F1F1F"/>
                          </a:solidFill>
                          <a:effectLst/>
                        </a:rPr>
                        <a:t>Title of the Paper (Concepts)</a:t>
                      </a:r>
                      <a:endParaRPr lang="en-US" sz="9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442" marR="8442" marT="11256" marB="11256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IN" sz="900" b="1" dirty="0">
                          <a:solidFill>
                            <a:srgbClr val="1F1F1F"/>
                          </a:solidFill>
                          <a:effectLst/>
                        </a:rPr>
                        <a:t>Problem Statement Given</a:t>
                      </a:r>
                      <a:endParaRPr lang="en-IN" sz="9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442" marR="8442" marT="11256" marB="11256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IN" sz="900" b="1" dirty="0">
                          <a:solidFill>
                            <a:srgbClr val="1F1F1F"/>
                          </a:solidFill>
                          <a:effectLst/>
                        </a:rPr>
                        <a:t>Proposed Solution</a:t>
                      </a:r>
                      <a:endParaRPr lang="en-IN" sz="9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442" marR="8442" marT="11256" marB="11256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900" b="1" dirty="0">
                          <a:solidFill>
                            <a:srgbClr val="1F1F1F"/>
                          </a:solidFill>
                          <a:effectLst/>
                        </a:rPr>
                        <a:t>Limitations (Why Your Project is Better)</a:t>
                      </a:r>
                      <a:endParaRPr lang="en-US" sz="9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442" marR="8442" marT="11256" marB="11256" anchor="ctr"/>
                </a:tc>
                <a:extLst>
                  <a:ext uri="{0D108BD9-81ED-4DB2-BD59-A6C34878D82A}">
                    <a16:rowId xmlns:a16="http://schemas.microsoft.com/office/drawing/2014/main" val="9778631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465943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Shape 0"/>
          <p:cNvSpPr/>
          <p:nvPr/>
        </p:nvSpPr>
        <p:spPr>
          <a:xfrm>
            <a:off x="0" y="0"/>
            <a:ext cx="9143640" cy="502560"/>
          </a:xfrm>
          <a:prstGeom prst="rect">
            <a:avLst/>
          </a:prstGeom>
          <a:solidFill>
            <a:schemeClr val="bg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97" name="Text 1"/>
          <p:cNvSpPr/>
          <p:nvPr/>
        </p:nvSpPr>
        <p:spPr>
          <a:xfrm>
            <a:off x="228600" y="36720"/>
            <a:ext cx="7772040" cy="429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1" strike="noStrike" spc="-1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PROPOSED SOLUTION</a:t>
            </a:r>
            <a:endParaRPr lang="en-US" sz="2000" b="0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8" name="Text 2"/>
          <p:cNvSpPr/>
          <p:nvPr/>
        </p:nvSpPr>
        <p:spPr>
          <a:xfrm>
            <a:off x="8503920" y="36720"/>
            <a:ext cx="594000" cy="429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1" strike="noStrike" spc="-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en-US" sz="1400" b="0" strike="noStrike" spc="-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9" name="Text 3"/>
          <p:cNvSpPr/>
          <p:nvPr/>
        </p:nvSpPr>
        <p:spPr>
          <a:xfrm>
            <a:off x="228600" y="594360"/>
            <a:ext cx="868644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600" b="1" strike="noStrike" spc="-1">
                <a:solidFill>
                  <a:srgbClr val="1F3864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Dual-Stream Transformer-Based Architecture</a:t>
            </a:r>
            <a:endParaRPr lang="en-US" sz="1600" b="0" strike="noStrike" spc="-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0" name="Shape 4"/>
          <p:cNvSpPr/>
          <p:nvPr/>
        </p:nvSpPr>
        <p:spPr>
          <a:xfrm>
            <a:off x="228600" y="941760"/>
            <a:ext cx="8686440" cy="27000"/>
          </a:xfrm>
          <a:prstGeom prst="rect">
            <a:avLst/>
          </a:prstGeom>
          <a:solidFill>
            <a:srgbClr val="2E74B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01" name="Text 5"/>
          <p:cNvSpPr/>
          <p:nvPr/>
        </p:nvSpPr>
        <p:spPr>
          <a:xfrm>
            <a:off x="274320" y="1024200"/>
            <a:ext cx="4571640" cy="374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endParaRPr lang="en-US" sz="11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r>
              <a:rPr lang="en-US" sz="11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➢  A </a:t>
            </a:r>
            <a:r>
              <a:rPr lang="en-US" sz="1100" b="1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Parallel Dual-Stream Vision Transformer Network</a:t>
            </a:r>
            <a:r>
              <a:rPr lang="en-US" sz="11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that combines global anatomical understanding with detailed local texture analysis.</a:t>
            </a:r>
            <a:endParaRPr lang="en-US" sz="1100" b="0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400"/>
              </a:spcAft>
              <a:buNone/>
              <a:tabLst>
                <a:tab pos="0" algn="l"/>
              </a:tabLst>
            </a:pPr>
            <a:endParaRPr lang="en-US" sz="1100" b="0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400"/>
              </a:spcAft>
              <a:buNone/>
              <a:tabLst>
                <a:tab pos="0" algn="l"/>
              </a:tabLst>
            </a:pPr>
            <a:r>
              <a:rPr lang="en-US" sz="11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➢  </a:t>
            </a:r>
            <a:r>
              <a:rPr lang="en-US" sz="1100" b="1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Stream 1 — RAD-DINO (</a:t>
            </a:r>
            <a:r>
              <a:rPr lang="en-US" sz="1100" b="1" strike="noStrike" spc="-1" dirty="0" err="1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ViT</a:t>
            </a:r>
            <a:r>
              <a:rPr lang="en-US" sz="1100" b="1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-Base):</a:t>
            </a:r>
            <a:r>
              <a:rPr lang="en-US" sz="11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Pretrained on radiology images; extracts global context; all parameters frozen (768-D output).</a:t>
            </a:r>
            <a:endParaRPr lang="en-US" sz="1100" b="0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400"/>
              </a:spcAft>
              <a:buNone/>
              <a:tabLst>
                <a:tab pos="0" algn="l"/>
              </a:tabLst>
            </a:pPr>
            <a:endParaRPr lang="en-US" sz="1100" b="0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400"/>
              </a:spcAft>
              <a:buNone/>
              <a:tabLst>
                <a:tab pos="0" algn="l"/>
              </a:tabLst>
            </a:pPr>
            <a:r>
              <a:rPr lang="en-US" sz="11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➢  </a:t>
            </a:r>
            <a:r>
              <a:rPr lang="en-US" sz="1100" b="1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Stream 2 — </a:t>
            </a:r>
            <a:r>
              <a:rPr lang="en-US" sz="1100" b="1" strike="noStrike" spc="-1" dirty="0" err="1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Swin</a:t>
            </a:r>
            <a:r>
              <a:rPr lang="en-US" sz="1100" b="1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Transformer:</a:t>
            </a:r>
            <a:r>
              <a:rPr lang="en-US" sz="11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Hierarchical shifted-window </a:t>
            </a:r>
            <a:r>
              <a:rPr lang="en-US" sz="1100" b="0" strike="noStrike" spc="-1" dirty="0" err="1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ViT</a:t>
            </a:r>
            <a:r>
              <a:rPr lang="en-US" sz="11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; captures fine-grained local texture; stages 3 &amp; 4 trainable (768-D output).</a:t>
            </a:r>
            <a:endParaRPr lang="en-US" sz="1100" b="0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400"/>
              </a:spcAft>
              <a:buNone/>
              <a:tabLst>
                <a:tab pos="0" algn="l"/>
              </a:tabLst>
            </a:pPr>
            <a:endParaRPr lang="en-US" sz="1100" b="0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400"/>
              </a:spcAft>
              <a:buNone/>
              <a:tabLst>
                <a:tab pos="0" algn="l"/>
              </a:tabLst>
            </a:pPr>
            <a:r>
              <a:rPr lang="en-US" sz="11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➢  </a:t>
            </a:r>
            <a:r>
              <a:rPr lang="en-US" sz="1100" b="1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Feature Fusion:</a:t>
            </a:r>
            <a:r>
              <a:rPr lang="en-US" sz="11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lang="en-US" sz="1100" b="0" strike="noStrike" spc="-1" dirty="0" err="1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BatchNorm</a:t>
            </a:r>
            <a:r>
              <a:rPr lang="en-US" sz="11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applied to each stream, then concatenated into a 1536-D super-vector.</a:t>
            </a:r>
            <a:endParaRPr lang="en-US" sz="1100" b="0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400"/>
              </a:spcAft>
              <a:buNone/>
              <a:tabLst>
                <a:tab pos="0" algn="l"/>
              </a:tabLst>
            </a:pPr>
            <a:endParaRPr lang="en-US" sz="1100" b="0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400"/>
              </a:spcAft>
              <a:buNone/>
              <a:tabLst>
                <a:tab pos="0" algn="l"/>
              </a:tabLst>
            </a:pPr>
            <a:r>
              <a:rPr lang="en-US" sz="11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➢  </a:t>
            </a:r>
            <a:r>
              <a:rPr lang="en-US" sz="1100" b="1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Classification Head:</a:t>
            </a:r>
            <a:r>
              <a:rPr lang="en-US" sz="11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MLP: Linear(1536→256) + </a:t>
            </a:r>
            <a:r>
              <a:rPr lang="en-US" sz="1100" b="0" strike="noStrike" spc="-1" dirty="0" err="1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BatchNorm</a:t>
            </a:r>
            <a:r>
              <a:rPr lang="en-US" sz="11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+ GELU + Dropout(0.5), then Linear(256→3).</a:t>
            </a:r>
            <a:endParaRPr lang="en-US" sz="1100" b="0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400"/>
              </a:spcAft>
              <a:buNone/>
              <a:tabLst>
                <a:tab pos="0" algn="l"/>
              </a:tabLst>
            </a:pPr>
            <a:endParaRPr lang="en-US" sz="1100" b="0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400"/>
              </a:spcAft>
              <a:buNone/>
              <a:tabLst>
                <a:tab pos="0" algn="l"/>
              </a:tabLst>
            </a:pPr>
            <a:r>
              <a:rPr lang="en-US" sz="11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➢  </a:t>
            </a:r>
            <a:r>
              <a:rPr lang="en-US" sz="1100" b="1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3-Class Output:</a:t>
            </a:r>
            <a:r>
              <a:rPr lang="en-US" sz="11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Benign | Lightly Malignant | Heavily Malignant (</a:t>
            </a:r>
            <a:r>
              <a:rPr lang="en-US" sz="1100" b="0" strike="noStrike" spc="-1" dirty="0" err="1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Softmax</a:t>
            </a:r>
            <a:r>
              <a:rPr lang="en-US" sz="11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).</a:t>
            </a:r>
            <a:endParaRPr lang="en-US" sz="1100" b="0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2" name="Shape 6"/>
          <p:cNvSpPr/>
          <p:nvPr/>
        </p:nvSpPr>
        <p:spPr>
          <a:xfrm>
            <a:off x="5120640" y="1024200"/>
            <a:ext cx="3748680" cy="475200"/>
          </a:xfrm>
          <a:prstGeom prst="rect">
            <a:avLst/>
          </a:prstGeom>
          <a:solidFill>
            <a:schemeClr val="bg1"/>
          </a:solidFill>
          <a:ln w="0"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03" name="Text 7"/>
          <p:cNvSpPr/>
          <p:nvPr/>
        </p:nvSpPr>
        <p:spPr>
          <a:xfrm>
            <a:off x="5120640" y="1024200"/>
            <a:ext cx="374868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00" b="1" strike="noStrike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Mammogram (224×224)</a:t>
            </a:r>
            <a:endParaRPr lang="en-US" sz="1000" b="0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" name="Shape 8"/>
          <p:cNvSpPr/>
          <p:nvPr/>
        </p:nvSpPr>
        <p:spPr>
          <a:xfrm>
            <a:off x="6903720" y="1499760"/>
            <a:ext cx="54360" cy="228240"/>
          </a:xfrm>
          <a:prstGeom prst="rect">
            <a:avLst/>
          </a:prstGeom>
          <a:solidFill>
            <a:srgbClr val="59595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05" name="Shape 9"/>
          <p:cNvSpPr/>
          <p:nvPr/>
        </p:nvSpPr>
        <p:spPr>
          <a:xfrm>
            <a:off x="5120640" y="1728360"/>
            <a:ext cx="3748680" cy="475200"/>
          </a:xfrm>
          <a:prstGeom prst="rect">
            <a:avLst/>
          </a:prstGeom>
          <a:solidFill>
            <a:schemeClr val="bg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06" name="Text 10"/>
          <p:cNvSpPr/>
          <p:nvPr/>
        </p:nvSpPr>
        <p:spPr>
          <a:xfrm>
            <a:off x="5120640" y="1728360"/>
            <a:ext cx="3748680" cy="475200"/>
          </a:xfrm>
          <a:prstGeom prst="rect">
            <a:avLst/>
          </a:prstGeom>
          <a:noFill/>
          <a:ln w="0"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50" b="1" strike="noStrike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Pre-processing (Resize / Augment / Normalize)</a:t>
            </a:r>
            <a:endParaRPr lang="en-US" sz="950" b="0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7" name="Shape 11"/>
          <p:cNvSpPr/>
          <p:nvPr/>
        </p:nvSpPr>
        <p:spPr>
          <a:xfrm>
            <a:off x="5943600" y="2203560"/>
            <a:ext cx="54360" cy="182520"/>
          </a:xfrm>
          <a:prstGeom prst="rect">
            <a:avLst/>
          </a:prstGeom>
          <a:solidFill>
            <a:srgbClr val="59595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08" name="Shape 12"/>
          <p:cNvSpPr/>
          <p:nvPr/>
        </p:nvSpPr>
        <p:spPr>
          <a:xfrm>
            <a:off x="7863840" y="2203560"/>
            <a:ext cx="54360" cy="182520"/>
          </a:xfrm>
          <a:prstGeom prst="rect">
            <a:avLst/>
          </a:prstGeom>
          <a:solidFill>
            <a:srgbClr val="59595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09" name="Shape 13"/>
          <p:cNvSpPr/>
          <p:nvPr/>
        </p:nvSpPr>
        <p:spPr>
          <a:xfrm>
            <a:off x="5943600" y="2203560"/>
            <a:ext cx="1974600" cy="45360"/>
          </a:xfrm>
          <a:prstGeom prst="rect">
            <a:avLst/>
          </a:prstGeom>
          <a:solidFill>
            <a:srgbClr val="59595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10" name="Shape 14"/>
          <p:cNvSpPr/>
          <p:nvPr/>
        </p:nvSpPr>
        <p:spPr>
          <a:xfrm>
            <a:off x="5120640" y="2386440"/>
            <a:ext cx="1691280" cy="658080"/>
          </a:xfrm>
          <a:prstGeom prst="rect">
            <a:avLst/>
          </a:prstGeom>
          <a:solidFill>
            <a:schemeClr val="bg1"/>
          </a:solidFill>
          <a:ln w="0"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11" name="Text 15"/>
          <p:cNvSpPr/>
          <p:nvPr/>
        </p:nvSpPr>
        <p:spPr>
          <a:xfrm>
            <a:off x="5120640" y="2386440"/>
            <a:ext cx="1691280" cy="658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00" b="1" strike="noStrike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RAD-DINO</a:t>
            </a:r>
            <a:endParaRPr lang="en-US" sz="900" b="0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00" b="1" strike="noStrike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(Frozen)</a:t>
            </a:r>
            <a:endParaRPr lang="en-US" sz="900" b="0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00" b="1" strike="noStrike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768-D</a:t>
            </a:r>
            <a:endParaRPr lang="en-US" sz="900" b="0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2" name="Shape 16"/>
          <p:cNvSpPr/>
          <p:nvPr/>
        </p:nvSpPr>
        <p:spPr>
          <a:xfrm>
            <a:off x="7059240" y="2386440"/>
            <a:ext cx="1810080" cy="658080"/>
          </a:xfrm>
          <a:prstGeom prst="rect">
            <a:avLst/>
          </a:prstGeom>
          <a:solidFill>
            <a:schemeClr val="bg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13" name="Text 17"/>
          <p:cNvSpPr/>
          <p:nvPr/>
        </p:nvSpPr>
        <p:spPr>
          <a:xfrm>
            <a:off x="7059240" y="2386440"/>
            <a:ext cx="1810080" cy="658080"/>
          </a:xfrm>
          <a:prstGeom prst="rect">
            <a:avLst/>
          </a:prstGeom>
          <a:noFill/>
          <a:ln w="0"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00" b="1" strike="noStrike" spc="-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Swin</a:t>
            </a:r>
            <a:r>
              <a:rPr lang="en-US" sz="900" b="1" strike="noStrike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Transformer</a:t>
            </a:r>
            <a:endParaRPr lang="en-US" sz="900" b="0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00" b="1" strike="noStrike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(Trainable)</a:t>
            </a:r>
            <a:endParaRPr lang="en-US" sz="900" b="0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00" b="1" strike="noStrike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768-D</a:t>
            </a:r>
            <a:endParaRPr lang="en-US" sz="900" b="0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4" name="Shape 18"/>
          <p:cNvSpPr/>
          <p:nvPr/>
        </p:nvSpPr>
        <p:spPr>
          <a:xfrm>
            <a:off x="5943600" y="3058132"/>
            <a:ext cx="45719" cy="233348"/>
          </a:xfrm>
          <a:prstGeom prst="rect">
            <a:avLst/>
          </a:prstGeom>
          <a:solidFill>
            <a:srgbClr val="59595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15" name="Shape 19"/>
          <p:cNvSpPr/>
          <p:nvPr/>
        </p:nvSpPr>
        <p:spPr>
          <a:xfrm>
            <a:off x="7870466" y="3044880"/>
            <a:ext cx="45719" cy="246600"/>
          </a:xfrm>
          <a:prstGeom prst="rect">
            <a:avLst/>
          </a:prstGeom>
          <a:solidFill>
            <a:srgbClr val="59595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16" name="Shape 20"/>
          <p:cNvSpPr/>
          <p:nvPr/>
        </p:nvSpPr>
        <p:spPr>
          <a:xfrm>
            <a:off x="5943600" y="3044880"/>
            <a:ext cx="1974600" cy="45360"/>
          </a:xfrm>
          <a:prstGeom prst="rect">
            <a:avLst/>
          </a:prstGeom>
          <a:solidFill>
            <a:srgbClr val="59595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17" name="Shape 21"/>
          <p:cNvSpPr/>
          <p:nvPr/>
        </p:nvSpPr>
        <p:spPr>
          <a:xfrm>
            <a:off x="6903720" y="3090600"/>
            <a:ext cx="54360" cy="200880"/>
          </a:xfrm>
          <a:prstGeom prst="rect">
            <a:avLst/>
          </a:prstGeom>
          <a:solidFill>
            <a:srgbClr val="59595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18" name="Shape 22"/>
          <p:cNvSpPr/>
          <p:nvPr/>
        </p:nvSpPr>
        <p:spPr>
          <a:xfrm>
            <a:off x="5120640" y="3291840"/>
            <a:ext cx="3748680" cy="475200"/>
          </a:xfrm>
          <a:prstGeom prst="rect">
            <a:avLst/>
          </a:prstGeom>
          <a:solidFill>
            <a:schemeClr val="bg1"/>
          </a:solidFill>
          <a:ln w="0"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19" name="Text 23"/>
          <p:cNvSpPr/>
          <p:nvPr/>
        </p:nvSpPr>
        <p:spPr>
          <a:xfrm>
            <a:off x="5120640" y="3291840"/>
            <a:ext cx="374868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00" b="1" strike="noStrike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Fusion → 1536-D Vector</a:t>
            </a:r>
            <a:endParaRPr lang="en-US" sz="1000" b="0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0" name="Shape 24"/>
          <p:cNvSpPr/>
          <p:nvPr/>
        </p:nvSpPr>
        <p:spPr>
          <a:xfrm>
            <a:off x="6903720" y="3767400"/>
            <a:ext cx="54360" cy="182520"/>
          </a:xfrm>
          <a:prstGeom prst="rect">
            <a:avLst/>
          </a:prstGeom>
          <a:solidFill>
            <a:srgbClr val="59595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21" name="Shape 25"/>
          <p:cNvSpPr/>
          <p:nvPr/>
        </p:nvSpPr>
        <p:spPr>
          <a:xfrm>
            <a:off x="5120640" y="3950280"/>
            <a:ext cx="3748680" cy="475200"/>
          </a:xfrm>
          <a:prstGeom prst="rect">
            <a:avLst/>
          </a:prstGeom>
          <a:solidFill>
            <a:schemeClr val="bg1"/>
          </a:solidFill>
          <a:ln w="0"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22" name="Text 26"/>
          <p:cNvSpPr/>
          <p:nvPr/>
        </p:nvSpPr>
        <p:spPr>
          <a:xfrm>
            <a:off x="5120640" y="3950280"/>
            <a:ext cx="374868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00" b="1" strike="noStrike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MLP Classifier → 3 Classes</a:t>
            </a:r>
            <a:endParaRPr lang="en-US" sz="1000" b="0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3" name="Shape 27"/>
          <p:cNvSpPr/>
          <p:nvPr/>
        </p:nvSpPr>
        <p:spPr>
          <a:xfrm>
            <a:off x="0" y="4919400"/>
            <a:ext cx="9143640" cy="223560"/>
          </a:xfrm>
          <a:prstGeom prst="rect">
            <a:avLst/>
          </a:prstGeom>
          <a:solidFill>
            <a:srgbClr val="D9D9D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24" name="Text 28"/>
          <p:cNvSpPr/>
          <p:nvPr/>
        </p:nvSpPr>
        <p:spPr>
          <a:xfrm>
            <a:off x="0" y="4919400"/>
            <a:ext cx="9143640" cy="223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00" b="0" strike="noStrike" spc="-1">
                <a:solidFill>
                  <a:srgbClr val="80808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Department Of CSE  |  KGiSL Institute of Technology, Coimbatore</a:t>
            </a:r>
            <a:endParaRPr lang="en-US" sz="900" b="0" strike="noStrike" spc="-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Shape 0"/>
          <p:cNvSpPr/>
          <p:nvPr/>
        </p:nvSpPr>
        <p:spPr>
          <a:xfrm>
            <a:off x="0" y="0"/>
            <a:ext cx="9143640" cy="502560"/>
          </a:xfrm>
          <a:prstGeom prst="rect">
            <a:avLst/>
          </a:prstGeom>
          <a:solidFill>
            <a:schemeClr val="bg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88" name="Text 1"/>
          <p:cNvSpPr/>
          <p:nvPr/>
        </p:nvSpPr>
        <p:spPr>
          <a:xfrm>
            <a:off x="228600" y="36720"/>
            <a:ext cx="7772040" cy="429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1" strike="noStrike" spc="-1" dirty="0">
                <a:latin typeface="Calibri"/>
                <a:ea typeface="Calibri"/>
              </a:rPr>
              <a:t>COMPARISON WITH EXISTING APPROACHES</a:t>
            </a:r>
            <a:endParaRPr lang="en-US" sz="2000" b="0" strike="noStrike" spc="-1" dirty="0">
              <a:latin typeface="Arial"/>
            </a:endParaRPr>
          </a:p>
        </p:txBody>
      </p:sp>
      <p:sp>
        <p:nvSpPr>
          <p:cNvPr id="389" name="Text 2"/>
          <p:cNvSpPr/>
          <p:nvPr/>
        </p:nvSpPr>
        <p:spPr>
          <a:xfrm>
            <a:off x="8503920" y="36720"/>
            <a:ext cx="594000" cy="429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1" strike="noStrike" spc="-1">
                <a:solidFill>
                  <a:srgbClr val="FFFFFF"/>
                </a:solidFill>
                <a:latin typeface="Calibri"/>
              </a:rPr>
              <a:t>19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390" name="Text 3"/>
          <p:cNvSpPr/>
          <p:nvPr/>
        </p:nvSpPr>
        <p:spPr>
          <a:xfrm>
            <a:off x="228600" y="594360"/>
            <a:ext cx="868644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600" b="1" strike="noStrike" spc="-1">
                <a:solidFill>
                  <a:srgbClr val="1F3864"/>
                </a:solidFill>
                <a:latin typeface="Calibri"/>
                <a:ea typeface="Calibri"/>
              </a:rPr>
              <a:t>Proposed System vs. Conventional Methods</a:t>
            </a:r>
            <a:endParaRPr lang="en-US" sz="1600" b="0" strike="noStrike" spc="-1">
              <a:latin typeface="Arial"/>
            </a:endParaRPr>
          </a:p>
        </p:txBody>
      </p:sp>
      <p:sp>
        <p:nvSpPr>
          <p:cNvPr id="391" name="Shape 4"/>
          <p:cNvSpPr/>
          <p:nvPr/>
        </p:nvSpPr>
        <p:spPr>
          <a:xfrm>
            <a:off x="228600" y="941760"/>
            <a:ext cx="8686440" cy="27000"/>
          </a:xfrm>
          <a:prstGeom prst="rect">
            <a:avLst/>
          </a:prstGeom>
          <a:solidFill>
            <a:srgbClr val="2E74B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graphicFrame>
        <p:nvGraphicFramePr>
          <p:cNvPr id="392" name="Table 0"/>
          <p:cNvGraphicFramePr/>
          <p:nvPr>
            <p:extLst>
              <p:ext uri="{D42A27DB-BD31-4B8C-83A1-F6EECF244321}">
                <p14:modId xmlns:p14="http://schemas.microsoft.com/office/powerpoint/2010/main" val="1945223896"/>
              </p:ext>
            </p:extLst>
          </p:nvPr>
        </p:nvGraphicFramePr>
        <p:xfrm>
          <a:off x="228600" y="1024200"/>
          <a:ext cx="8503920" cy="351108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8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en-US" sz="1050" b="1" strike="noStrike" spc="-1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</a:rPr>
                        <a:t>Feature</a:t>
                      </a:r>
                      <a:endParaRPr lang="en-US" sz="1050" b="0" strike="noStrike" spc="-1" dirty="0">
                        <a:solidFill>
                          <a:schemeClr val="tx1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CCCCCC"/>
                      </a:solidFill>
                    </a:lnL>
                    <a:lnR w="12240">
                      <a:solidFill>
                        <a:srgbClr val="CCCCCC"/>
                      </a:solidFill>
                    </a:lnR>
                    <a:lnT w="12240">
                      <a:solidFill>
                        <a:srgbClr val="CCCCCC"/>
                      </a:solidFill>
                    </a:lnT>
                    <a:lnB w="12240">
                      <a:solidFill>
                        <a:srgbClr val="CCCCCC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en-US" sz="1050" b="1" strike="noStrike" spc="-1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</a:rPr>
                        <a:t>Traditional CNN</a:t>
                      </a:r>
                      <a:endParaRPr lang="en-US" sz="1050" b="0" strike="noStrike" spc="-1" dirty="0">
                        <a:solidFill>
                          <a:schemeClr val="tx1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CCCCCC"/>
                      </a:solidFill>
                    </a:lnL>
                    <a:lnR w="12240">
                      <a:solidFill>
                        <a:srgbClr val="CCCCCC"/>
                      </a:solidFill>
                    </a:lnR>
                    <a:lnT w="12240">
                      <a:solidFill>
                        <a:srgbClr val="CCCCCC"/>
                      </a:solidFill>
                    </a:lnT>
                    <a:lnB w="12240">
                      <a:solidFill>
                        <a:srgbClr val="CCCCCC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en-US" sz="1050" b="1" strike="noStrike" spc="-1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</a:rPr>
                        <a:t>Single </a:t>
                      </a:r>
                      <a:r>
                        <a:rPr lang="en-US" sz="1050" b="1" strike="noStrike" spc="-1" dirty="0" err="1">
                          <a:solidFill>
                            <a:schemeClr val="tx1"/>
                          </a:solidFill>
                          <a:latin typeface="Calibri"/>
                          <a:ea typeface="Calibri"/>
                        </a:rPr>
                        <a:t>ViT</a:t>
                      </a:r>
                      <a:endParaRPr lang="en-US" sz="1050" b="0" strike="noStrike" spc="-1" dirty="0">
                        <a:solidFill>
                          <a:schemeClr val="tx1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CCCCCC"/>
                      </a:solidFill>
                    </a:lnL>
                    <a:lnR w="12240">
                      <a:solidFill>
                        <a:srgbClr val="CCCCCC"/>
                      </a:solidFill>
                    </a:lnR>
                    <a:lnT w="12240">
                      <a:solidFill>
                        <a:srgbClr val="CCCCCC"/>
                      </a:solidFill>
                    </a:lnT>
                    <a:lnB w="12240">
                      <a:solidFill>
                        <a:srgbClr val="CCCCCC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en-US" sz="1050" b="1" strike="noStrike" spc="-1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</a:rPr>
                        <a:t>Proposed Dual-Stream</a:t>
                      </a:r>
                      <a:endParaRPr lang="en-US" sz="1050" b="0" strike="noStrike" spc="-1" dirty="0">
                        <a:solidFill>
                          <a:schemeClr val="tx1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CCCCCC"/>
                      </a:solidFill>
                    </a:lnL>
                    <a:lnR w="12240">
                      <a:solidFill>
                        <a:srgbClr val="CCCCCC"/>
                      </a:solidFill>
                    </a:lnR>
                    <a:lnT w="12240">
                      <a:solidFill>
                        <a:srgbClr val="CCCCCC"/>
                      </a:solidFill>
                    </a:lnT>
                    <a:lnB w="12240">
                      <a:solidFill>
                        <a:srgbClr val="CCCCCC"/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en-US" sz="1050" b="0" strike="noStrike" spc="-1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Global Context</a:t>
                      </a:r>
                      <a:endParaRPr lang="en-US" sz="105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CCCCCC"/>
                      </a:solidFill>
                    </a:lnL>
                    <a:lnR w="12240">
                      <a:solidFill>
                        <a:srgbClr val="CCCCCC"/>
                      </a:solidFill>
                    </a:lnR>
                    <a:lnT w="12240">
                      <a:solidFill>
                        <a:srgbClr val="CCCCCC"/>
                      </a:solidFill>
                    </a:lnT>
                    <a:lnB w="12240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en-US" sz="1050" b="0" strike="noStrike" spc="-1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Limited</a:t>
                      </a:r>
                      <a:endParaRPr lang="en-US" sz="105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CCCCCC"/>
                      </a:solidFill>
                    </a:lnL>
                    <a:lnR w="12240">
                      <a:solidFill>
                        <a:srgbClr val="CCCCCC"/>
                      </a:solidFill>
                    </a:lnR>
                    <a:lnT w="12240">
                      <a:solidFill>
                        <a:srgbClr val="CCCCCC"/>
                      </a:solidFill>
                    </a:lnT>
                    <a:lnB w="12240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en-US" sz="1050" b="0" strike="noStrike" spc="-1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Strong</a:t>
                      </a:r>
                      <a:endParaRPr lang="en-US" sz="105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CCCCCC"/>
                      </a:solidFill>
                    </a:lnL>
                    <a:lnR w="12240">
                      <a:solidFill>
                        <a:srgbClr val="CCCCCC"/>
                      </a:solidFill>
                    </a:lnR>
                    <a:lnT w="12240">
                      <a:solidFill>
                        <a:srgbClr val="CCCCCC"/>
                      </a:solidFill>
                    </a:lnT>
                    <a:lnB w="12240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en-US" sz="1050" b="1" strike="noStrike" spc="-1">
                          <a:solidFill>
                            <a:srgbClr val="375623"/>
                          </a:solidFill>
                          <a:latin typeface="Calibri"/>
                          <a:ea typeface="Calibri"/>
                        </a:rPr>
                        <a:t>Strong ✓</a:t>
                      </a:r>
                      <a:endParaRPr lang="en-US" sz="105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CCCCCC"/>
                      </a:solidFill>
                    </a:lnL>
                    <a:lnR w="12240">
                      <a:solidFill>
                        <a:srgbClr val="CCCCCC"/>
                      </a:solidFill>
                    </a:lnR>
                    <a:lnT w="12240">
                      <a:solidFill>
                        <a:srgbClr val="CCCCCC"/>
                      </a:solidFill>
                    </a:lnT>
                    <a:lnB w="12240">
                      <a:solidFill>
                        <a:srgbClr val="CCCCC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en-US" sz="1050" b="0" strike="noStrike" spc="-1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Local Texture</a:t>
                      </a:r>
                      <a:endParaRPr lang="en-US" sz="105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CCCCCC"/>
                      </a:solidFill>
                    </a:lnL>
                    <a:lnR w="12240">
                      <a:solidFill>
                        <a:srgbClr val="CCCCCC"/>
                      </a:solidFill>
                    </a:lnR>
                    <a:lnT w="12240">
                      <a:solidFill>
                        <a:srgbClr val="CCCCCC"/>
                      </a:solidFill>
                    </a:lnT>
                    <a:lnB w="12240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en-US" sz="1050" b="0" strike="noStrike" spc="-1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Strong</a:t>
                      </a:r>
                      <a:endParaRPr lang="en-US" sz="105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CCCCCC"/>
                      </a:solidFill>
                    </a:lnL>
                    <a:lnR w="12240">
                      <a:solidFill>
                        <a:srgbClr val="CCCCCC"/>
                      </a:solidFill>
                    </a:lnR>
                    <a:lnT w="12240">
                      <a:solidFill>
                        <a:srgbClr val="CCCCCC"/>
                      </a:solidFill>
                    </a:lnT>
                    <a:lnB w="12240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en-US" sz="1050" b="0" strike="noStrike" spc="-1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Limited</a:t>
                      </a:r>
                      <a:endParaRPr lang="en-US" sz="105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CCCCCC"/>
                      </a:solidFill>
                    </a:lnL>
                    <a:lnR w="12240">
                      <a:solidFill>
                        <a:srgbClr val="CCCCCC"/>
                      </a:solidFill>
                    </a:lnR>
                    <a:lnT w="12240">
                      <a:solidFill>
                        <a:srgbClr val="CCCCCC"/>
                      </a:solidFill>
                    </a:lnT>
                    <a:lnB w="12240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en-US" sz="1050" b="1" strike="noStrike" spc="-1">
                          <a:solidFill>
                            <a:srgbClr val="375623"/>
                          </a:solidFill>
                          <a:latin typeface="Calibri"/>
                          <a:ea typeface="Calibri"/>
                        </a:rPr>
                        <a:t>Strong ✓</a:t>
                      </a:r>
                      <a:endParaRPr lang="en-US" sz="105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CCCCCC"/>
                      </a:solidFill>
                    </a:lnL>
                    <a:lnR w="12240">
                      <a:solidFill>
                        <a:srgbClr val="CCCCCC"/>
                      </a:solidFill>
                    </a:lnR>
                    <a:lnT w="12240">
                      <a:solidFill>
                        <a:srgbClr val="CCCCCC"/>
                      </a:solidFill>
                    </a:lnT>
                    <a:lnB w="12240">
                      <a:solidFill>
                        <a:srgbClr val="CCCCC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en-US" sz="1050" b="0" strike="noStrike" spc="-1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Shortcut Learning</a:t>
                      </a:r>
                      <a:endParaRPr lang="en-US" sz="105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CCCCCC"/>
                      </a:solidFill>
                    </a:lnL>
                    <a:lnR w="12240">
                      <a:solidFill>
                        <a:srgbClr val="CCCCCC"/>
                      </a:solidFill>
                    </a:lnR>
                    <a:lnT w="12240">
                      <a:solidFill>
                        <a:srgbClr val="CCCCCC"/>
                      </a:solidFill>
                    </a:lnT>
                    <a:lnB w="12240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en-US" sz="1050" b="0" strike="noStrike" spc="-1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High Risk</a:t>
                      </a:r>
                      <a:endParaRPr lang="en-US" sz="105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CCCCCC"/>
                      </a:solidFill>
                    </a:lnL>
                    <a:lnR w="12240">
                      <a:solidFill>
                        <a:srgbClr val="CCCCCC"/>
                      </a:solidFill>
                    </a:lnR>
                    <a:lnT w="12240">
                      <a:solidFill>
                        <a:srgbClr val="CCCCCC"/>
                      </a:solidFill>
                    </a:lnT>
                    <a:lnB w="12240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en-US" sz="1050" b="0" strike="noStrike" spc="-1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Moderate</a:t>
                      </a:r>
                      <a:endParaRPr lang="en-US" sz="105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CCCCCC"/>
                      </a:solidFill>
                    </a:lnL>
                    <a:lnR w="12240">
                      <a:solidFill>
                        <a:srgbClr val="CCCCCC"/>
                      </a:solidFill>
                    </a:lnR>
                    <a:lnT w="12240">
                      <a:solidFill>
                        <a:srgbClr val="CCCCCC"/>
                      </a:solidFill>
                    </a:lnT>
                    <a:lnB w="12240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en-US" sz="1050" b="1" strike="noStrike" spc="-1">
                          <a:solidFill>
                            <a:srgbClr val="375623"/>
                          </a:solidFill>
                          <a:latin typeface="Calibri"/>
                          <a:ea typeface="Calibri"/>
                        </a:rPr>
                        <a:t>Low Risk ✓</a:t>
                      </a:r>
                      <a:endParaRPr lang="en-US" sz="105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CCCCCC"/>
                      </a:solidFill>
                    </a:lnL>
                    <a:lnR w="12240">
                      <a:solidFill>
                        <a:srgbClr val="CCCCCC"/>
                      </a:solidFill>
                    </a:lnR>
                    <a:lnT w="12240">
                      <a:solidFill>
                        <a:srgbClr val="CCCCCC"/>
                      </a:solidFill>
                    </a:lnT>
                    <a:lnB w="12240">
                      <a:solidFill>
                        <a:srgbClr val="CCCCC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en-US" sz="1050" b="0" strike="noStrike" spc="-1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Interpretability</a:t>
                      </a:r>
                      <a:endParaRPr lang="en-US" sz="105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CCCCCC"/>
                      </a:solidFill>
                    </a:lnL>
                    <a:lnR w="12240">
                      <a:solidFill>
                        <a:srgbClr val="CCCCCC"/>
                      </a:solidFill>
                    </a:lnR>
                    <a:lnT w="12240">
                      <a:solidFill>
                        <a:srgbClr val="CCCCCC"/>
                      </a:solidFill>
                    </a:lnT>
                    <a:lnB w="12240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en-US" sz="1050" b="0" strike="noStrike" spc="-1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Low</a:t>
                      </a:r>
                      <a:endParaRPr lang="en-US" sz="105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CCCCCC"/>
                      </a:solidFill>
                    </a:lnL>
                    <a:lnR w="12240">
                      <a:solidFill>
                        <a:srgbClr val="CCCCCC"/>
                      </a:solidFill>
                    </a:lnR>
                    <a:lnT w="12240">
                      <a:solidFill>
                        <a:srgbClr val="CCCCCC"/>
                      </a:solidFill>
                    </a:lnT>
                    <a:lnB w="12240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en-US" sz="1050" b="0" strike="noStrike" spc="-1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Moderate</a:t>
                      </a:r>
                      <a:endParaRPr lang="en-US" sz="105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CCCCCC"/>
                      </a:solidFill>
                    </a:lnL>
                    <a:lnR w="12240">
                      <a:solidFill>
                        <a:srgbClr val="CCCCCC"/>
                      </a:solidFill>
                    </a:lnR>
                    <a:lnT w="12240">
                      <a:solidFill>
                        <a:srgbClr val="CCCCCC"/>
                      </a:solidFill>
                    </a:lnT>
                    <a:lnB w="12240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en-US" sz="1050" b="1" strike="noStrike" spc="-1">
                          <a:solidFill>
                            <a:srgbClr val="375623"/>
                          </a:solidFill>
                          <a:latin typeface="Calibri"/>
                          <a:ea typeface="Calibri"/>
                        </a:rPr>
                        <a:t>High ✓</a:t>
                      </a:r>
                      <a:endParaRPr lang="en-US" sz="105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CCCCCC"/>
                      </a:solidFill>
                    </a:lnL>
                    <a:lnR w="12240">
                      <a:solidFill>
                        <a:srgbClr val="CCCCCC"/>
                      </a:solidFill>
                    </a:lnR>
                    <a:lnT w="12240">
                      <a:solidFill>
                        <a:srgbClr val="CCCCCC"/>
                      </a:solidFill>
                    </a:lnT>
                    <a:lnB w="12240">
                      <a:solidFill>
                        <a:srgbClr val="CCCCC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8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en-US" sz="1050" b="0" strike="noStrike" spc="-1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Medical Pretrain</a:t>
                      </a:r>
                      <a:endParaRPr lang="en-US" sz="105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CCCCCC"/>
                      </a:solidFill>
                    </a:lnL>
                    <a:lnR w="12240">
                      <a:solidFill>
                        <a:srgbClr val="CCCCCC"/>
                      </a:solidFill>
                    </a:lnR>
                    <a:lnT w="12240">
                      <a:solidFill>
                        <a:srgbClr val="CCCCCC"/>
                      </a:solidFill>
                    </a:lnT>
                    <a:lnB w="12240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en-US" sz="1050" b="0" strike="noStrike" spc="-1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No</a:t>
                      </a:r>
                      <a:endParaRPr lang="en-US" sz="105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CCCCCC"/>
                      </a:solidFill>
                    </a:lnL>
                    <a:lnR w="12240">
                      <a:solidFill>
                        <a:srgbClr val="CCCCCC"/>
                      </a:solidFill>
                    </a:lnR>
                    <a:lnT w="12240">
                      <a:solidFill>
                        <a:srgbClr val="CCCCCC"/>
                      </a:solidFill>
                    </a:lnT>
                    <a:lnB w="12240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en-US" sz="1050" b="0" strike="noStrike" spc="-1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Partial</a:t>
                      </a:r>
                      <a:endParaRPr lang="en-US" sz="105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CCCCCC"/>
                      </a:solidFill>
                    </a:lnL>
                    <a:lnR w="12240">
                      <a:solidFill>
                        <a:srgbClr val="CCCCCC"/>
                      </a:solidFill>
                    </a:lnR>
                    <a:lnT w="12240">
                      <a:solidFill>
                        <a:srgbClr val="CCCCCC"/>
                      </a:solidFill>
                    </a:lnT>
                    <a:lnB w="12240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en-US" sz="1050" b="1" strike="noStrike" spc="-1">
                          <a:solidFill>
                            <a:srgbClr val="375623"/>
                          </a:solidFill>
                          <a:latin typeface="Calibri"/>
                          <a:ea typeface="Calibri"/>
                        </a:rPr>
                        <a:t>Yes (RAD-DINO) ✓</a:t>
                      </a:r>
                      <a:endParaRPr lang="en-US" sz="105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CCCCCC"/>
                      </a:solidFill>
                    </a:lnL>
                    <a:lnR w="12240">
                      <a:solidFill>
                        <a:srgbClr val="CCCCCC"/>
                      </a:solidFill>
                    </a:lnR>
                    <a:lnT w="12240">
                      <a:solidFill>
                        <a:srgbClr val="CCCCCC"/>
                      </a:solidFill>
                    </a:lnT>
                    <a:lnB w="12240">
                      <a:solidFill>
                        <a:srgbClr val="CCCCC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8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en-US" sz="1050" b="0" strike="noStrike" spc="-1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Clinical Reports</a:t>
                      </a:r>
                      <a:endParaRPr lang="en-US" sz="105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CCCCCC"/>
                      </a:solidFill>
                    </a:lnL>
                    <a:lnR w="12240">
                      <a:solidFill>
                        <a:srgbClr val="CCCCCC"/>
                      </a:solidFill>
                    </a:lnR>
                    <a:lnT w="12240">
                      <a:solidFill>
                        <a:srgbClr val="CCCCCC"/>
                      </a:solidFill>
                    </a:lnT>
                    <a:lnB w="12240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en-US" sz="1050" b="0" strike="noStrike" spc="-1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No</a:t>
                      </a:r>
                      <a:endParaRPr lang="en-US" sz="105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CCCCCC"/>
                      </a:solidFill>
                    </a:lnL>
                    <a:lnR w="12240">
                      <a:solidFill>
                        <a:srgbClr val="CCCCCC"/>
                      </a:solidFill>
                    </a:lnR>
                    <a:lnT w="12240">
                      <a:solidFill>
                        <a:srgbClr val="CCCCCC"/>
                      </a:solidFill>
                    </a:lnT>
                    <a:lnB w="12240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en-US" sz="1050" b="0" strike="noStrike" spc="-1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No</a:t>
                      </a:r>
                      <a:endParaRPr lang="en-US" sz="105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CCCCCC"/>
                      </a:solidFill>
                    </a:lnL>
                    <a:lnR w="12240">
                      <a:solidFill>
                        <a:srgbClr val="CCCCCC"/>
                      </a:solidFill>
                    </a:lnR>
                    <a:lnT w="12240">
                      <a:solidFill>
                        <a:srgbClr val="CCCCCC"/>
                      </a:solidFill>
                    </a:lnT>
                    <a:lnB w="12240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en-US" sz="1050" b="1" strike="noStrike" spc="-1" dirty="0">
                          <a:solidFill>
                            <a:srgbClr val="375623"/>
                          </a:solidFill>
                          <a:latin typeface="Calibri"/>
                          <a:ea typeface="Calibri"/>
                        </a:rPr>
                        <a:t>Yes (Gemini) ✓</a:t>
                      </a:r>
                      <a:endParaRPr lang="en-US" sz="1050" b="0" strike="noStrike" spc="-1" dirty="0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CCCCCC"/>
                      </a:solidFill>
                    </a:lnL>
                    <a:lnR w="12240">
                      <a:solidFill>
                        <a:srgbClr val="CCCCCC"/>
                      </a:solidFill>
                    </a:lnR>
                    <a:lnT w="12240">
                      <a:solidFill>
                        <a:srgbClr val="CCCCCC"/>
                      </a:solidFill>
                    </a:lnT>
                    <a:lnB w="12240">
                      <a:solidFill>
                        <a:srgbClr val="CCCCC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9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en-US" sz="1050" b="0" strike="noStrike" spc="-1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Overfitting Risk</a:t>
                      </a:r>
                      <a:endParaRPr lang="en-US" sz="105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CCCCCC"/>
                      </a:solidFill>
                    </a:lnL>
                    <a:lnR w="12240">
                      <a:solidFill>
                        <a:srgbClr val="CCCCCC"/>
                      </a:solidFill>
                    </a:lnR>
                    <a:lnT w="12240">
                      <a:solidFill>
                        <a:srgbClr val="CCCCCC"/>
                      </a:solidFill>
                    </a:lnT>
                    <a:lnB w="12240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en-US" sz="1050" b="0" strike="noStrike" spc="-1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Moderate</a:t>
                      </a:r>
                      <a:endParaRPr lang="en-US" sz="105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CCCCCC"/>
                      </a:solidFill>
                    </a:lnL>
                    <a:lnR w="12240">
                      <a:solidFill>
                        <a:srgbClr val="CCCCCC"/>
                      </a:solidFill>
                    </a:lnR>
                    <a:lnT w="12240">
                      <a:solidFill>
                        <a:srgbClr val="CCCCCC"/>
                      </a:solidFill>
                    </a:lnT>
                    <a:lnB w="12240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en-US" sz="1050" b="0" strike="noStrike" spc="-1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High</a:t>
                      </a:r>
                      <a:endParaRPr lang="en-US" sz="105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CCCCCC"/>
                      </a:solidFill>
                    </a:lnL>
                    <a:lnR w="12240">
                      <a:solidFill>
                        <a:srgbClr val="CCCCCC"/>
                      </a:solidFill>
                    </a:lnR>
                    <a:lnT w="12240">
                      <a:solidFill>
                        <a:srgbClr val="CCCCCC"/>
                      </a:solidFill>
                    </a:lnT>
                    <a:lnB w="12240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en-US" sz="1050" b="1" strike="noStrike" spc="-1" dirty="0">
                          <a:solidFill>
                            <a:srgbClr val="375623"/>
                          </a:solidFill>
                          <a:latin typeface="Calibri"/>
                          <a:ea typeface="Calibri"/>
                        </a:rPr>
                        <a:t>Low ✓</a:t>
                      </a:r>
                      <a:endParaRPr lang="en-US" sz="1050" b="0" strike="noStrike" spc="-1" dirty="0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CCCCCC"/>
                      </a:solidFill>
                    </a:lnL>
                    <a:lnR w="12240">
                      <a:solidFill>
                        <a:srgbClr val="CCCCCC"/>
                      </a:solidFill>
                    </a:lnR>
                    <a:lnT w="12240">
                      <a:solidFill>
                        <a:srgbClr val="CCCCCC"/>
                      </a:solidFill>
                    </a:lnT>
                    <a:lnB w="12240">
                      <a:solidFill>
                        <a:srgbClr val="CCCCC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93" name="Shape 5"/>
          <p:cNvSpPr/>
          <p:nvPr/>
        </p:nvSpPr>
        <p:spPr>
          <a:xfrm>
            <a:off x="0" y="4919400"/>
            <a:ext cx="9143640" cy="223560"/>
          </a:xfrm>
          <a:prstGeom prst="rect">
            <a:avLst/>
          </a:prstGeom>
          <a:solidFill>
            <a:srgbClr val="D9D9D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94" name="Text 6"/>
          <p:cNvSpPr/>
          <p:nvPr/>
        </p:nvSpPr>
        <p:spPr>
          <a:xfrm>
            <a:off x="0" y="4919400"/>
            <a:ext cx="9143640" cy="223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00" b="0" strike="noStrike" spc="-1">
                <a:solidFill>
                  <a:srgbClr val="808080"/>
                </a:solidFill>
                <a:latin typeface="Calibri"/>
                <a:ea typeface="Calibri"/>
              </a:rPr>
              <a:t>Department Of CSE  |  KGiSL Institute of Technology, Coimbatore</a:t>
            </a:r>
            <a:endParaRPr lang="en-US" sz="9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Shape 0"/>
          <p:cNvSpPr/>
          <p:nvPr/>
        </p:nvSpPr>
        <p:spPr>
          <a:xfrm>
            <a:off x="0" y="0"/>
            <a:ext cx="9143640" cy="502560"/>
          </a:xfrm>
          <a:prstGeom prst="rect">
            <a:avLst/>
          </a:prstGeom>
          <a:solidFill>
            <a:schemeClr val="bg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00" name="Text 1"/>
          <p:cNvSpPr/>
          <p:nvPr/>
        </p:nvSpPr>
        <p:spPr>
          <a:xfrm>
            <a:off x="228600" y="36720"/>
            <a:ext cx="7772040" cy="429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1" strike="noStrike" spc="-1" dirty="0">
                <a:latin typeface="Calibri"/>
                <a:ea typeface="Calibri"/>
              </a:rPr>
              <a:t>DATASETS USED</a:t>
            </a:r>
            <a:endParaRPr lang="en-US" sz="2000" b="0" strike="noStrike" spc="-1" dirty="0">
              <a:latin typeface="Arial"/>
            </a:endParaRPr>
          </a:p>
        </p:txBody>
      </p:sp>
      <p:sp>
        <p:nvSpPr>
          <p:cNvPr id="301" name="Text 2"/>
          <p:cNvSpPr/>
          <p:nvPr/>
        </p:nvSpPr>
        <p:spPr>
          <a:xfrm>
            <a:off x="8503920" y="36720"/>
            <a:ext cx="594000" cy="429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1" strike="noStrike" spc="-1">
                <a:solidFill>
                  <a:srgbClr val="FFFFFF"/>
                </a:solidFill>
                <a:latin typeface="Calibri"/>
              </a:rPr>
              <a:t>14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302" name="Text 3"/>
          <p:cNvSpPr/>
          <p:nvPr/>
        </p:nvSpPr>
        <p:spPr>
          <a:xfrm>
            <a:off x="228600" y="594360"/>
            <a:ext cx="868644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600" b="1" strike="noStrike" spc="-1">
                <a:solidFill>
                  <a:srgbClr val="1F3864"/>
                </a:solidFill>
                <a:latin typeface="Calibri"/>
                <a:ea typeface="Calibri"/>
              </a:rPr>
              <a:t>CBIS-DDSM and MIAS Mammography Datasets</a:t>
            </a:r>
            <a:endParaRPr lang="en-US" sz="1600" b="0" strike="noStrike" spc="-1">
              <a:latin typeface="Arial"/>
            </a:endParaRPr>
          </a:p>
        </p:txBody>
      </p:sp>
      <p:sp>
        <p:nvSpPr>
          <p:cNvPr id="303" name="Shape 4"/>
          <p:cNvSpPr/>
          <p:nvPr/>
        </p:nvSpPr>
        <p:spPr>
          <a:xfrm>
            <a:off x="228600" y="941760"/>
            <a:ext cx="8686440" cy="27000"/>
          </a:xfrm>
          <a:prstGeom prst="rect">
            <a:avLst/>
          </a:prstGeom>
          <a:solidFill>
            <a:srgbClr val="2E74B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04" name="Shape 5"/>
          <p:cNvSpPr/>
          <p:nvPr/>
        </p:nvSpPr>
        <p:spPr>
          <a:xfrm>
            <a:off x="228600" y="1024200"/>
            <a:ext cx="4114440" cy="402120"/>
          </a:xfrm>
          <a:prstGeom prst="rect">
            <a:avLst/>
          </a:prstGeom>
          <a:solidFill>
            <a:schemeClr val="bg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05" name="Text 6"/>
          <p:cNvSpPr/>
          <p:nvPr/>
        </p:nvSpPr>
        <p:spPr>
          <a:xfrm>
            <a:off x="228600" y="1024200"/>
            <a:ext cx="4114440" cy="40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300" b="1" strike="noStrike" spc="-1" dirty="0">
                <a:latin typeface="Calibri"/>
              </a:rPr>
              <a:t>CBIS-DDSM</a:t>
            </a:r>
            <a:endParaRPr lang="en-US" sz="1300" b="0" strike="noStrike" spc="-1" dirty="0">
              <a:latin typeface="Arial"/>
            </a:endParaRPr>
          </a:p>
        </p:txBody>
      </p:sp>
      <p:sp>
        <p:nvSpPr>
          <p:cNvPr id="306" name="Text 7"/>
          <p:cNvSpPr/>
          <p:nvPr/>
        </p:nvSpPr>
        <p:spPr>
          <a:xfrm>
            <a:off x="228600" y="1481400"/>
            <a:ext cx="4114440" cy="2285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200000"/>
              </a:lnSpc>
              <a:spcAft>
                <a:spcPts val="400"/>
              </a:spcAft>
              <a:buNone/>
              <a:tabLst>
                <a:tab pos="0" algn="l"/>
              </a:tabLst>
            </a:pPr>
            <a:r>
              <a:rPr lang="en-US" sz="1050" b="1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➢  Curated Breast Imaging Subset of the Digital Database for Screening Mammography.</a:t>
            </a:r>
            <a:endParaRPr lang="en-US" sz="1050" b="1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  <a:spcAft>
                <a:spcPts val="400"/>
              </a:spcAft>
              <a:buNone/>
              <a:tabLst>
                <a:tab pos="0" algn="l"/>
              </a:tabLst>
            </a:pPr>
            <a:r>
              <a:rPr lang="en-US" sz="1050" b="1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➢  Standard benchmark for mammographic image analysis research.</a:t>
            </a:r>
            <a:endParaRPr lang="en-US" sz="1050" b="1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  <a:spcAft>
                <a:spcPts val="400"/>
              </a:spcAft>
              <a:buNone/>
              <a:tabLst>
                <a:tab pos="0" algn="l"/>
              </a:tabLst>
            </a:pPr>
            <a:r>
              <a:rPr lang="en-US" sz="1050" b="1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➢  Contains 14,000+ full-field digital mammograms.</a:t>
            </a:r>
            <a:endParaRPr lang="en-US" sz="1050" b="1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  <a:spcAft>
                <a:spcPts val="400"/>
              </a:spcAft>
              <a:buNone/>
              <a:tabLst>
                <a:tab pos="0" algn="l"/>
              </a:tabLst>
            </a:pPr>
            <a:r>
              <a:rPr lang="en-US" sz="1050" b="1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➢  Expert radiologist annotations for masses and calcifications.</a:t>
            </a:r>
            <a:endParaRPr lang="en-US" sz="1050" b="1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  <a:spcAft>
                <a:spcPts val="400"/>
              </a:spcAft>
              <a:buNone/>
              <a:tabLst>
                <a:tab pos="0" algn="l"/>
              </a:tabLst>
            </a:pPr>
            <a:r>
              <a:rPr lang="en-US" sz="1050" b="1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➢  Provides bounding box annotations for abnormal regions.</a:t>
            </a:r>
            <a:endParaRPr lang="en-US" sz="1050" b="1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7" name="Shape 8"/>
          <p:cNvSpPr/>
          <p:nvPr/>
        </p:nvSpPr>
        <p:spPr>
          <a:xfrm>
            <a:off x="4800600" y="1024200"/>
            <a:ext cx="4114440" cy="402120"/>
          </a:xfrm>
          <a:prstGeom prst="rect">
            <a:avLst/>
          </a:prstGeom>
          <a:solidFill>
            <a:schemeClr val="bg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08" name="Text 9"/>
          <p:cNvSpPr/>
          <p:nvPr/>
        </p:nvSpPr>
        <p:spPr>
          <a:xfrm>
            <a:off x="4800600" y="1024200"/>
            <a:ext cx="4114440" cy="40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300" b="1" strike="noStrike" spc="-1" dirty="0">
                <a:latin typeface="Calibri"/>
              </a:rPr>
              <a:t>MIAS Database</a:t>
            </a:r>
            <a:endParaRPr lang="en-US" sz="1300" b="0" strike="noStrike" spc="-1" dirty="0">
              <a:latin typeface="Arial"/>
            </a:endParaRPr>
          </a:p>
        </p:txBody>
      </p:sp>
      <p:sp>
        <p:nvSpPr>
          <p:cNvPr id="309" name="Text 10"/>
          <p:cNvSpPr/>
          <p:nvPr/>
        </p:nvSpPr>
        <p:spPr>
          <a:xfrm>
            <a:off x="4800600" y="1481400"/>
            <a:ext cx="4114440" cy="2285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200000"/>
              </a:lnSpc>
              <a:spcAft>
                <a:spcPts val="400"/>
              </a:spcAft>
              <a:buNone/>
              <a:tabLst>
                <a:tab pos="0" algn="l"/>
              </a:tabLst>
            </a:pPr>
            <a:r>
              <a:rPr lang="en-US" sz="1050" b="1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➢  Mammographic Image Analysis Society public database.</a:t>
            </a:r>
            <a:endParaRPr lang="en-US" sz="1050" b="1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  <a:spcAft>
                <a:spcPts val="400"/>
              </a:spcAft>
              <a:buNone/>
              <a:tabLst>
                <a:tab pos="0" algn="l"/>
              </a:tabLst>
            </a:pPr>
            <a:r>
              <a:rPr lang="en-US" sz="1050" b="1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➢  Contains 322 digitized mammogram images.</a:t>
            </a:r>
            <a:endParaRPr lang="en-US" sz="1050" b="1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  <a:spcAft>
                <a:spcPts val="400"/>
              </a:spcAft>
              <a:buNone/>
              <a:tabLst>
                <a:tab pos="0" algn="l"/>
              </a:tabLst>
            </a:pPr>
            <a:r>
              <a:rPr lang="en-US" sz="1050" b="1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➢  Background tissue type labels (fatty / dense / mixed).</a:t>
            </a:r>
            <a:endParaRPr lang="en-US" sz="1050" b="1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  <a:spcAft>
                <a:spcPts val="400"/>
              </a:spcAft>
              <a:buNone/>
              <a:tabLst>
                <a:tab pos="0" algn="l"/>
              </a:tabLst>
            </a:pPr>
            <a:r>
              <a:rPr lang="en-US" sz="1050" b="1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➢  Abnormality location (</a:t>
            </a:r>
            <a:r>
              <a:rPr lang="en-US" sz="1050" b="1" strike="noStrike" spc="-1" dirty="0" err="1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x,y</a:t>
            </a:r>
            <a:r>
              <a:rPr lang="en-US" sz="1050" b="1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coordinates) and radius data.</a:t>
            </a:r>
            <a:endParaRPr lang="en-US" sz="1050" b="1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  <a:spcAft>
                <a:spcPts val="400"/>
              </a:spcAft>
              <a:buNone/>
              <a:tabLst>
                <a:tab pos="0" algn="l"/>
              </a:tabLst>
            </a:pPr>
            <a:r>
              <a:rPr lang="en-US" sz="1050" b="1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➢  Widely used as a benchmark for CAD system validation.</a:t>
            </a:r>
            <a:endParaRPr lang="en-US" sz="1050" b="1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0" name="Shape 11"/>
          <p:cNvSpPr/>
          <p:nvPr/>
        </p:nvSpPr>
        <p:spPr>
          <a:xfrm>
            <a:off x="228600" y="3931920"/>
            <a:ext cx="8686440" cy="62136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11" name="Text 12"/>
          <p:cNvSpPr/>
          <p:nvPr/>
        </p:nvSpPr>
        <p:spPr>
          <a:xfrm>
            <a:off x="320040" y="3977640"/>
            <a:ext cx="8503560" cy="529920"/>
          </a:xfrm>
          <a:prstGeom prst="rect">
            <a:avLst/>
          </a:prstGeom>
          <a:solidFill>
            <a:schemeClr val="bg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50" b="0" strike="noStrike" spc="-1" dirty="0">
                <a:latin typeface="Calibri"/>
                <a:ea typeface="Calibri"/>
              </a:rPr>
              <a:t>Both datasets are combined and images are preprocessed (resize to 224×224, normalize, augment) before training the dual-stream transformer network.</a:t>
            </a:r>
            <a:endParaRPr lang="en-US" sz="1050" b="0" strike="noStrike" spc="-1" dirty="0">
              <a:latin typeface="Arial"/>
            </a:endParaRPr>
          </a:p>
        </p:txBody>
      </p:sp>
      <p:sp>
        <p:nvSpPr>
          <p:cNvPr id="312" name="Shape 13"/>
          <p:cNvSpPr/>
          <p:nvPr/>
        </p:nvSpPr>
        <p:spPr>
          <a:xfrm>
            <a:off x="0" y="4919400"/>
            <a:ext cx="9143640" cy="223560"/>
          </a:xfrm>
          <a:prstGeom prst="rect">
            <a:avLst/>
          </a:prstGeom>
          <a:solidFill>
            <a:srgbClr val="D9D9D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13" name="Text 14"/>
          <p:cNvSpPr/>
          <p:nvPr/>
        </p:nvSpPr>
        <p:spPr>
          <a:xfrm>
            <a:off x="0" y="4919400"/>
            <a:ext cx="9143640" cy="223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00" b="0" strike="noStrike" spc="-1">
                <a:solidFill>
                  <a:srgbClr val="808080"/>
                </a:solidFill>
                <a:latin typeface="Calibri"/>
                <a:ea typeface="Calibri"/>
              </a:rPr>
              <a:t>Department Of CSE  |  KGiSL Institute of Technology, Coimbatore</a:t>
            </a:r>
            <a:endParaRPr lang="en-US" sz="9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Shape 0"/>
          <p:cNvSpPr/>
          <p:nvPr/>
        </p:nvSpPr>
        <p:spPr>
          <a:xfrm>
            <a:off x="0" y="0"/>
            <a:ext cx="9143640" cy="502560"/>
          </a:xfrm>
          <a:prstGeom prst="rect">
            <a:avLst/>
          </a:prstGeom>
          <a:solidFill>
            <a:schemeClr val="bg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32" name="Text 1"/>
          <p:cNvSpPr/>
          <p:nvPr/>
        </p:nvSpPr>
        <p:spPr>
          <a:xfrm>
            <a:off x="228600" y="36720"/>
            <a:ext cx="7772040" cy="429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1" strike="noStrike" spc="-1" dirty="0">
                <a:latin typeface="Calibri"/>
                <a:ea typeface="Calibri"/>
              </a:rPr>
              <a:t>INPUT PRE-PROCESSING MODULE</a:t>
            </a:r>
            <a:endParaRPr lang="en-US" sz="2000" b="0" strike="noStrike" spc="-1" dirty="0">
              <a:latin typeface="Arial"/>
            </a:endParaRPr>
          </a:p>
        </p:txBody>
      </p:sp>
      <p:sp>
        <p:nvSpPr>
          <p:cNvPr id="233" name="Text 2"/>
          <p:cNvSpPr/>
          <p:nvPr/>
        </p:nvSpPr>
        <p:spPr>
          <a:xfrm>
            <a:off x="8503920" y="36720"/>
            <a:ext cx="594000" cy="429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1" strike="noStrike" spc="-1">
                <a:solidFill>
                  <a:srgbClr val="FFFFFF"/>
                </a:solidFill>
                <a:latin typeface="Calibri"/>
              </a:rPr>
              <a:t>11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234" name="Text 3"/>
          <p:cNvSpPr/>
          <p:nvPr/>
        </p:nvSpPr>
        <p:spPr>
          <a:xfrm>
            <a:off x="228600" y="594360"/>
            <a:ext cx="868644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600" b="1" strike="noStrike" spc="-1">
                <a:solidFill>
                  <a:srgbClr val="1F3864"/>
                </a:solidFill>
                <a:latin typeface="Calibri"/>
                <a:ea typeface="Calibri"/>
              </a:rPr>
              <a:t>Standardizing Mammogram Images for Transformer Input</a:t>
            </a:r>
            <a:endParaRPr lang="en-US" sz="1600" b="0" strike="noStrike" spc="-1">
              <a:latin typeface="Arial"/>
            </a:endParaRPr>
          </a:p>
        </p:txBody>
      </p:sp>
      <p:sp>
        <p:nvSpPr>
          <p:cNvPr id="235" name="Shape 4"/>
          <p:cNvSpPr/>
          <p:nvPr/>
        </p:nvSpPr>
        <p:spPr>
          <a:xfrm>
            <a:off x="228600" y="941760"/>
            <a:ext cx="8686440" cy="27000"/>
          </a:xfrm>
          <a:prstGeom prst="rect">
            <a:avLst/>
          </a:prstGeom>
          <a:solidFill>
            <a:srgbClr val="2E74B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36" name="Text 5"/>
          <p:cNvSpPr/>
          <p:nvPr/>
        </p:nvSpPr>
        <p:spPr>
          <a:xfrm>
            <a:off x="274320" y="1024200"/>
            <a:ext cx="4571640" cy="374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r>
              <a:rPr lang="en-US" sz="11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➢  Input mammogram images are first </a:t>
            </a:r>
            <a:r>
              <a:rPr lang="en-US" sz="1100" b="1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resized to 224 × 224 pixels</a:t>
            </a:r>
            <a:r>
              <a:rPr lang="en-US" sz="11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— standardizing input resolution ensures compatibility with pretrained transformer models.</a:t>
            </a:r>
            <a:endParaRPr lang="en-US" sz="1100" b="0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  <a:tabLst>
                <a:tab pos="0" algn="l"/>
              </a:tabLst>
            </a:pPr>
            <a:endParaRPr lang="en-US" sz="1100" b="0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  <a:tabLst>
                <a:tab pos="0" algn="l"/>
              </a:tabLst>
            </a:pPr>
            <a:r>
              <a:rPr lang="en-US" sz="11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➢  </a:t>
            </a:r>
            <a:r>
              <a:rPr lang="en-US" sz="1100" b="1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Pixel intensity values are normalized</a:t>
            </a:r>
            <a:r>
              <a:rPr lang="en-US" sz="11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so that the distribution remains consistent across the entire dataset, stabilizing training convergence.</a:t>
            </a:r>
            <a:endParaRPr lang="en-US" sz="1100" b="0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  <a:tabLst>
                <a:tab pos="0" algn="l"/>
              </a:tabLst>
            </a:pPr>
            <a:endParaRPr lang="en-US" sz="1100" b="0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  <a:tabLst>
                <a:tab pos="0" algn="l"/>
              </a:tabLst>
            </a:pPr>
            <a:r>
              <a:rPr lang="en-US" sz="11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➢  </a:t>
            </a:r>
            <a:r>
              <a:rPr lang="en-US" sz="1100" b="1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Data augmentation techniques</a:t>
            </a:r>
            <a:r>
              <a:rPr lang="en-US" sz="11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applied during training to increase dataset diversity and reduce overfitting.</a:t>
            </a:r>
            <a:endParaRPr lang="en-US" sz="1100" b="0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150"/>
              </a:spcBef>
              <a:buNone/>
              <a:tabLst>
                <a:tab pos="0" algn="l"/>
              </a:tabLst>
            </a:pPr>
            <a:r>
              <a:rPr lang="en-US" sz="11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➢  Horizontal flipping — simulates different patient orientations in mammography.</a:t>
            </a:r>
          </a:p>
          <a:p>
            <a:pPr>
              <a:lnSpc>
                <a:spcPct val="100000"/>
              </a:lnSpc>
              <a:spcBef>
                <a:spcPts val="150"/>
              </a:spcBef>
              <a:buNone/>
              <a:tabLst>
                <a:tab pos="0" algn="l"/>
              </a:tabLst>
            </a:pPr>
            <a:endParaRPr lang="en-US" sz="1100" b="0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150"/>
              </a:spcBef>
              <a:buNone/>
              <a:tabLst>
                <a:tab pos="0" algn="l"/>
              </a:tabLst>
            </a:pPr>
            <a:r>
              <a:rPr lang="en-US" sz="11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➢  Geometric rotation — small rotations simulate natural variation in image capture angles.</a:t>
            </a:r>
            <a:endParaRPr lang="en-US" sz="1100" b="0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150"/>
              </a:spcBef>
              <a:buNone/>
              <a:tabLst>
                <a:tab pos="0" algn="l"/>
              </a:tabLst>
            </a:pPr>
            <a:endParaRPr lang="en-US" sz="1100" spc="-1" dirty="0">
              <a:solidFill>
                <a:srgbClr val="000000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150"/>
              </a:spcBef>
              <a:buNone/>
              <a:tabLst>
                <a:tab pos="0" algn="l"/>
              </a:tabLst>
            </a:pPr>
            <a:r>
              <a:rPr lang="en-US" sz="11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➢  Brightness adjustments (</a:t>
            </a:r>
            <a:r>
              <a:rPr lang="en-US" sz="1100" b="0" strike="noStrike" spc="-1" dirty="0" err="1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ColorJitter</a:t>
            </a:r>
            <a:r>
              <a:rPr lang="en-US" sz="11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) — simulates different scanner calibration settings.</a:t>
            </a:r>
            <a:endParaRPr lang="en-US" sz="1100" b="0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150"/>
              </a:spcBef>
              <a:buNone/>
              <a:tabLst>
                <a:tab pos="0" algn="l"/>
              </a:tabLst>
            </a:pPr>
            <a:endParaRPr lang="en-US" sz="11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150"/>
              </a:spcBef>
              <a:buNone/>
              <a:tabLst>
                <a:tab pos="0" algn="l"/>
              </a:tabLst>
            </a:pPr>
            <a:r>
              <a:rPr lang="en-US" sz="11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➢  </a:t>
            </a:r>
            <a:r>
              <a:rPr lang="en-US" sz="1100" b="1" strike="noStrike" spc="-1" dirty="0" err="1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RandomErasing</a:t>
            </a:r>
            <a:r>
              <a:rPr lang="en-US" sz="11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— randomly masks image patches, forcing the model to focus on relevant medical features and reducing shortcut learning.</a:t>
            </a:r>
            <a:endParaRPr lang="en-US" sz="1100" b="0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7" name="Shape 6"/>
          <p:cNvSpPr/>
          <p:nvPr/>
        </p:nvSpPr>
        <p:spPr>
          <a:xfrm>
            <a:off x="5029200" y="1024200"/>
            <a:ext cx="3885840" cy="475200"/>
          </a:xfrm>
          <a:prstGeom prst="rect">
            <a:avLst/>
          </a:prstGeom>
          <a:solidFill>
            <a:schemeClr val="bg1"/>
          </a:solidFill>
          <a:ln w="0"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38" name="Text 7"/>
          <p:cNvSpPr/>
          <p:nvPr/>
        </p:nvSpPr>
        <p:spPr>
          <a:xfrm>
            <a:off x="5074920" y="1024200"/>
            <a:ext cx="379440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0" b="1" strike="noStrike" spc="-1">
                <a:latin typeface="Calibri"/>
                <a:ea typeface="Calibri"/>
              </a:rPr>
              <a:t>1.  Resize to 224×224</a:t>
            </a:r>
            <a:endParaRPr lang="en-US" sz="1100" b="0" strike="noStrike" spc="-1">
              <a:latin typeface="Arial"/>
            </a:endParaRPr>
          </a:p>
        </p:txBody>
      </p:sp>
      <p:sp>
        <p:nvSpPr>
          <p:cNvPr id="239" name="Shape 8"/>
          <p:cNvSpPr/>
          <p:nvPr/>
        </p:nvSpPr>
        <p:spPr>
          <a:xfrm>
            <a:off x="5029200" y="1591200"/>
            <a:ext cx="3885840" cy="475200"/>
          </a:xfrm>
          <a:prstGeom prst="rect">
            <a:avLst/>
          </a:prstGeom>
          <a:solidFill>
            <a:schemeClr val="bg1"/>
          </a:solidFill>
          <a:ln w="0"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40" name="Text 9"/>
          <p:cNvSpPr/>
          <p:nvPr/>
        </p:nvSpPr>
        <p:spPr>
          <a:xfrm>
            <a:off x="5074920" y="1591200"/>
            <a:ext cx="379440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0" b="1" strike="noStrike" spc="-1">
                <a:latin typeface="Calibri"/>
                <a:ea typeface="Calibri"/>
              </a:rPr>
              <a:t>2.  Normalize Intensity</a:t>
            </a:r>
            <a:endParaRPr lang="en-US" sz="1100" b="0" strike="noStrike" spc="-1">
              <a:latin typeface="Arial"/>
            </a:endParaRPr>
          </a:p>
        </p:txBody>
      </p:sp>
      <p:sp>
        <p:nvSpPr>
          <p:cNvPr id="241" name="Shape 10"/>
          <p:cNvSpPr/>
          <p:nvPr/>
        </p:nvSpPr>
        <p:spPr>
          <a:xfrm>
            <a:off x="5029200" y="2157840"/>
            <a:ext cx="3885840" cy="475200"/>
          </a:xfrm>
          <a:prstGeom prst="rect">
            <a:avLst/>
          </a:prstGeom>
          <a:solidFill>
            <a:schemeClr val="bg1"/>
          </a:solidFill>
          <a:ln w="0"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42" name="Text 11"/>
          <p:cNvSpPr/>
          <p:nvPr/>
        </p:nvSpPr>
        <p:spPr>
          <a:xfrm>
            <a:off x="5074920" y="2157840"/>
            <a:ext cx="379440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0" b="1" strike="noStrike" spc="-1">
                <a:latin typeface="Calibri"/>
                <a:ea typeface="Calibri"/>
              </a:rPr>
              <a:t>3.  Horizontal Flip</a:t>
            </a:r>
            <a:endParaRPr lang="en-US" sz="1100" b="0" strike="noStrike" spc="-1">
              <a:latin typeface="Arial"/>
            </a:endParaRPr>
          </a:p>
        </p:txBody>
      </p:sp>
      <p:sp>
        <p:nvSpPr>
          <p:cNvPr id="243" name="Shape 12"/>
          <p:cNvSpPr/>
          <p:nvPr/>
        </p:nvSpPr>
        <p:spPr>
          <a:xfrm>
            <a:off x="5029200" y="2724840"/>
            <a:ext cx="3885840" cy="475200"/>
          </a:xfrm>
          <a:prstGeom prst="rect">
            <a:avLst/>
          </a:prstGeom>
          <a:solidFill>
            <a:schemeClr val="bg1"/>
          </a:solidFill>
          <a:ln w="0"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44" name="Text 13"/>
          <p:cNvSpPr/>
          <p:nvPr/>
        </p:nvSpPr>
        <p:spPr>
          <a:xfrm>
            <a:off x="5074920" y="2724840"/>
            <a:ext cx="379440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0" b="1" strike="noStrike" spc="-1">
                <a:latin typeface="Calibri"/>
                <a:ea typeface="Calibri"/>
              </a:rPr>
              <a:t>4.  Geometric Rotation</a:t>
            </a:r>
            <a:endParaRPr lang="en-US" sz="1100" b="0" strike="noStrike" spc="-1">
              <a:latin typeface="Arial"/>
            </a:endParaRPr>
          </a:p>
        </p:txBody>
      </p:sp>
      <p:sp>
        <p:nvSpPr>
          <p:cNvPr id="245" name="Shape 14"/>
          <p:cNvSpPr/>
          <p:nvPr/>
        </p:nvSpPr>
        <p:spPr>
          <a:xfrm>
            <a:off x="5029200" y="3291840"/>
            <a:ext cx="3885840" cy="475200"/>
          </a:xfrm>
          <a:prstGeom prst="rect">
            <a:avLst/>
          </a:prstGeom>
          <a:solidFill>
            <a:schemeClr val="bg1"/>
          </a:solidFill>
          <a:ln w="0"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46" name="Text 15"/>
          <p:cNvSpPr/>
          <p:nvPr/>
        </p:nvSpPr>
        <p:spPr>
          <a:xfrm>
            <a:off x="5074920" y="3291840"/>
            <a:ext cx="379440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0" b="1" strike="noStrike" spc="-1">
                <a:latin typeface="Calibri"/>
                <a:ea typeface="Calibri"/>
              </a:rPr>
              <a:t>5.  Brightness Jitter</a:t>
            </a:r>
            <a:endParaRPr lang="en-US" sz="1100" b="0" strike="noStrike" spc="-1">
              <a:latin typeface="Arial"/>
            </a:endParaRPr>
          </a:p>
        </p:txBody>
      </p:sp>
      <p:sp>
        <p:nvSpPr>
          <p:cNvPr id="247" name="Shape 16"/>
          <p:cNvSpPr/>
          <p:nvPr/>
        </p:nvSpPr>
        <p:spPr>
          <a:xfrm>
            <a:off x="5029200" y="3858840"/>
            <a:ext cx="3885840" cy="475200"/>
          </a:xfrm>
          <a:prstGeom prst="rect">
            <a:avLst/>
          </a:prstGeom>
          <a:solidFill>
            <a:schemeClr val="bg1"/>
          </a:solidFill>
          <a:ln w="0"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48" name="Text 17"/>
          <p:cNvSpPr/>
          <p:nvPr/>
        </p:nvSpPr>
        <p:spPr>
          <a:xfrm>
            <a:off x="5074920" y="3858840"/>
            <a:ext cx="379440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0" b="1" strike="noStrike" spc="-1">
                <a:latin typeface="Calibri"/>
                <a:ea typeface="Calibri"/>
              </a:rPr>
              <a:t>6.  Random Erasing</a:t>
            </a:r>
            <a:endParaRPr lang="en-US" sz="1100" b="0" strike="noStrike" spc="-1">
              <a:latin typeface="Arial"/>
            </a:endParaRPr>
          </a:p>
        </p:txBody>
      </p:sp>
      <p:sp>
        <p:nvSpPr>
          <p:cNvPr id="249" name="Shape 18"/>
          <p:cNvSpPr/>
          <p:nvPr/>
        </p:nvSpPr>
        <p:spPr>
          <a:xfrm>
            <a:off x="0" y="4919400"/>
            <a:ext cx="9143640" cy="223560"/>
          </a:xfrm>
          <a:prstGeom prst="rect">
            <a:avLst/>
          </a:prstGeom>
          <a:solidFill>
            <a:srgbClr val="D9D9D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50" name="Text 19"/>
          <p:cNvSpPr/>
          <p:nvPr/>
        </p:nvSpPr>
        <p:spPr>
          <a:xfrm>
            <a:off x="0" y="4919400"/>
            <a:ext cx="9143640" cy="223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00" b="0" strike="noStrike" spc="-1">
                <a:solidFill>
                  <a:srgbClr val="808080"/>
                </a:solidFill>
                <a:latin typeface="Calibri"/>
                <a:ea typeface="Calibri"/>
              </a:rPr>
              <a:t>Department Of CSE  |  KGiSL Institute of Technology, Coimbatore</a:t>
            </a:r>
            <a:endParaRPr lang="en-US" sz="9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F6A9B8B-3543-76FC-0321-645485C256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Text 2">
            <a:extLst>
              <a:ext uri="{FF2B5EF4-FFF2-40B4-BE49-F238E27FC236}">
                <a16:creationId xmlns:a16="http://schemas.microsoft.com/office/drawing/2014/main" id="{B6856ACE-65F9-FBFB-600C-125C29061079}"/>
              </a:ext>
            </a:extLst>
          </p:cNvPr>
          <p:cNvSpPr/>
          <p:nvPr/>
        </p:nvSpPr>
        <p:spPr>
          <a:xfrm>
            <a:off x="8503920" y="36720"/>
            <a:ext cx="594000" cy="429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1" strike="noStrike" spc="-1">
                <a:solidFill>
                  <a:srgbClr val="FFFFFF"/>
                </a:solidFill>
                <a:latin typeface="Calibri"/>
              </a:rPr>
              <a:t>11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238" name="Text 7">
            <a:extLst>
              <a:ext uri="{FF2B5EF4-FFF2-40B4-BE49-F238E27FC236}">
                <a16:creationId xmlns:a16="http://schemas.microsoft.com/office/drawing/2014/main" id="{D82A08D6-3C04-5545-8E67-4669405343D0}"/>
              </a:ext>
            </a:extLst>
          </p:cNvPr>
          <p:cNvSpPr/>
          <p:nvPr/>
        </p:nvSpPr>
        <p:spPr>
          <a:xfrm>
            <a:off x="5074920" y="1024200"/>
            <a:ext cx="379440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0" b="1" strike="noStrike" spc="-1">
                <a:latin typeface="Calibri"/>
                <a:ea typeface="Calibri"/>
              </a:rPr>
              <a:t>1.  Resize to 224×224</a:t>
            </a:r>
            <a:endParaRPr lang="en-US" sz="1100" b="0" strike="noStrike" spc="-1">
              <a:latin typeface="Arial"/>
            </a:endParaRPr>
          </a:p>
        </p:txBody>
      </p:sp>
      <p:sp>
        <p:nvSpPr>
          <p:cNvPr id="240" name="Text 9">
            <a:extLst>
              <a:ext uri="{FF2B5EF4-FFF2-40B4-BE49-F238E27FC236}">
                <a16:creationId xmlns:a16="http://schemas.microsoft.com/office/drawing/2014/main" id="{2D3FE169-DB8F-BF6C-C822-D41A8008931F}"/>
              </a:ext>
            </a:extLst>
          </p:cNvPr>
          <p:cNvSpPr/>
          <p:nvPr/>
        </p:nvSpPr>
        <p:spPr>
          <a:xfrm>
            <a:off x="5074920" y="1591200"/>
            <a:ext cx="379440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0" b="1" strike="noStrike" spc="-1">
                <a:latin typeface="Calibri"/>
                <a:ea typeface="Calibri"/>
              </a:rPr>
              <a:t>2.  Normalize Intensity</a:t>
            </a:r>
            <a:endParaRPr lang="en-US" sz="1100" b="0" strike="noStrike" spc="-1">
              <a:latin typeface="Arial"/>
            </a:endParaRPr>
          </a:p>
        </p:txBody>
      </p:sp>
      <p:sp>
        <p:nvSpPr>
          <p:cNvPr id="244" name="Text 13">
            <a:extLst>
              <a:ext uri="{FF2B5EF4-FFF2-40B4-BE49-F238E27FC236}">
                <a16:creationId xmlns:a16="http://schemas.microsoft.com/office/drawing/2014/main" id="{6A326376-1B29-8452-A103-CED7F90765E3}"/>
              </a:ext>
            </a:extLst>
          </p:cNvPr>
          <p:cNvSpPr/>
          <p:nvPr/>
        </p:nvSpPr>
        <p:spPr>
          <a:xfrm>
            <a:off x="5074920" y="2724840"/>
            <a:ext cx="379440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0" b="1" strike="noStrike" spc="-1">
                <a:latin typeface="Calibri"/>
                <a:ea typeface="Calibri"/>
              </a:rPr>
              <a:t>4.  Geometric Rotation</a:t>
            </a:r>
            <a:endParaRPr lang="en-US" sz="1100" b="0" strike="noStrike" spc="-1">
              <a:latin typeface="Arial"/>
            </a:endParaRPr>
          </a:p>
        </p:txBody>
      </p:sp>
      <p:sp>
        <p:nvSpPr>
          <p:cNvPr id="246" name="Text 15">
            <a:extLst>
              <a:ext uri="{FF2B5EF4-FFF2-40B4-BE49-F238E27FC236}">
                <a16:creationId xmlns:a16="http://schemas.microsoft.com/office/drawing/2014/main" id="{245737B6-2EC9-006C-A476-757A1D07E24C}"/>
              </a:ext>
            </a:extLst>
          </p:cNvPr>
          <p:cNvSpPr/>
          <p:nvPr/>
        </p:nvSpPr>
        <p:spPr>
          <a:xfrm>
            <a:off x="5074920" y="3291840"/>
            <a:ext cx="379440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0" b="1" strike="noStrike" spc="-1">
                <a:latin typeface="Calibri"/>
                <a:ea typeface="Calibri"/>
              </a:rPr>
              <a:t>5.  Brightness Jitter</a:t>
            </a:r>
            <a:endParaRPr lang="en-US" sz="1100" b="0" strike="noStrike" spc="-1">
              <a:latin typeface="Arial"/>
            </a:endParaRPr>
          </a:p>
        </p:txBody>
      </p:sp>
      <p:sp>
        <p:nvSpPr>
          <p:cNvPr id="248" name="Text 17">
            <a:extLst>
              <a:ext uri="{FF2B5EF4-FFF2-40B4-BE49-F238E27FC236}">
                <a16:creationId xmlns:a16="http://schemas.microsoft.com/office/drawing/2014/main" id="{C546B8EC-D0DA-2D76-AF80-FB1EB8897932}"/>
              </a:ext>
            </a:extLst>
          </p:cNvPr>
          <p:cNvSpPr/>
          <p:nvPr/>
        </p:nvSpPr>
        <p:spPr>
          <a:xfrm>
            <a:off x="5074920" y="3858840"/>
            <a:ext cx="379440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0" b="1" strike="noStrike" spc="-1">
                <a:latin typeface="Calibri"/>
                <a:ea typeface="Calibri"/>
              </a:rPr>
              <a:t>6.  Random Erasing</a:t>
            </a:r>
            <a:endParaRPr lang="en-US" sz="1100" b="0" strike="noStrike" spc="-1">
              <a:latin typeface="Arial"/>
            </a:endParaRPr>
          </a:p>
        </p:txBody>
      </p:sp>
      <p:sp>
        <p:nvSpPr>
          <p:cNvPr id="249" name="Shape 18">
            <a:extLst>
              <a:ext uri="{FF2B5EF4-FFF2-40B4-BE49-F238E27FC236}">
                <a16:creationId xmlns:a16="http://schemas.microsoft.com/office/drawing/2014/main" id="{01BD0ED3-810D-5259-0DB4-41D435678028}"/>
              </a:ext>
            </a:extLst>
          </p:cNvPr>
          <p:cNvSpPr/>
          <p:nvPr/>
        </p:nvSpPr>
        <p:spPr>
          <a:xfrm>
            <a:off x="0" y="4919400"/>
            <a:ext cx="9143640" cy="223560"/>
          </a:xfrm>
          <a:prstGeom prst="rect">
            <a:avLst/>
          </a:prstGeom>
          <a:solidFill>
            <a:srgbClr val="D9D9D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50" name="Text 19">
            <a:extLst>
              <a:ext uri="{FF2B5EF4-FFF2-40B4-BE49-F238E27FC236}">
                <a16:creationId xmlns:a16="http://schemas.microsoft.com/office/drawing/2014/main" id="{A143FBA7-254C-F8EC-3A1C-7C5C80A7ABAE}"/>
              </a:ext>
            </a:extLst>
          </p:cNvPr>
          <p:cNvSpPr/>
          <p:nvPr/>
        </p:nvSpPr>
        <p:spPr>
          <a:xfrm>
            <a:off x="0" y="4919400"/>
            <a:ext cx="9143640" cy="223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00" b="0" strike="noStrike" spc="-1">
                <a:solidFill>
                  <a:srgbClr val="808080"/>
                </a:solidFill>
                <a:latin typeface="Calibri"/>
                <a:ea typeface="Calibri"/>
              </a:rPr>
              <a:t>Department Of CSE  |  KGiSL Institute of Technology, Coimbatore</a:t>
            </a:r>
            <a:endParaRPr lang="en-US" sz="900" b="0" strike="noStrike" spc="-1">
              <a:latin typeface="Arial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2BD5299-E2A3-8FFF-1F86-AC7B4F644D3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330" r="2479" b="3408"/>
          <a:stretch>
            <a:fillRect/>
          </a:stretch>
        </p:blipFill>
        <p:spPr>
          <a:xfrm>
            <a:off x="792480" y="160628"/>
            <a:ext cx="7627620" cy="4319932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C6B4464-447A-3F93-1FAB-0B6B9E2B9E1E}"/>
              </a:ext>
            </a:extLst>
          </p:cNvPr>
          <p:cNvSpPr/>
          <p:nvPr/>
        </p:nvSpPr>
        <p:spPr>
          <a:xfrm>
            <a:off x="8130540" y="4119300"/>
            <a:ext cx="289560" cy="344280"/>
          </a:xfrm>
          <a:prstGeom prst="roundRect">
            <a:avLst/>
          </a:prstGeom>
          <a:solidFill>
            <a:srgbClr val="191E2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68875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Shape 0"/>
          <p:cNvSpPr/>
          <p:nvPr/>
        </p:nvSpPr>
        <p:spPr>
          <a:xfrm>
            <a:off x="0" y="0"/>
            <a:ext cx="9143640" cy="502560"/>
          </a:xfrm>
          <a:prstGeom prst="rect">
            <a:avLst/>
          </a:prstGeom>
          <a:solidFill>
            <a:schemeClr val="bg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N" dirty="0"/>
          </a:p>
        </p:txBody>
      </p:sp>
      <p:sp>
        <p:nvSpPr>
          <p:cNvPr id="126" name="Text 1"/>
          <p:cNvSpPr/>
          <p:nvPr/>
        </p:nvSpPr>
        <p:spPr>
          <a:xfrm>
            <a:off x="228600" y="36720"/>
            <a:ext cx="7772040" cy="429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1" strike="noStrike" spc="-1" dirty="0">
                <a:latin typeface="Calibri"/>
                <a:ea typeface="Calibri"/>
              </a:rPr>
              <a:t>GLOBAL CONTEXT FEATURE EXTRACTION MODULE</a:t>
            </a:r>
            <a:endParaRPr lang="en-US" sz="2000" b="0" strike="noStrike" spc="-1" dirty="0">
              <a:latin typeface="Arial"/>
            </a:endParaRPr>
          </a:p>
        </p:txBody>
      </p:sp>
      <p:sp>
        <p:nvSpPr>
          <p:cNvPr id="127" name="Text 2"/>
          <p:cNvSpPr/>
          <p:nvPr/>
        </p:nvSpPr>
        <p:spPr>
          <a:xfrm>
            <a:off x="8503920" y="36720"/>
            <a:ext cx="594000" cy="429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1" strike="noStrike" spc="-1">
                <a:solidFill>
                  <a:srgbClr val="FFFFFF"/>
                </a:solidFill>
                <a:latin typeface="Calibri"/>
              </a:rPr>
              <a:t>7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128" name="Text 3"/>
          <p:cNvSpPr/>
          <p:nvPr/>
        </p:nvSpPr>
        <p:spPr>
          <a:xfrm>
            <a:off x="228600" y="594360"/>
            <a:ext cx="868644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600" b="1" strike="noStrike" spc="-1" dirty="0">
                <a:solidFill>
                  <a:srgbClr val="1F3864"/>
                </a:solidFill>
                <a:latin typeface="Calibri"/>
                <a:ea typeface="Calibri"/>
              </a:rPr>
              <a:t>RAD-DINO — </a:t>
            </a:r>
            <a:r>
              <a:rPr lang="en-US" sz="1600" b="1" strike="noStrike" spc="-1" dirty="0" err="1">
                <a:solidFill>
                  <a:srgbClr val="1F3864"/>
                </a:solidFill>
                <a:latin typeface="Calibri"/>
                <a:ea typeface="Calibri"/>
              </a:rPr>
              <a:t>ViT</a:t>
            </a:r>
            <a:r>
              <a:rPr lang="en-US" sz="1600" b="1" strike="noStrike" spc="-1" dirty="0">
                <a:solidFill>
                  <a:srgbClr val="1F3864"/>
                </a:solidFill>
                <a:latin typeface="Calibri"/>
                <a:ea typeface="Calibri"/>
              </a:rPr>
              <a:t>-Base Pretrained on Radiology Images</a:t>
            </a:r>
            <a:endParaRPr lang="en-US" sz="1600" b="0" strike="noStrike" spc="-1" dirty="0">
              <a:latin typeface="Arial"/>
            </a:endParaRPr>
          </a:p>
        </p:txBody>
      </p:sp>
      <p:sp>
        <p:nvSpPr>
          <p:cNvPr id="129" name="Shape 4"/>
          <p:cNvSpPr/>
          <p:nvPr/>
        </p:nvSpPr>
        <p:spPr>
          <a:xfrm>
            <a:off x="228600" y="941760"/>
            <a:ext cx="8686440" cy="27000"/>
          </a:xfrm>
          <a:prstGeom prst="rect">
            <a:avLst/>
          </a:prstGeom>
          <a:solidFill>
            <a:srgbClr val="2E74B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30" name="Text 5"/>
          <p:cNvSpPr/>
          <p:nvPr/>
        </p:nvSpPr>
        <p:spPr>
          <a:xfrm>
            <a:off x="274320" y="1024200"/>
            <a:ext cx="4571640" cy="374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11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➢  Employs the </a:t>
            </a:r>
            <a:r>
              <a:rPr lang="en-US" sz="1100" b="1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RAD-DINO Vision Transformer model (</a:t>
            </a:r>
            <a:r>
              <a:rPr lang="en-US" sz="1100" b="1" strike="noStrike" spc="-1" dirty="0" err="1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microsoft</a:t>
            </a:r>
            <a:r>
              <a:rPr lang="en-US" sz="1100" b="1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/rad-</a:t>
            </a:r>
            <a:r>
              <a:rPr lang="en-US" sz="1100" b="1" strike="noStrike" spc="-1" dirty="0" err="1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dino</a:t>
            </a:r>
            <a:r>
              <a:rPr lang="en-US" sz="1100" b="1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)</a:t>
            </a:r>
            <a:r>
              <a:rPr lang="en-US" sz="11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, pretrained using the DINO self-supervised framework on large-scale radiological data.</a:t>
            </a:r>
            <a:endParaRPr lang="en-US" sz="1100" b="0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400"/>
              </a:spcAft>
              <a:buNone/>
              <a:tabLst>
                <a:tab pos="0" algn="l"/>
              </a:tabLst>
            </a:pPr>
            <a:r>
              <a:rPr lang="en-US" sz="11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➢  Input mammogram is divided into </a:t>
            </a:r>
            <a:r>
              <a:rPr lang="en-US" sz="1100" b="1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small patches processed through multiple transformer layers</a:t>
            </a:r>
            <a:r>
              <a:rPr lang="en-US" sz="11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using self-attention mechanisms.</a:t>
            </a:r>
            <a:endParaRPr lang="en-US" sz="1100" b="0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400"/>
              </a:spcAft>
              <a:buNone/>
              <a:tabLst>
                <a:tab pos="0" algn="l"/>
              </a:tabLst>
            </a:pPr>
            <a:r>
              <a:rPr lang="en-US" sz="11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➢  Self-attention allows each patch to interact with all other patches, capturing </a:t>
            </a:r>
            <a:r>
              <a:rPr lang="en-US" sz="1100" b="1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long-range spatial dependencies</a:t>
            </a:r>
            <a:r>
              <a:rPr lang="en-US" sz="11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across the entire image.</a:t>
            </a:r>
            <a:endParaRPr lang="en-US" sz="1100" b="0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400"/>
              </a:spcAft>
              <a:buNone/>
              <a:tabLst>
                <a:tab pos="0" algn="l"/>
              </a:tabLst>
            </a:pPr>
            <a:r>
              <a:rPr lang="en-US" sz="11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➢  </a:t>
            </a:r>
            <a:r>
              <a:rPr lang="en-US" sz="1100" b="1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All parameters remain FROZEN during training</a:t>
            </a:r>
            <a:r>
              <a:rPr lang="en-US" sz="11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— prevents overfitting to limited mammography data while preserving radiological feature quality.</a:t>
            </a:r>
            <a:endParaRPr lang="en-US" sz="1100" b="0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400"/>
              </a:spcAft>
              <a:buNone/>
              <a:tabLst>
                <a:tab pos="0" algn="l"/>
              </a:tabLst>
            </a:pPr>
            <a:r>
              <a:rPr lang="en-US" sz="11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➢  Output: a </a:t>
            </a:r>
            <a:r>
              <a:rPr lang="en-US" sz="1100" b="1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768-dimensional feature vector</a:t>
            </a:r>
            <a:r>
              <a:rPr lang="en-US" sz="11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representing the global anatomical context of the breast (breast shape, tissue distribution, density patterns).</a:t>
            </a:r>
            <a:endParaRPr lang="en-US" sz="1100" b="0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400"/>
              </a:spcAft>
              <a:buNone/>
              <a:tabLst>
                <a:tab pos="0" algn="l"/>
              </a:tabLst>
            </a:pPr>
            <a:r>
              <a:rPr lang="en-US" sz="11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➢  This stream mimics the radiologist's initial step of </a:t>
            </a:r>
            <a:r>
              <a:rPr lang="en-US" sz="1100" b="1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examining the overall breast structure</a:t>
            </a:r>
            <a:r>
              <a:rPr lang="en-US" sz="11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before focusing on suspicious areas.</a:t>
            </a:r>
            <a:endParaRPr lang="en-US" sz="1100" b="0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1" name="Shape 6"/>
          <p:cNvSpPr/>
          <p:nvPr/>
        </p:nvSpPr>
        <p:spPr>
          <a:xfrm>
            <a:off x="5029200" y="1280340"/>
            <a:ext cx="3885840" cy="347040"/>
          </a:xfrm>
          <a:prstGeom prst="rect">
            <a:avLst/>
          </a:prstGeom>
          <a:solidFill>
            <a:schemeClr val="bg1"/>
          </a:solidFill>
          <a:ln w="0"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32" name="Text 7"/>
          <p:cNvSpPr/>
          <p:nvPr/>
        </p:nvSpPr>
        <p:spPr>
          <a:xfrm>
            <a:off x="5029200" y="1280340"/>
            <a:ext cx="3885840" cy="34704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0" b="1" strike="noStrike" spc="-1" dirty="0">
                <a:latin typeface="Calibri"/>
              </a:rPr>
              <a:t>RAD-DINO — Model Summary</a:t>
            </a:r>
            <a:endParaRPr lang="en-US" sz="1100" b="0" strike="noStrike" spc="-1" dirty="0">
              <a:latin typeface="Arial"/>
            </a:endParaRPr>
          </a:p>
        </p:txBody>
      </p:sp>
      <p:sp>
        <p:nvSpPr>
          <p:cNvPr id="133" name="Shape 8"/>
          <p:cNvSpPr/>
          <p:nvPr/>
        </p:nvSpPr>
        <p:spPr>
          <a:xfrm>
            <a:off x="5029200" y="1627740"/>
            <a:ext cx="3885840" cy="43848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34" name="Text 9"/>
          <p:cNvSpPr/>
          <p:nvPr/>
        </p:nvSpPr>
        <p:spPr>
          <a:xfrm>
            <a:off x="5074920" y="1646100"/>
            <a:ext cx="1371240" cy="402120"/>
          </a:xfrm>
          <a:prstGeom prst="rect">
            <a:avLst/>
          </a:prstGeom>
          <a:solidFill>
            <a:schemeClr val="bg1"/>
          </a:solidFill>
          <a:ln w="0">
            <a:solidFill>
              <a:schemeClr val="bg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00" b="1" strike="noStrike" spc="-1">
                <a:latin typeface="Calibri"/>
                <a:ea typeface="Calibri"/>
              </a:rPr>
              <a:t>Model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135" name="Text 10"/>
          <p:cNvSpPr/>
          <p:nvPr/>
        </p:nvSpPr>
        <p:spPr>
          <a:xfrm>
            <a:off x="6492240" y="1646100"/>
            <a:ext cx="2377080" cy="402120"/>
          </a:xfrm>
          <a:prstGeom prst="rect">
            <a:avLst/>
          </a:prstGeom>
          <a:solidFill>
            <a:schemeClr val="bg1"/>
          </a:solidFill>
          <a:ln w="0">
            <a:solidFill>
              <a:schemeClr val="bg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00" b="0" strike="noStrike" spc="-1" dirty="0" err="1">
                <a:solidFill>
                  <a:srgbClr val="000000"/>
                </a:solidFill>
                <a:latin typeface="Calibri"/>
                <a:ea typeface="Calibri"/>
              </a:rPr>
              <a:t>microsoft</a:t>
            </a:r>
            <a:r>
              <a:rPr lang="en-US" sz="1000" b="0" strike="noStrike" spc="-1" dirty="0">
                <a:solidFill>
                  <a:srgbClr val="000000"/>
                </a:solidFill>
                <a:latin typeface="Calibri"/>
                <a:ea typeface="Calibri"/>
              </a:rPr>
              <a:t>/rad-</a:t>
            </a:r>
            <a:r>
              <a:rPr lang="en-US" sz="1000" b="0" strike="noStrike" spc="-1" dirty="0" err="1">
                <a:solidFill>
                  <a:srgbClr val="000000"/>
                </a:solidFill>
                <a:latin typeface="Calibri"/>
                <a:ea typeface="Calibri"/>
              </a:rPr>
              <a:t>dino</a:t>
            </a:r>
            <a:endParaRPr lang="en-US" sz="1000" b="0" strike="noStrike" spc="-1" dirty="0">
              <a:latin typeface="Arial"/>
            </a:endParaRPr>
          </a:p>
        </p:txBody>
      </p:sp>
      <p:sp>
        <p:nvSpPr>
          <p:cNvPr id="136" name="Shape 11"/>
          <p:cNvSpPr/>
          <p:nvPr/>
        </p:nvSpPr>
        <p:spPr>
          <a:xfrm>
            <a:off x="5029200" y="2066580"/>
            <a:ext cx="3885840" cy="43848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37" name="Text 12"/>
          <p:cNvSpPr/>
          <p:nvPr/>
        </p:nvSpPr>
        <p:spPr>
          <a:xfrm>
            <a:off x="5074920" y="2084940"/>
            <a:ext cx="1371240" cy="402120"/>
          </a:xfrm>
          <a:prstGeom prst="rect">
            <a:avLst/>
          </a:prstGeom>
          <a:solidFill>
            <a:schemeClr val="bg1"/>
          </a:solidFill>
          <a:ln w="0">
            <a:solidFill>
              <a:schemeClr val="bg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00" b="1" strike="noStrike" spc="-1">
                <a:latin typeface="Calibri"/>
                <a:ea typeface="Calibri"/>
              </a:rPr>
              <a:t>Architecture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138" name="Text 13"/>
          <p:cNvSpPr/>
          <p:nvPr/>
        </p:nvSpPr>
        <p:spPr>
          <a:xfrm>
            <a:off x="6492240" y="2084940"/>
            <a:ext cx="2377080" cy="402120"/>
          </a:xfrm>
          <a:prstGeom prst="rect">
            <a:avLst/>
          </a:prstGeom>
          <a:solidFill>
            <a:schemeClr val="bg1"/>
          </a:solidFill>
          <a:ln w="0">
            <a:solidFill>
              <a:schemeClr val="bg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00" b="0" strike="noStrike" spc="-1" dirty="0" err="1">
                <a:solidFill>
                  <a:srgbClr val="000000"/>
                </a:solidFill>
                <a:latin typeface="Calibri"/>
                <a:ea typeface="Calibri"/>
              </a:rPr>
              <a:t>ViT</a:t>
            </a:r>
            <a:r>
              <a:rPr lang="en-US" sz="1000" b="0" strike="noStrike" spc="-1" dirty="0">
                <a:solidFill>
                  <a:srgbClr val="000000"/>
                </a:solidFill>
                <a:latin typeface="Calibri"/>
                <a:ea typeface="Calibri"/>
              </a:rPr>
              <a:t>-Base (Vision Transformer)</a:t>
            </a:r>
            <a:endParaRPr lang="en-US" sz="1000" b="0" strike="noStrike" spc="-1" dirty="0">
              <a:latin typeface="Arial"/>
            </a:endParaRPr>
          </a:p>
        </p:txBody>
      </p:sp>
      <p:sp>
        <p:nvSpPr>
          <p:cNvPr id="139" name="Shape 14"/>
          <p:cNvSpPr/>
          <p:nvPr/>
        </p:nvSpPr>
        <p:spPr>
          <a:xfrm>
            <a:off x="5029200" y="2505420"/>
            <a:ext cx="3885840" cy="43848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40" name="Text 15"/>
          <p:cNvSpPr/>
          <p:nvPr/>
        </p:nvSpPr>
        <p:spPr>
          <a:xfrm>
            <a:off x="5074920" y="2523780"/>
            <a:ext cx="1371240" cy="402120"/>
          </a:xfrm>
          <a:prstGeom prst="rect">
            <a:avLst/>
          </a:prstGeom>
          <a:solidFill>
            <a:schemeClr val="bg1"/>
          </a:solidFill>
          <a:ln w="0">
            <a:solidFill>
              <a:schemeClr val="bg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00" b="1" strike="noStrike" spc="-1">
                <a:latin typeface="Calibri"/>
                <a:ea typeface="Calibri"/>
              </a:rPr>
              <a:t>Pretrained on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141" name="Text 16"/>
          <p:cNvSpPr/>
          <p:nvPr/>
        </p:nvSpPr>
        <p:spPr>
          <a:xfrm>
            <a:off x="6492240" y="2523780"/>
            <a:ext cx="2377080" cy="402120"/>
          </a:xfrm>
          <a:prstGeom prst="rect">
            <a:avLst/>
          </a:prstGeom>
          <a:solidFill>
            <a:schemeClr val="bg1"/>
          </a:solidFill>
          <a:ln w="0">
            <a:solidFill>
              <a:schemeClr val="bg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00" b="0" strike="noStrike" spc="-1">
                <a:solidFill>
                  <a:srgbClr val="000000"/>
                </a:solidFill>
                <a:latin typeface="Calibri"/>
                <a:ea typeface="Calibri"/>
              </a:rPr>
              <a:t>Radiology Images (DINO SSL)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142" name="Shape 17"/>
          <p:cNvSpPr/>
          <p:nvPr/>
        </p:nvSpPr>
        <p:spPr>
          <a:xfrm>
            <a:off x="5029200" y="2944620"/>
            <a:ext cx="3885840" cy="43848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43" name="Text 18"/>
          <p:cNvSpPr/>
          <p:nvPr/>
        </p:nvSpPr>
        <p:spPr>
          <a:xfrm>
            <a:off x="5074920" y="2962620"/>
            <a:ext cx="1371240" cy="402120"/>
          </a:xfrm>
          <a:prstGeom prst="rect">
            <a:avLst/>
          </a:prstGeom>
          <a:solidFill>
            <a:schemeClr val="bg1"/>
          </a:solidFill>
          <a:ln w="0">
            <a:solidFill>
              <a:schemeClr val="bg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00" b="1" strike="noStrike" spc="-1">
                <a:latin typeface="Calibri"/>
                <a:ea typeface="Calibri"/>
              </a:rPr>
              <a:t>Output Vector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144" name="Text 19"/>
          <p:cNvSpPr/>
          <p:nvPr/>
        </p:nvSpPr>
        <p:spPr>
          <a:xfrm>
            <a:off x="6492240" y="2962620"/>
            <a:ext cx="2377080" cy="402120"/>
          </a:xfrm>
          <a:prstGeom prst="rect">
            <a:avLst/>
          </a:prstGeom>
          <a:solidFill>
            <a:schemeClr val="bg1"/>
          </a:solidFill>
          <a:ln w="0">
            <a:solidFill>
              <a:schemeClr val="bg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00" b="0" strike="noStrike" spc="-1" dirty="0">
                <a:solidFill>
                  <a:srgbClr val="000000"/>
                </a:solidFill>
                <a:latin typeface="Calibri"/>
                <a:ea typeface="Calibri"/>
              </a:rPr>
              <a:t>768 Dimensions</a:t>
            </a:r>
            <a:endParaRPr lang="en-US" sz="1000" b="0" strike="noStrike" spc="-1" dirty="0">
              <a:latin typeface="Arial"/>
            </a:endParaRPr>
          </a:p>
        </p:txBody>
      </p:sp>
      <p:sp>
        <p:nvSpPr>
          <p:cNvPr id="145" name="Shape 20"/>
          <p:cNvSpPr/>
          <p:nvPr/>
        </p:nvSpPr>
        <p:spPr>
          <a:xfrm>
            <a:off x="5029200" y="3383460"/>
            <a:ext cx="3885840" cy="43848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46" name="Text 21"/>
          <p:cNvSpPr/>
          <p:nvPr/>
        </p:nvSpPr>
        <p:spPr>
          <a:xfrm>
            <a:off x="5074920" y="3401820"/>
            <a:ext cx="1371240" cy="402120"/>
          </a:xfrm>
          <a:prstGeom prst="rect">
            <a:avLst/>
          </a:prstGeom>
          <a:solidFill>
            <a:schemeClr val="bg1"/>
          </a:solidFill>
          <a:ln w="0">
            <a:solidFill>
              <a:schemeClr val="bg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00" b="1" strike="noStrike" spc="-1">
                <a:latin typeface="Calibri"/>
                <a:ea typeface="Calibri"/>
              </a:rPr>
              <a:t>Status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147" name="Text 22"/>
          <p:cNvSpPr/>
          <p:nvPr/>
        </p:nvSpPr>
        <p:spPr>
          <a:xfrm>
            <a:off x="6492240" y="3401820"/>
            <a:ext cx="2377080" cy="402120"/>
          </a:xfrm>
          <a:prstGeom prst="rect">
            <a:avLst/>
          </a:prstGeom>
          <a:solidFill>
            <a:schemeClr val="bg1"/>
          </a:solidFill>
          <a:ln w="0">
            <a:solidFill>
              <a:schemeClr val="bg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00" b="0" strike="noStrike" spc="-1" dirty="0">
                <a:solidFill>
                  <a:srgbClr val="000000"/>
                </a:solidFill>
                <a:latin typeface="Calibri"/>
                <a:ea typeface="Calibri"/>
              </a:rPr>
              <a:t>Frozen (No gradient updates)</a:t>
            </a:r>
            <a:endParaRPr lang="en-US" sz="1000" b="0" strike="noStrike" spc="-1" dirty="0">
              <a:latin typeface="Arial"/>
            </a:endParaRPr>
          </a:p>
        </p:txBody>
      </p:sp>
      <p:sp>
        <p:nvSpPr>
          <p:cNvPr id="148" name="Shape 23"/>
          <p:cNvSpPr/>
          <p:nvPr/>
        </p:nvSpPr>
        <p:spPr>
          <a:xfrm>
            <a:off x="5029200" y="3822300"/>
            <a:ext cx="3885840" cy="43848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49" name="Text 24"/>
          <p:cNvSpPr/>
          <p:nvPr/>
        </p:nvSpPr>
        <p:spPr>
          <a:xfrm>
            <a:off x="5074920" y="3840660"/>
            <a:ext cx="1371240" cy="402120"/>
          </a:xfrm>
          <a:prstGeom prst="rect">
            <a:avLst/>
          </a:prstGeom>
          <a:solidFill>
            <a:schemeClr val="bg1"/>
          </a:solidFill>
          <a:ln w="0">
            <a:solidFill>
              <a:schemeClr val="bg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00" b="1" strike="noStrike" spc="-1">
                <a:latin typeface="Calibri"/>
                <a:ea typeface="Calibri"/>
              </a:rPr>
              <a:t>Task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150" name="Text 25"/>
          <p:cNvSpPr/>
          <p:nvPr/>
        </p:nvSpPr>
        <p:spPr>
          <a:xfrm>
            <a:off x="6492240" y="3840660"/>
            <a:ext cx="2377080" cy="402120"/>
          </a:xfrm>
          <a:prstGeom prst="rect">
            <a:avLst/>
          </a:prstGeom>
          <a:solidFill>
            <a:schemeClr val="bg1"/>
          </a:solidFill>
          <a:ln w="0">
            <a:solidFill>
              <a:schemeClr val="bg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00" b="0" strike="noStrike" spc="-1">
                <a:solidFill>
                  <a:srgbClr val="000000"/>
                </a:solidFill>
                <a:latin typeface="Calibri"/>
                <a:ea typeface="Calibri"/>
              </a:rPr>
              <a:t>Global Context + Structural Boundaries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151" name="Shape 26"/>
          <p:cNvSpPr/>
          <p:nvPr/>
        </p:nvSpPr>
        <p:spPr>
          <a:xfrm>
            <a:off x="0" y="4919400"/>
            <a:ext cx="9143640" cy="223560"/>
          </a:xfrm>
          <a:prstGeom prst="rect">
            <a:avLst/>
          </a:prstGeom>
          <a:solidFill>
            <a:srgbClr val="D9D9D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52" name="Text 27"/>
          <p:cNvSpPr/>
          <p:nvPr/>
        </p:nvSpPr>
        <p:spPr>
          <a:xfrm>
            <a:off x="0" y="4919400"/>
            <a:ext cx="9143640" cy="223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00" b="0" strike="noStrike" spc="-1">
                <a:solidFill>
                  <a:srgbClr val="808080"/>
                </a:solidFill>
                <a:latin typeface="Calibri"/>
                <a:ea typeface="Calibri"/>
              </a:rPr>
              <a:t>Department Of CSE  |  KGiSL Institute of Technology, Coimbatore</a:t>
            </a:r>
            <a:endParaRPr lang="en-US" sz="9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Shape 0"/>
          <p:cNvSpPr/>
          <p:nvPr/>
        </p:nvSpPr>
        <p:spPr>
          <a:xfrm>
            <a:off x="0" y="0"/>
            <a:ext cx="9143640" cy="502560"/>
          </a:xfrm>
          <a:prstGeom prst="rect">
            <a:avLst/>
          </a:prstGeom>
          <a:solidFill>
            <a:schemeClr val="bg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54" name="Text 1"/>
          <p:cNvSpPr/>
          <p:nvPr/>
        </p:nvSpPr>
        <p:spPr>
          <a:xfrm>
            <a:off x="228600" y="36720"/>
            <a:ext cx="7772040" cy="429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1" strike="noStrike" spc="-1" dirty="0">
                <a:latin typeface="Calibri"/>
                <a:ea typeface="Calibri"/>
              </a:rPr>
              <a:t>LOCAL TEXTURE FEATURE EXTRACTION MODULE</a:t>
            </a:r>
            <a:endParaRPr lang="en-US" sz="2000" b="0" strike="noStrike" spc="-1" dirty="0">
              <a:latin typeface="Arial"/>
            </a:endParaRPr>
          </a:p>
        </p:txBody>
      </p:sp>
      <p:sp>
        <p:nvSpPr>
          <p:cNvPr id="155" name="Text 2"/>
          <p:cNvSpPr/>
          <p:nvPr/>
        </p:nvSpPr>
        <p:spPr>
          <a:xfrm>
            <a:off x="8503920" y="36720"/>
            <a:ext cx="594000" cy="429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1" strike="noStrike" spc="-1">
                <a:solidFill>
                  <a:srgbClr val="FFFFFF"/>
                </a:solidFill>
                <a:latin typeface="Calibri"/>
              </a:rPr>
              <a:t>8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156" name="Text 3"/>
          <p:cNvSpPr/>
          <p:nvPr/>
        </p:nvSpPr>
        <p:spPr>
          <a:xfrm>
            <a:off x="228600" y="594360"/>
            <a:ext cx="868644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600" b="1" strike="noStrike" spc="-1">
                <a:solidFill>
                  <a:srgbClr val="1F3864"/>
                </a:solidFill>
                <a:latin typeface="Calibri"/>
                <a:ea typeface="Calibri"/>
              </a:rPr>
              <a:t>Swin Transformer — Shifted Window Attention</a:t>
            </a:r>
            <a:endParaRPr lang="en-US" sz="1600" b="0" strike="noStrike" spc="-1">
              <a:latin typeface="Arial"/>
            </a:endParaRPr>
          </a:p>
        </p:txBody>
      </p:sp>
      <p:sp>
        <p:nvSpPr>
          <p:cNvPr id="157" name="Shape 4"/>
          <p:cNvSpPr/>
          <p:nvPr/>
        </p:nvSpPr>
        <p:spPr>
          <a:xfrm>
            <a:off x="228600" y="941760"/>
            <a:ext cx="8686440" cy="27000"/>
          </a:xfrm>
          <a:prstGeom prst="rect">
            <a:avLst/>
          </a:prstGeom>
          <a:solidFill>
            <a:srgbClr val="2E74B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58" name="Text 5"/>
          <p:cNvSpPr/>
          <p:nvPr/>
        </p:nvSpPr>
        <p:spPr>
          <a:xfrm>
            <a:off x="274320" y="1024200"/>
            <a:ext cx="4571640" cy="374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11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➢  Malignant tumors often appear as </a:t>
            </a:r>
            <a:r>
              <a:rPr lang="en-US" sz="1100" b="1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subtle texture variations — microcalcifications, irregular margins, localized distortions</a:t>
            </a:r>
            <a:r>
              <a:rPr lang="en-US" sz="11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in glandular tissue.</a:t>
            </a:r>
            <a:endParaRPr lang="en-US" sz="1100" b="0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400"/>
              </a:spcAft>
              <a:buNone/>
              <a:tabLst>
                <a:tab pos="0" algn="l"/>
              </a:tabLst>
            </a:pPr>
            <a:r>
              <a:rPr lang="en-US" sz="11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➢  Employs the </a:t>
            </a:r>
            <a:r>
              <a:rPr lang="en-US" sz="1100" b="1" strike="noStrike" spc="-1" dirty="0" err="1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Swin</a:t>
            </a:r>
            <a:r>
              <a:rPr lang="en-US" sz="1100" b="1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Transformer (</a:t>
            </a:r>
            <a:r>
              <a:rPr lang="en-US" sz="1100" b="1" strike="noStrike" spc="-1" dirty="0" err="1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swin_t</a:t>
            </a:r>
            <a:r>
              <a:rPr lang="en-US" sz="1100" b="1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)</a:t>
            </a:r>
            <a:r>
              <a:rPr lang="en-US" sz="11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, a hierarchical </a:t>
            </a:r>
            <a:r>
              <a:rPr lang="en-US" sz="1100" b="0" strike="noStrike" spc="-1" dirty="0" err="1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ViT</a:t>
            </a:r>
            <a:r>
              <a:rPr lang="en-US" sz="11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that processes local regions using shifted-window self-attention.</a:t>
            </a:r>
            <a:endParaRPr lang="en-US" sz="1100" b="0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400"/>
              </a:spcAft>
              <a:buNone/>
              <a:tabLst>
                <a:tab pos="0" algn="l"/>
              </a:tabLst>
            </a:pPr>
            <a:r>
              <a:rPr lang="en-US" sz="11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➢  Instead of global attention, the model divides the image into </a:t>
            </a:r>
            <a:r>
              <a:rPr lang="en-US" sz="1100" b="1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smaller windows and computes attention within each</a:t>
            </a:r>
            <a:r>
              <a:rPr lang="en-US" sz="11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— highly efficient.</a:t>
            </a:r>
            <a:endParaRPr lang="en-US" sz="1100" b="0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400"/>
              </a:spcAft>
              <a:buNone/>
              <a:tabLst>
                <a:tab pos="0" algn="l"/>
              </a:tabLst>
            </a:pPr>
            <a:r>
              <a:rPr lang="en-US" sz="11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➢  As windows shift across layers, the model integrates </a:t>
            </a:r>
            <a:r>
              <a:rPr lang="en-US" sz="1100" b="1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information from neighboring regions</a:t>
            </a:r>
            <a:r>
              <a:rPr lang="en-US" sz="11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, understanding both local and regional structures.</a:t>
            </a:r>
            <a:endParaRPr lang="en-US" sz="1100" b="0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400"/>
              </a:spcAft>
              <a:buNone/>
              <a:tabLst>
                <a:tab pos="0" algn="l"/>
              </a:tabLst>
            </a:pPr>
            <a:r>
              <a:rPr lang="en-US" sz="11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➢  </a:t>
            </a:r>
            <a:r>
              <a:rPr lang="en-US" sz="1100" b="1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Early layers remain frozen; deeper stages (3 &amp; 4) are fine-tuned</a:t>
            </a:r>
            <a:r>
              <a:rPr lang="en-US" sz="11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to adapt higher-level features specifically for mammography analysis.</a:t>
            </a:r>
            <a:endParaRPr lang="en-US" sz="1100" b="0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400"/>
              </a:spcAft>
              <a:buNone/>
              <a:tabLst>
                <a:tab pos="0" algn="l"/>
              </a:tabLst>
            </a:pPr>
            <a:r>
              <a:rPr lang="en-US" sz="11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➢  Output: a </a:t>
            </a:r>
            <a:r>
              <a:rPr lang="en-US" sz="1100" b="1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768-dimensional feature vector</a:t>
            </a:r>
            <a:r>
              <a:rPr lang="en-US" sz="11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representing the local texture characteristics (microcalcifications, cell-level changes, irregular boundaries).</a:t>
            </a:r>
            <a:endParaRPr lang="en-US" sz="1100" b="0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9" name="Shape 6"/>
          <p:cNvSpPr/>
          <p:nvPr/>
        </p:nvSpPr>
        <p:spPr>
          <a:xfrm>
            <a:off x="5029200" y="1024200"/>
            <a:ext cx="3885840" cy="347040"/>
          </a:xfrm>
          <a:prstGeom prst="rect">
            <a:avLst/>
          </a:prstGeom>
          <a:solidFill>
            <a:schemeClr val="bg1"/>
          </a:solidFill>
          <a:ln w="0">
            <a:solidFill>
              <a:schemeClr val="bg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60" name="Text 7"/>
          <p:cNvSpPr/>
          <p:nvPr/>
        </p:nvSpPr>
        <p:spPr>
          <a:xfrm>
            <a:off x="5029200" y="1024200"/>
            <a:ext cx="3885840" cy="34704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0" b="1" strike="noStrike" spc="-1">
                <a:latin typeface="Calibri"/>
              </a:rPr>
              <a:t>Swin Transformer — Model Summary</a:t>
            </a:r>
            <a:endParaRPr lang="en-US" sz="1100" b="0" strike="noStrike" spc="-1">
              <a:latin typeface="Arial"/>
            </a:endParaRPr>
          </a:p>
        </p:txBody>
      </p:sp>
      <p:sp>
        <p:nvSpPr>
          <p:cNvPr id="161" name="Shape 8"/>
          <p:cNvSpPr/>
          <p:nvPr/>
        </p:nvSpPr>
        <p:spPr>
          <a:xfrm>
            <a:off x="5029200" y="1371600"/>
            <a:ext cx="3885840" cy="43848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62" name="Text 9"/>
          <p:cNvSpPr/>
          <p:nvPr/>
        </p:nvSpPr>
        <p:spPr>
          <a:xfrm>
            <a:off x="5074920" y="1389960"/>
            <a:ext cx="1371240" cy="402120"/>
          </a:xfrm>
          <a:prstGeom prst="rect">
            <a:avLst/>
          </a:prstGeom>
          <a:solidFill>
            <a:schemeClr val="bg1"/>
          </a:solidFill>
          <a:ln w="0">
            <a:solidFill>
              <a:schemeClr val="bg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00" b="1" strike="noStrike" spc="-1">
                <a:latin typeface="Calibri"/>
                <a:ea typeface="Calibri"/>
              </a:rPr>
              <a:t>Model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163" name="Text 10"/>
          <p:cNvSpPr/>
          <p:nvPr/>
        </p:nvSpPr>
        <p:spPr>
          <a:xfrm>
            <a:off x="6492240" y="1389960"/>
            <a:ext cx="2377080" cy="402120"/>
          </a:xfrm>
          <a:prstGeom prst="rect">
            <a:avLst/>
          </a:prstGeom>
          <a:solidFill>
            <a:schemeClr val="bg1"/>
          </a:solidFill>
          <a:ln w="0">
            <a:solidFill>
              <a:schemeClr val="bg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00" b="0" strike="noStrike" spc="-1" dirty="0" err="1">
                <a:latin typeface="Calibri"/>
                <a:ea typeface="Calibri"/>
              </a:rPr>
              <a:t>swin_t</a:t>
            </a:r>
            <a:r>
              <a:rPr lang="en-US" sz="1000" b="0" strike="noStrike" spc="-1" dirty="0">
                <a:latin typeface="Calibri"/>
                <a:ea typeface="Calibri"/>
              </a:rPr>
              <a:t> (</a:t>
            </a:r>
            <a:r>
              <a:rPr lang="en-US" sz="1000" b="0" strike="noStrike" spc="-1" dirty="0" err="1">
                <a:latin typeface="Calibri"/>
                <a:ea typeface="Calibri"/>
              </a:rPr>
              <a:t>Swin</a:t>
            </a:r>
            <a:r>
              <a:rPr lang="en-US" sz="1000" b="0" strike="noStrike" spc="-1" dirty="0">
                <a:latin typeface="Calibri"/>
                <a:ea typeface="Calibri"/>
              </a:rPr>
              <a:t>-Tiny)</a:t>
            </a:r>
            <a:endParaRPr lang="en-US" sz="1000" b="0" strike="noStrike" spc="-1" dirty="0">
              <a:latin typeface="Arial"/>
            </a:endParaRPr>
          </a:p>
        </p:txBody>
      </p:sp>
      <p:sp>
        <p:nvSpPr>
          <p:cNvPr id="164" name="Shape 11"/>
          <p:cNvSpPr/>
          <p:nvPr/>
        </p:nvSpPr>
        <p:spPr>
          <a:xfrm>
            <a:off x="5029200" y="1810440"/>
            <a:ext cx="3885840" cy="43848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65" name="Text 12"/>
          <p:cNvSpPr/>
          <p:nvPr/>
        </p:nvSpPr>
        <p:spPr>
          <a:xfrm>
            <a:off x="5074920" y="1828800"/>
            <a:ext cx="1371240" cy="402120"/>
          </a:xfrm>
          <a:prstGeom prst="rect">
            <a:avLst/>
          </a:prstGeom>
          <a:solidFill>
            <a:schemeClr val="bg1"/>
          </a:solidFill>
          <a:ln w="0">
            <a:solidFill>
              <a:schemeClr val="bg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00" b="1" strike="noStrike" spc="-1">
                <a:latin typeface="Calibri"/>
                <a:ea typeface="Calibri"/>
              </a:rPr>
              <a:t>Architecture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166" name="Text 13"/>
          <p:cNvSpPr/>
          <p:nvPr/>
        </p:nvSpPr>
        <p:spPr>
          <a:xfrm>
            <a:off x="6492240" y="1828800"/>
            <a:ext cx="2377080" cy="402120"/>
          </a:xfrm>
          <a:prstGeom prst="rect">
            <a:avLst/>
          </a:prstGeom>
          <a:solidFill>
            <a:schemeClr val="bg1"/>
          </a:solidFill>
          <a:ln w="0">
            <a:solidFill>
              <a:schemeClr val="bg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00" b="0" strike="noStrike" spc="-1" dirty="0">
                <a:latin typeface="Calibri"/>
                <a:ea typeface="Calibri"/>
              </a:rPr>
              <a:t>Hierarchical Shifted-Window </a:t>
            </a:r>
            <a:r>
              <a:rPr lang="en-US" sz="1000" b="0" strike="noStrike" spc="-1" dirty="0" err="1">
                <a:latin typeface="Calibri"/>
                <a:ea typeface="Calibri"/>
              </a:rPr>
              <a:t>ViT</a:t>
            </a:r>
            <a:endParaRPr lang="en-US" sz="1000" b="0" strike="noStrike" spc="-1" dirty="0">
              <a:latin typeface="Arial"/>
            </a:endParaRPr>
          </a:p>
        </p:txBody>
      </p:sp>
      <p:sp>
        <p:nvSpPr>
          <p:cNvPr id="167" name="Shape 14"/>
          <p:cNvSpPr/>
          <p:nvPr/>
        </p:nvSpPr>
        <p:spPr>
          <a:xfrm>
            <a:off x="5029200" y="2249280"/>
            <a:ext cx="3885840" cy="43848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68" name="Text 15"/>
          <p:cNvSpPr/>
          <p:nvPr/>
        </p:nvSpPr>
        <p:spPr>
          <a:xfrm>
            <a:off x="5074920" y="2267640"/>
            <a:ext cx="1371240" cy="402120"/>
          </a:xfrm>
          <a:prstGeom prst="rect">
            <a:avLst/>
          </a:prstGeom>
          <a:solidFill>
            <a:schemeClr val="bg1"/>
          </a:solidFill>
          <a:ln w="0">
            <a:solidFill>
              <a:schemeClr val="bg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00" b="1" strike="noStrike" spc="-1">
                <a:latin typeface="Calibri"/>
                <a:ea typeface="Calibri"/>
              </a:rPr>
              <a:t>Output Vector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169" name="Text 16"/>
          <p:cNvSpPr/>
          <p:nvPr/>
        </p:nvSpPr>
        <p:spPr>
          <a:xfrm>
            <a:off x="6492240" y="2267640"/>
            <a:ext cx="2377080" cy="402120"/>
          </a:xfrm>
          <a:prstGeom prst="rect">
            <a:avLst/>
          </a:prstGeom>
          <a:solidFill>
            <a:schemeClr val="bg1"/>
          </a:solidFill>
          <a:ln w="0">
            <a:solidFill>
              <a:schemeClr val="bg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00" b="0" strike="noStrike" spc="-1">
                <a:latin typeface="Calibri"/>
                <a:ea typeface="Calibri"/>
              </a:rPr>
              <a:t>768 Dimensions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170" name="Shape 17"/>
          <p:cNvSpPr/>
          <p:nvPr/>
        </p:nvSpPr>
        <p:spPr>
          <a:xfrm>
            <a:off x="5029200" y="2688480"/>
            <a:ext cx="3885840" cy="43848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71" name="Text 18"/>
          <p:cNvSpPr/>
          <p:nvPr/>
        </p:nvSpPr>
        <p:spPr>
          <a:xfrm>
            <a:off x="5074920" y="2706480"/>
            <a:ext cx="1371240" cy="402120"/>
          </a:xfrm>
          <a:prstGeom prst="rect">
            <a:avLst/>
          </a:prstGeom>
          <a:solidFill>
            <a:schemeClr val="bg1"/>
          </a:solidFill>
          <a:ln w="0">
            <a:solidFill>
              <a:schemeClr val="bg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00" b="1" strike="noStrike" spc="-1">
                <a:latin typeface="Calibri"/>
                <a:ea typeface="Calibri"/>
              </a:rPr>
              <a:t>Trainable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172" name="Text 19"/>
          <p:cNvSpPr/>
          <p:nvPr/>
        </p:nvSpPr>
        <p:spPr>
          <a:xfrm>
            <a:off x="6492240" y="2706480"/>
            <a:ext cx="2377080" cy="402120"/>
          </a:xfrm>
          <a:prstGeom prst="rect">
            <a:avLst/>
          </a:prstGeom>
          <a:solidFill>
            <a:schemeClr val="bg1"/>
          </a:solidFill>
          <a:ln w="0">
            <a:solidFill>
              <a:schemeClr val="bg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00" b="0" strike="noStrike" spc="-1">
                <a:latin typeface="Calibri"/>
                <a:ea typeface="Calibri"/>
              </a:rPr>
              <a:t>Stages 3 &amp; 4 only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173" name="Shape 20"/>
          <p:cNvSpPr/>
          <p:nvPr/>
        </p:nvSpPr>
        <p:spPr>
          <a:xfrm>
            <a:off x="5029200" y="3127320"/>
            <a:ext cx="3885840" cy="43848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74" name="Text 21"/>
          <p:cNvSpPr/>
          <p:nvPr/>
        </p:nvSpPr>
        <p:spPr>
          <a:xfrm>
            <a:off x="5074920" y="3145680"/>
            <a:ext cx="1371240" cy="402120"/>
          </a:xfrm>
          <a:prstGeom prst="rect">
            <a:avLst/>
          </a:prstGeom>
          <a:solidFill>
            <a:schemeClr val="bg1"/>
          </a:solidFill>
          <a:ln w="0">
            <a:solidFill>
              <a:schemeClr val="bg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00" b="1" strike="noStrike" spc="-1">
                <a:latin typeface="Calibri"/>
                <a:ea typeface="Calibri"/>
              </a:rPr>
              <a:t>Frozen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175" name="Text 22"/>
          <p:cNvSpPr/>
          <p:nvPr/>
        </p:nvSpPr>
        <p:spPr>
          <a:xfrm>
            <a:off x="6492240" y="3145680"/>
            <a:ext cx="2377080" cy="402120"/>
          </a:xfrm>
          <a:prstGeom prst="rect">
            <a:avLst/>
          </a:prstGeom>
          <a:solidFill>
            <a:schemeClr val="bg1"/>
          </a:solidFill>
          <a:ln w="0">
            <a:solidFill>
              <a:schemeClr val="bg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00" b="0" strike="noStrike" spc="-1">
                <a:latin typeface="Calibri"/>
                <a:ea typeface="Calibri"/>
              </a:rPr>
              <a:t>Stages 1 &amp; 2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176" name="Shape 23"/>
          <p:cNvSpPr/>
          <p:nvPr/>
        </p:nvSpPr>
        <p:spPr>
          <a:xfrm>
            <a:off x="5029200" y="3566160"/>
            <a:ext cx="3885840" cy="43848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77" name="Text 24"/>
          <p:cNvSpPr/>
          <p:nvPr/>
        </p:nvSpPr>
        <p:spPr>
          <a:xfrm>
            <a:off x="5074920" y="3584520"/>
            <a:ext cx="1371240" cy="402120"/>
          </a:xfrm>
          <a:prstGeom prst="rect">
            <a:avLst/>
          </a:prstGeom>
          <a:solidFill>
            <a:schemeClr val="bg1"/>
          </a:solidFill>
          <a:ln w="0">
            <a:solidFill>
              <a:schemeClr val="bg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00" b="1" strike="noStrike" spc="-1">
                <a:latin typeface="Calibri"/>
                <a:ea typeface="Calibri"/>
              </a:rPr>
              <a:t>Task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178" name="Text 25"/>
          <p:cNvSpPr/>
          <p:nvPr/>
        </p:nvSpPr>
        <p:spPr>
          <a:xfrm>
            <a:off x="6492240" y="3584520"/>
            <a:ext cx="2377080" cy="402120"/>
          </a:xfrm>
          <a:prstGeom prst="rect">
            <a:avLst/>
          </a:prstGeom>
          <a:solidFill>
            <a:schemeClr val="bg1"/>
          </a:solidFill>
          <a:ln w="0">
            <a:solidFill>
              <a:schemeClr val="bg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00" b="0" strike="noStrike" spc="-1">
                <a:latin typeface="Calibri"/>
                <a:ea typeface="Calibri"/>
              </a:rPr>
              <a:t>Local Texture &amp; Cell Changes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179" name="Shape 26"/>
          <p:cNvSpPr/>
          <p:nvPr/>
        </p:nvSpPr>
        <p:spPr>
          <a:xfrm>
            <a:off x="0" y="4919400"/>
            <a:ext cx="9143640" cy="223560"/>
          </a:xfrm>
          <a:prstGeom prst="rect">
            <a:avLst/>
          </a:prstGeom>
          <a:solidFill>
            <a:srgbClr val="D9D9D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80" name="Text 27"/>
          <p:cNvSpPr/>
          <p:nvPr/>
        </p:nvSpPr>
        <p:spPr>
          <a:xfrm>
            <a:off x="0" y="4919400"/>
            <a:ext cx="9143640" cy="223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00" b="0" strike="noStrike" spc="-1" dirty="0">
                <a:solidFill>
                  <a:srgbClr val="808080"/>
                </a:solidFill>
                <a:latin typeface="Calibri"/>
                <a:ea typeface="Calibri"/>
              </a:rPr>
              <a:t>Department Of CSE  |  KGiSL Institute of Technology, Coimbatore</a:t>
            </a:r>
            <a:endParaRPr lang="en-US" sz="900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Shape 0"/>
          <p:cNvSpPr/>
          <p:nvPr/>
        </p:nvSpPr>
        <p:spPr>
          <a:xfrm>
            <a:off x="0" y="0"/>
            <a:ext cx="9143640" cy="502560"/>
          </a:xfrm>
          <a:prstGeom prst="rect">
            <a:avLst/>
          </a:prstGeom>
          <a:solidFill>
            <a:schemeClr val="bg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82" name="Text 1"/>
          <p:cNvSpPr/>
          <p:nvPr/>
        </p:nvSpPr>
        <p:spPr>
          <a:xfrm>
            <a:off x="228600" y="36720"/>
            <a:ext cx="7772040" cy="429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1" strike="noStrike" spc="-1" dirty="0">
                <a:latin typeface="Calibri"/>
                <a:ea typeface="Calibri"/>
              </a:rPr>
              <a:t>FEATURE FUSION MECHANISM MODULE</a:t>
            </a:r>
            <a:endParaRPr lang="en-US" sz="2000" b="0" strike="noStrike" spc="-1" dirty="0">
              <a:latin typeface="Arial"/>
            </a:endParaRPr>
          </a:p>
        </p:txBody>
      </p:sp>
      <p:sp>
        <p:nvSpPr>
          <p:cNvPr id="183" name="Text 2"/>
          <p:cNvSpPr/>
          <p:nvPr/>
        </p:nvSpPr>
        <p:spPr>
          <a:xfrm>
            <a:off x="8503920" y="36720"/>
            <a:ext cx="594000" cy="429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1" strike="noStrike" spc="-1">
                <a:solidFill>
                  <a:srgbClr val="FFFFFF"/>
                </a:solidFill>
                <a:latin typeface="Calibri"/>
              </a:rPr>
              <a:t>9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184" name="Text 3"/>
          <p:cNvSpPr/>
          <p:nvPr/>
        </p:nvSpPr>
        <p:spPr>
          <a:xfrm>
            <a:off x="228600" y="594360"/>
            <a:ext cx="868644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600" b="1" strike="noStrike" spc="-1">
                <a:solidFill>
                  <a:srgbClr val="1F3864"/>
                </a:solidFill>
                <a:latin typeface="Calibri"/>
                <a:ea typeface="Calibri"/>
              </a:rPr>
              <a:t>Combining Global and Local Feature Representations</a:t>
            </a:r>
            <a:endParaRPr lang="en-US" sz="1600" b="0" strike="noStrike" spc="-1">
              <a:latin typeface="Arial"/>
            </a:endParaRPr>
          </a:p>
        </p:txBody>
      </p:sp>
      <p:sp>
        <p:nvSpPr>
          <p:cNvPr id="185" name="Shape 4"/>
          <p:cNvSpPr/>
          <p:nvPr/>
        </p:nvSpPr>
        <p:spPr>
          <a:xfrm>
            <a:off x="228600" y="941760"/>
            <a:ext cx="8686440" cy="27000"/>
          </a:xfrm>
          <a:prstGeom prst="rect">
            <a:avLst/>
          </a:prstGeom>
          <a:solidFill>
            <a:srgbClr val="2E74B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86" name="Text 5"/>
          <p:cNvSpPr/>
          <p:nvPr/>
        </p:nvSpPr>
        <p:spPr>
          <a:xfrm>
            <a:off x="274320" y="1024200"/>
            <a:ext cx="4571640" cy="3382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endParaRPr lang="en-US" sz="11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r>
              <a:rPr lang="en-US" sz="11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➢  RAD-DINO and </a:t>
            </a:r>
            <a:r>
              <a:rPr lang="en-US" sz="1100" b="0" strike="noStrike" spc="-1" dirty="0" err="1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Swin</a:t>
            </a:r>
            <a:r>
              <a:rPr lang="en-US" sz="11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Transformer produce features with </a:t>
            </a:r>
            <a:r>
              <a:rPr lang="en-US" sz="1100" b="1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different statistical distributions</a:t>
            </a:r>
            <a:r>
              <a:rPr lang="en-US" sz="11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— direct concatenation without normalization leads to unstable training.</a:t>
            </a:r>
            <a:endParaRPr lang="en-US" sz="1100" b="0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  <a:tabLst>
                <a:tab pos="0" algn="l"/>
              </a:tabLst>
            </a:pPr>
            <a:endParaRPr lang="en-US" sz="1100" b="0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  <a:tabLst>
                <a:tab pos="0" algn="l"/>
              </a:tabLst>
            </a:pPr>
            <a:r>
              <a:rPr lang="en-US" sz="11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➢  </a:t>
            </a:r>
            <a:r>
              <a:rPr lang="en-US" sz="1100" b="1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BatchNorm1d(768)</a:t>
            </a:r>
            <a:r>
              <a:rPr lang="en-US" sz="11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is applied independently to each stream's output, standardizing scale and distribution before fusion.</a:t>
            </a:r>
            <a:endParaRPr lang="en-US" sz="1100" b="0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  <a:tabLst>
                <a:tab pos="0" algn="l"/>
              </a:tabLst>
            </a:pPr>
            <a:endParaRPr lang="en-US" sz="1100" b="0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  <a:tabLst>
                <a:tab pos="0" algn="l"/>
              </a:tabLst>
            </a:pPr>
            <a:r>
              <a:rPr lang="en-US" sz="11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➢  Once normalized, the two 768-D vectors are </a:t>
            </a:r>
            <a:r>
              <a:rPr lang="en-US" sz="1100" b="1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concatenated to form a 1536-dimensional fused feature vector</a:t>
            </a:r>
            <a:r>
              <a:rPr lang="en-US" sz="11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.</a:t>
            </a:r>
            <a:endParaRPr lang="en-US" sz="1100" b="0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  <a:tabLst>
                <a:tab pos="0" algn="l"/>
              </a:tabLst>
            </a:pPr>
            <a:endParaRPr lang="en-US" sz="1100" b="0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  <a:tabLst>
                <a:tab pos="0" algn="l"/>
              </a:tabLst>
            </a:pPr>
            <a:r>
              <a:rPr lang="en-US" sz="11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➢  This fused representation integrates </a:t>
            </a:r>
            <a:r>
              <a:rPr lang="en-US" sz="1100" b="1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global anatomical context + fine-grained local texture</a:t>
            </a:r>
            <a:r>
              <a:rPr lang="en-US" sz="11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, providing a comprehensive mammogram description.</a:t>
            </a:r>
            <a:endParaRPr lang="en-US" sz="1100" b="0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  <a:tabLst>
                <a:tab pos="0" algn="l"/>
              </a:tabLst>
            </a:pPr>
            <a:endParaRPr lang="en-US" sz="1100" b="0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  <a:tabLst>
                <a:tab pos="0" algn="l"/>
              </a:tabLst>
            </a:pPr>
            <a:r>
              <a:rPr lang="en-US" sz="11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➢  The fusion mimics the radiologist's approach of </a:t>
            </a:r>
            <a:r>
              <a:rPr lang="en-US" sz="1100" b="1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combining structural overview with detailed tissue analysis</a:t>
            </a:r>
            <a:r>
              <a:rPr lang="en-US" sz="11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to make an informed diagnosis.</a:t>
            </a:r>
            <a:endParaRPr lang="en-US" sz="1100" b="0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7" name="Shape 6"/>
          <p:cNvSpPr/>
          <p:nvPr/>
        </p:nvSpPr>
        <p:spPr>
          <a:xfrm>
            <a:off x="4571820" y="3817115"/>
            <a:ext cx="4500793" cy="59364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88" name="Text 7"/>
          <p:cNvSpPr/>
          <p:nvPr/>
        </p:nvSpPr>
        <p:spPr>
          <a:xfrm>
            <a:off x="4465729" y="3980603"/>
            <a:ext cx="4712974" cy="350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00" b="1" strike="noStrike" spc="-1" dirty="0">
                <a:latin typeface="Courier New"/>
                <a:ea typeface="Courier New"/>
              </a:rPr>
              <a:t>Fused Vector = </a:t>
            </a:r>
            <a:r>
              <a:rPr lang="en-US" sz="900" b="1" strike="noStrike" spc="-1" dirty="0" err="1">
                <a:latin typeface="Courier New"/>
                <a:ea typeface="Courier New"/>
              </a:rPr>
              <a:t>Concat</a:t>
            </a:r>
            <a:r>
              <a:rPr lang="en-US" sz="900" b="1" strike="noStrike" spc="-1" dirty="0">
                <a:latin typeface="Courier New"/>
                <a:ea typeface="Courier New"/>
              </a:rPr>
              <a:t>(BN(RAD-DINO_768),BN(Swin_768))→ 1536-D</a:t>
            </a:r>
            <a:endParaRPr lang="en-US" sz="900" b="0" strike="noStrike" spc="-1" dirty="0">
              <a:latin typeface="Arial"/>
            </a:endParaRPr>
          </a:p>
        </p:txBody>
      </p:sp>
      <p:sp>
        <p:nvSpPr>
          <p:cNvPr id="189" name="Shape 8"/>
          <p:cNvSpPr/>
          <p:nvPr/>
        </p:nvSpPr>
        <p:spPr>
          <a:xfrm>
            <a:off x="5029200" y="1024200"/>
            <a:ext cx="1828440" cy="475200"/>
          </a:xfrm>
          <a:prstGeom prst="rect">
            <a:avLst/>
          </a:prstGeom>
          <a:solidFill>
            <a:schemeClr val="bg1"/>
          </a:solidFill>
          <a:ln w="0"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90" name="Text 9"/>
          <p:cNvSpPr/>
          <p:nvPr/>
        </p:nvSpPr>
        <p:spPr>
          <a:xfrm>
            <a:off x="5029200" y="1024200"/>
            <a:ext cx="182844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00" b="1" strike="noStrike" spc="-1" dirty="0">
                <a:latin typeface="Calibri"/>
              </a:rPr>
              <a:t>RAD-DINO</a:t>
            </a:r>
            <a:endParaRPr lang="en-US" sz="1000" b="0" strike="noStrike" spc="-1" dirty="0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00" b="1" strike="noStrike" spc="-1" dirty="0">
                <a:latin typeface="Calibri"/>
              </a:rPr>
              <a:t>768-D</a:t>
            </a:r>
            <a:endParaRPr lang="en-US" sz="1000" b="0" strike="noStrike" spc="-1" dirty="0">
              <a:latin typeface="Arial"/>
            </a:endParaRPr>
          </a:p>
        </p:txBody>
      </p:sp>
      <p:sp>
        <p:nvSpPr>
          <p:cNvPr id="191" name="Shape 10"/>
          <p:cNvSpPr/>
          <p:nvPr/>
        </p:nvSpPr>
        <p:spPr>
          <a:xfrm>
            <a:off x="7543800" y="1024200"/>
            <a:ext cx="1371240" cy="475200"/>
          </a:xfrm>
          <a:prstGeom prst="rect">
            <a:avLst/>
          </a:prstGeom>
          <a:solidFill>
            <a:schemeClr val="bg1"/>
          </a:solidFill>
          <a:ln w="0"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92" name="Text 11"/>
          <p:cNvSpPr/>
          <p:nvPr/>
        </p:nvSpPr>
        <p:spPr>
          <a:xfrm>
            <a:off x="7543800" y="1024200"/>
            <a:ext cx="137124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00" b="1" strike="noStrike" spc="-1" dirty="0" err="1">
                <a:latin typeface="Calibri"/>
              </a:rPr>
              <a:t>Swin</a:t>
            </a:r>
            <a:endParaRPr lang="en-US" sz="1000" b="0" strike="noStrike" spc="-1" dirty="0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00" b="1" strike="noStrike" spc="-1" dirty="0">
                <a:latin typeface="Calibri"/>
              </a:rPr>
              <a:t>768-D</a:t>
            </a:r>
            <a:endParaRPr lang="en-US" sz="1000" b="0" strike="noStrike" spc="-1" dirty="0">
              <a:latin typeface="Arial"/>
            </a:endParaRPr>
          </a:p>
        </p:txBody>
      </p:sp>
      <p:sp>
        <p:nvSpPr>
          <p:cNvPr id="193" name="Shape 12"/>
          <p:cNvSpPr/>
          <p:nvPr/>
        </p:nvSpPr>
        <p:spPr>
          <a:xfrm>
            <a:off x="5029200" y="1691640"/>
            <a:ext cx="1828440" cy="383760"/>
          </a:xfrm>
          <a:prstGeom prst="rect">
            <a:avLst/>
          </a:prstGeom>
          <a:solidFill>
            <a:schemeClr val="bg1"/>
          </a:solidFill>
          <a:ln w="0"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94" name="Text 13"/>
          <p:cNvSpPr/>
          <p:nvPr/>
        </p:nvSpPr>
        <p:spPr>
          <a:xfrm>
            <a:off x="5029200" y="1691640"/>
            <a:ext cx="182844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50" b="1" strike="noStrike" spc="-1" dirty="0">
                <a:latin typeface="Calibri"/>
              </a:rPr>
              <a:t>BatchNorm1d</a:t>
            </a:r>
            <a:endParaRPr lang="en-US" sz="950" b="0" strike="noStrike" spc="-1" dirty="0">
              <a:latin typeface="Arial"/>
            </a:endParaRPr>
          </a:p>
        </p:txBody>
      </p:sp>
      <p:sp>
        <p:nvSpPr>
          <p:cNvPr id="195" name="Shape 14"/>
          <p:cNvSpPr/>
          <p:nvPr/>
        </p:nvSpPr>
        <p:spPr>
          <a:xfrm>
            <a:off x="7543800" y="1691640"/>
            <a:ext cx="1371240" cy="383760"/>
          </a:xfrm>
          <a:prstGeom prst="rect">
            <a:avLst/>
          </a:prstGeom>
          <a:solidFill>
            <a:schemeClr val="bg1"/>
          </a:solidFill>
          <a:ln w="0"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96" name="Text 15"/>
          <p:cNvSpPr/>
          <p:nvPr/>
        </p:nvSpPr>
        <p:spPr>
          <a:xfrm>
            <a:off x="7543800" y="1691640"/>
            <a:ext cx="137124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50" b="1" strike="noStrike" spc="-1" dirty="0">
                <a:latin typeface="Calibri"/>
              </a:rPr>
              <a:t>BatchNorm1d</a:t>
            </a:r>
            <a:endParaRPr lang="en-US" sz="950" b="0" strike="noStrike" spc="-1" dirty="0">
              <a:latin typeface="Arial"/>
            </a:endParaRPr>
          </a:p>
        </p:txBody>
      </p:sp>
      <p:sp>
        <p:nvSpPr>
          <p:cNvPr id="197" name="Shape 16"/>
          <p:cNvSpPr/>
          <p:nvPr/>
        </p:nvSpPr>
        <p:spPr>
          <a:xfrm>
            <a:off x="5916240" y="1499760"/>
            <a:ext cx="54360" cy="191520"/>
          </a:xfrm>
          <a:prstGeom prst="rect">
            <a:avLst/>
          </a:prstGeom>
          <a:solidFill>
            <a:srgbClr val="59595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98" name="Shape 17"/>
          <p:cNvSpPr/>
          <p:nvPr/>
        </p:nvSpPr>
        <p:spPr>
          <a:xfrm>
            <a:off x="8229600" y="1499760"/>
            <a:ext cx="54360" cy="191520"/>
          </a:xfrm>
          <a:prstGeom prst="rect">
            <a:avLst/>
          </a:prstGeom>
          <a:solidFill>
            <a:srgbClr val="59595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99" name="Shape 18"/>
          <p:cNvSpPr/>
          <p:nvPr/>
        </p:nvSpPr>
        <p:spPr>
          <a:xfrm>
            <a:off x="5916240" y="2075760"/>
            <a:ext cx="54360" cy="191520"/>
          </a:xfrm>
          <a:prstGeom prst="rect">
            <a:avLst/>
          </a:prstGeom>
          <a:solidFill>
            <a:srgbClr val="59595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00" name="Shape 19"/>
          <p:cNvSpPr/>
          <p:nvPr/>
        </p:nvSpPr>
        <p:spPr>
          <a:xfrm>
            <a:off x="8229600" y="2075760"/>
            <a:ext cx="54360" cy="191520"/>
          </a:xfrm>
          <a:prstGeom prst="rect">
            <a:avLst/>
          </a:prstGeom>
          <a:solidFill>
            <a:srgbClr val="59595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01" name="Shape 20"/>
          <p:cNvSpPr/>
          <p:nvPr/>
        </p:nvSpPr>
        <p:spPr>
          <a:xfrm>
            <a:off x="5916240" y="2267640"/>
            <a:ext cx="2368080" cy="45360"/>
          </a:xfrm>
          <a:prstGeom prst="rect">
            <a:avLst/>
          </a:prstGeom>
          <a:solidFill>
            <a:srgbClr val="59595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02" name="Shape 21"/>
          <p:cNvSpPr/>
          <p:nvPr/>
        </p:nvSpPr>
        <p:spPr>
          <a:xfrm>
            <a:off x="7077600" y="2267640"/>
            <a:ext cx="54360" cy="200880"/>
          </a:xfrm>
          <a:prstGeom prst="rect">
            <a:avLst/>
          </a:prstGeom>
          <a:solidFill>
            <a:srgbClr val="59595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03" name="Shape 22"/>
          <p:cNvSpPr/>
          <p:nvPr/>
        </p:nvSpPr>
        <p:spPr>
          <a:xfrm>
            <a:off x="5029200" y="2468880"/>
            <a:ext cx="3885840" cy="475200"/>
          </a:xfrm>
          <a:prstGeom prst="rect">
            <a:avLst/>
          </a:prstGeom>
          <a:solidFill>
            <a:schemeClr val="bg1"/>
          </a:solidFill>
          <a:ln w="0"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04" name="Text 23"/>
          <p:cNvSpPr/>
          <p:nvPr/>
        </p:nvSpPr>
        <p:spPr>
          <a:xfrm>
            <a:off x="5029200" y="2468880"/>
            <a:ext cx="388584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00" b="1" strike="noStrike" spc="-1" dirty="0">
                <a:latin typeface="Calibri"/>
              </a:rPr>
              <a:t>Concatenate → 1536-D Fused Vector</a:t>
            </a:r>
            <a:endParaRPr lang="en-US" sz="1000" b="0" strike="noStrike" spc="-1" dirty="0">
              <a:latin typeface="Arial"/>
            </a:endParaRPr>
          </a:p>
        </p:txBody>
      </p:sp>
      <p:sp>
        <p:nvSpPr>
          <p:cNvPr id="205" name="Shape 24"/>
          <p:cNvSpPr/>
          <p:nvPr/>
        </p:nvSpPr>
        <p:spPr>
          <a:xfrm>
            <a:off x="7077600" y="2944440"/>
            <a:ext cx="54360" cy="200880"/>
          </a:xfrm>
          <a:prstGeom prst="rect">
            <a:avLst/>
          </a:prstGeom>
          <a:solidFill>
            <a:srgbClr val="59595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06" name="Shape 25"/>
          <p:cNvSpPr/>
          <p:nvPr/>
        </p:nvSpPr>
        <p:spPr>
          <a:xfrm>
            <a:off x="5029200" y="3145680"/>
            <a:ext cx="3885840" cy="475200"/>
          </a:xfrm>
          <a:prstGeom prst="rect">
            <a:avLst/>
          </a:prstGeom>
          <a:solidFill>
            <a:schemeClr val="bg1"/>
          </a:solidFill>
          <a:ln w="0"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07" name="Text 26"/>
          <p:cNvSpPr/>
          <p:nvPr/>
        </p:nvSpPr>
        <p:spPr>
          <a:xfrm>
            <a:off x="5029200" y="3145680"/>
            <a:ext cx="388584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00" b="1" strike="noStrike" spc="-1" dirty="0">
                <a:latin typeface="Calibri"/>
              </a:rPr>
              <a:t>MLP Classification Head</a:t>
            </a:r>
            <a:endParaRPr lang="en-US" sz="1000" b="0" strike="noStrike" spc="-1" dirty="0">
              <a:latin typeface="Arial"/>
            </a:endParaRPr>
          </a:p>
        </p:txBody>
      </p:sp>
      <p:sp>
        <p:nvSpPr>
          <p:cNvPr id="208" name="Shape 27"/>
          <p:cNvSpPr/>
          <p:nvPr/>
        </p:nvSpPr>
        <p:spPr>
          <a:xfrm>
            <a:off x="0" y="4919400"/>
            <a:ext cx="9143640" cy="223560"/>
          </a:xfrm>
          <a:prstGeom prst="rect">
            <a:avLst/>
          </a:prstGeom>
          <a:solidFill>
            <a:srgbClr val="D9D9D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09" name="Text 28"/>
          <p:cNvSpPr/>
          <p:nvPr/>
        </p:nvSpPr>
        <p:spPr>
          <a:xfrm>
            <a:off x="0" y="4919400"/>
            <a:ext cx="9143640" cy="223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00" b="0" strike="noStrike" spc="-1">
                <a:solidFill>
                  <a:srgbClr val="808080"/>
                </a:solidFill>
                <a:latin typeface="Calibri"/>
                <a:ea typeface="Calibri"/>
              </a:rPr>
              <a:t>Department Of CSE  |  KGiSL Institute of Technology, Coimbatore</a:t>
            </a:r>
            <a:endParaRPr lang="en-US" sz="9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Shape 0"/>
          <p:cNvSpPr/>
          <p:nvPr/>
        </p:nvSpPr>
        <p:spPr>
          <a:xfrm>
            <a:off x="0" y="0"/>
            <a:ext cx="9143640" cy="502560"/>
          </a:xfrm>
          <a:prstGeom prst="rect">
            <a:avLst/>
          </a:prstGeom>
          <a:solidFill>
            <a:schemeClr val="bg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1" name="Text 1"/>
          <p:cNvSpPr/>
          <p:nvPr/>
        </p:nvSpPr>
        <p:spPr>
          <a:xfrm>
            <a:off x="228600" y="36720"/>
            <a:ext cx="7772040" cy="429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1" strike="noStrike" spc="-1" dirty="0">
                <a:latin typeface="Calibri"/>
                <a:ea typeface="Calibri"/>
              </a:rPr>
              <a:t>CLASSIFICATION MODULE</a:t>
            </a:r>
            <a:endParaRPr lang="en-US" sz="2000" b="0" strike="noStrike" spc="-1" dirty="0">
              <a:latin typeface="Arial"/>
            </a:endParaRPr>
          </a:p>
        </p:txBody>
      </p:sp>
      <p:sp>
        <p:nvSpPr>
          <p:cNvPr id="212" name="Text 2"/>
          <p:cNvSpPr/>
          <p:nvPr/>
        </p:nvSpPr>
        <p:spPr>
          <a:xfrm>
            <a:off x="8503920" y="36720"/>
            <a:ext cx="594000" cy="429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1" strike="noStrike" spc="-1">
                <a:solidFill>
                  <a:srgbClr val="FFFFFF"/>
                </a:solidFill>
                <a:latin typeface="Calibri"/>
              </a:rPr>
              <a:t>10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213" name="Text 3"/>
          <p:cNvSpPr/>
          <p:nvPr/>
        </p:nvSpPr>
        <p:spPr>
          <a:xfrm>
            <a:off x="228600" y="594360"/>
            <a:ext cx="868644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600" b="1" strike="noStrike" spc="-1">
                <a:solidFill>
                  <a:srgbClr val="1F3864"/>
                </a:solidFill>
                <a:latin typeface="Calibri"/>
                <a:ea typeface="Calibri"/>
              </a:rPr>
              <a:t>Multi-Layer Perceptron (MLP) Classification Head</a:t>
            </a:r>
            <a:endParaRPr lang="en-US" sz="1600" b="0" strike="noStrike" spc="-1">
              <a:latin typeface="Arial"/>
            </a:endParaRPr>
          </a:p>
        </p:txBody>
      </p:sp>
      <p:sp>
        <p:nvSpPr>
          <p:cNvPr id="214" name="Shape 4"/>
          <p:cNvSpPr/>
          <p:nvPr/>
        </p:nvSpPr>
        <p:spPr>
          <a:xfrm>
            <a:off x="228600" y="941760"/>
            <a:ext cx="8686440" cy="27000"/>
          </a:xfrm>
          <a:prstGeom prst="rect">
            <a:avLst/>
          </a:prstGeom>
          <a:solidFill>
            <a:srgbClr val="2E74B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5" name="Text 5"/>
          <p:cNvSpPr/>
          <p:nvPr/>
        </p:nvSpPr>
        <p:spPr>
          <a:xfrm>
            <a:off x="274320" y="1024200"/>
            <a:ext cx="4571640" cy="3337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endParaRPr lang="en-US" sz="11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r>
              <a:rPr lang="en-US" sz="11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➢  The fused 1536-D vector is passed into an </a:t>
            </a:r>
            <a:r>
              <a:rPr lang="en-US" sz="1100" b="1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MLP classification module</a:t>
            </a:r>
            <a:r>
              <a:rPr lang="en-US" sz="11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.</a:t>
            </a:r>
            <a:endParaRPr lang="en-US" sz="1100" b="0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  <a:tabLst>
                <a:tab pos="0" algn="l"/>
              </a:tabLst>
            </a:pPr>
            <a:endParaRPr lang="en-US" sz="1100" b="0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  <a:tabLst>
                <a:tab pos="0" algn="l"/>
              </a:tabLst>
            </a:pPr>
            <a:r>
              <a:rPr lang="en-US" sz="11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➢  </a:t>
            </a:r>
            <a:r>
              <a:rPr lang="en-US" sz="1100" b="1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Layer 1:</a:t>
            </a:r>
            <a:r>
              <a:rPr lang="en-US" sz="11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Linear(1536 → 256) — reduces dimensionality, focusing on most informative features.</a:t>
            </a:r>
            <a:endParaRPr lang="en-US" sz="1100" b="0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  <a:tabLst>
                <a:tab pos="0" algn="l"/>
              </a:tabLst>
            </a:pPr>
            <a:endParaRPr lang="en-US" sz="1100" b="0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  <a:tabLst>
                <a:tab pos="0" algn="l"/>
              </a:tabLst>
            </a:pPr>
            <a:r>
              <a:rPr lang="en-US" sz="11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➢  </a:t>
            </a:r>
            <a:r>
              <a:rPr lang="en-US" sz="1100" b="1" strike="noStrike" spc="-1" dirty="0" err="1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BatchNorm</a:t>
            </a:r>
            <a:r>
              <a:rPr lang="en-US" sz="1100" b="1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+ GELU activation</a:t>
            </a:r>
            <a:r>
              <a:rPr lang="en-US" sz="11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applied to improve model stability and convergence.</a:t>
            </a:r>
            <a:endParaRPr lang="en-US" sz="1100" b="0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  <a:tabLst>
                <a:tab pos="0" algn="l"/>
              </a:tabLst>
            </a:pPr>
            <a:endParaRPr lang="en-US" sz="1100" b="0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  <a:tabLst>
                <a:tab pos="0" algn="l"/>
              </a:tabLst>
            </a:pPr>
            <a:r>
              <a:rPr lang="en-US" sz="11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➢  </a:t>
            </a:r>
            <a:r>
              <a:rPr lang="en-US" sz="1100" b="1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Dropout(p = 0.5)</a:t>
            </a:r>
            <a:r>
              <a:rPr lang="en-US" sz="11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randomly disables neurons during training to prevent overfitting.</a:t>
            </a:r>
            <a:endParaRPr lang="en-US" sz="1100" b="0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  <a:tabLst>
                <a:tab pos="0" algn="l"/>
              </a:tabLst>
            </a:pPr>
            <a:endParaRPr lang="en-US" sz="1100" b="0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  <a:tabLst>
                <a:tab pos="0" algn="l"/>
              </a:tabLst>
            </a:pPr>
            <a:r>
              <a:rPr lang="en-US" sz="11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➢  </a:t>
            </a:r>
            <a:r>
              <a:rPr lang="en-US" sz="1100" b="1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Output Layer:</a:t>
            </a:r>
            <a:r>
              <a:rPr lang="en-US" sz="11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Linear(256 → 3) maps processed features to three diagnostic classes.</a:t>
            </a:r>
            <a:endParaRPr lang="en-US" sz="1100" b="0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  <a:tabLst>
                <a:tab pos="0" algn="l"/>
              </a:tabLst>
            </a:pPr>
            <a:endParaRPr lang="en-US" sz="1100" b="0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  <a:tabLst>
                <a:tab pos="0" algn="l"/>
              </a:tabLst>
            </a:pPr>
            <a:r>
              <a:rPr lang="en-US" sz="11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➢  </a:t>
            </a:r>
            <a:r>
              <a:rPr lang="en-US" sz="1100" b="1" strike="noStrike" spc="-1" dirty="0" err="1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Softmax</a:t>
            </a:r>
            <a:r>
              <a:rPr lang="en-US" sz="1100" b="1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function</a:t>
            </a:r>
            <a:r>
              <a:rPr lang="en-US" sz="11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converts raw outputs into class probabilities — class with highest probability is the final prediction.</a:t>
            </a:r>
            <a:endParaRPr lang="en-US" sz="1100" b="0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7" name="Text 11"/>
          <p:cNvSpPr/>
          <p:nvPr/>
        </p:nvSpPr>
        <p:spPr>
          <a:xfrm>
            <a:off x="6629400" y="4278960"/>
            <a:ext cx="2742840" cy="621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1" strike="noStrike" spc="-1">
                <a:solidFill>
                  <a:srgbClr val="FFFFFF"/>
                </a:solidFill>
                <a:latin typeface="Calibri"/>
                <a:ea typeface="Calibri"/>
              </a:rPr>
              <a:t>Class 2</a:t>
            </a:r>
            <a:endParaRPr lang="en-US" sz="1200" b="0" strike="noStrike" spc="-1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1" strike="noStrike" spc="-1">
                <a:solidFill>
                  <a:srgbClr val="FFFFFF"/>
                </a:solidFill>
                <a:latin typeface="Calibri"/>
                <a:ea typeface="Calibri"/>
              </a:rPr>
              <a:t>HEAVILY MALIGNANT</a:t>
            </a:r>
            <a:endParaRPr lang="en-US" sz="1200" b="0" strike="noStrike" spc="-1">
              <a:latin typeface="Arial"/>
            </a:endParaRPr>
          </a:p>
        </p:txBody>
      </p:sp>
      <p:sp>
        <p:nvSpPr>
          <p:cNvPr id="218" name="Shape 12"/>
          <p:cNvSpPr/>
          <p:nvPr/>
        </p:nvSpPr>
        <p:spPr>
          <a:xfrm>
            <a:off x="5029200" y="1024200"/>
            <a:ext cx="3885840" cy="621360"/>
          </a:xfrm>
          <a:prstGeom prst="rect">
            <a:avLst/>
          </a:prstGeom>
          <a:solidFill>
            <a:schemeClr val="bg1"/>
          </a:solidFill>
          <a:ln w="0"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9" name="Text 13"/>
          <p:cNvSpPr/>
          <p:nvPr/>
        </p:nvSpPr>
        <p:spPr>
          <a:xfrm>
            <a:off x="5029200" y="1024200"/>
            <a:ext cx="3885840" cy="621360"/>
          </a:xfrm>
          <a:prstGeom prst="rect">
            <a:avLst/>
          </a:prstGeom>
          <a:solidFill>
            <a:schemeClr val="bg1"/>
          </a:solidFill>
          <a:ln w="0"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50" b="1" strike="noStrike" spc="-1" dirty="0">
                <a:latin typeface="Calibri"/>
                <a:ea typeface="Calibri"/>
              </a:rPr>
              <a:t>Input</a:t>
            </a:r>
            <a:endParaRPr lang="en-US" sz="1050" b="0" strike="noStrike" spc="-1" dirty="0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50" b="1" strike="noStrike" spc="-1" dirty="0">
                <a:latin typeface="Calibri"/>
                <a:ea typeface="Calibri"/>
              </a:rPr>
              <a:t>1536-D</a:t>
            </a:r>
            <a:endParaRPr lang="en-US" sz="1050" b="0" strike="noStrike" spc="-1" dirty="0">
              <a:latin typeface="Arial"/>
            </a:endParaRPr>
          </a:p>
        </p:txBody>
      </p:sp>
      <p:sp>
        <p:nvSpPr>
          <p:cNvPr id="220" name="Shape 14"/>
          <p:cNvSpPr/>
          <p:nvPr/>
        </p:nvSpPr>
        <p:spPr>
          <a:xfrm>
            <a:off x="6940440" y="1645920"/>
            <a:ext cx="63720" cy="127800"/>
          </a:xfrm>
          <a:prstGeom prst="rect">
            <a:avLst/>
          </a:prstGeom>
          <a:solidFill>
            <a:schemeClr val="bg1"/>
          </a:solidFill>
          <a:ln w="0"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21" name="Shape 15"/>
          <p:cNvSpPr/>
          <p:nvPr/>
        </p:nvSpPr>
        <p:spPr>
          <a:xfrm>
            <a:off x="5029200" y="1774080"/>
            <a:ext cx="3885840" cy="621360"/>
          </a:xfrm>
          <a:prstGeom prst="rect">
            <a:avLst/>
          </a:prstGeom>
          <a:solidFill>
            <a:schemeClr val="bg1"/>
          </a:solidFill>
          <a:ln w="0"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22" name="Text 16"/>
          <p:cNvSpPr/>
          <p:nvPr/>
        </p:nvSpPr>
        <p:spPr>
          <a:xfrm>
            <a:off x="5029200" y="1774080"/>
            <a:ext cx="3885840" cy="621360"/>
          </a:xfrm>
          <a:prstGeom prst="rect">
            <a:avLst/>
          </a:prstGeom>
          <a:solidFill>
            <a:schemeClr val="bg1"/>
          </a:solidFill>
          <a:ln w="0"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50" b="1" strike="noStrike" spc="-1">
                <a:latin typeface="Calibri"/>
                <a:ea typeface="Calibri"/>
              </a:rPr>
              <a:t>Linear(1536→256)</a:t>
            </a:r>
            <a:endParaRPr lang="en-US" sz="1050" b="0" strike="noStrike" spc="-1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50" b="1" strike="noStrike" spc="-1">
                <a:latin typeface="Calibri"/>
                <a:ea typeface="Calibri"/>
              </a:rPr>
              <a:t>BatchNorm + GELU</a:t>
            </a:r>
            <a:endParaRPr lang="en-US" sz="1050" b="0" strike="noStrike" spc="-1">
              <a:latin typeface="Arial"/>
            </a:endParaRPr>
          </a:p>
        </p:txBody>
      </p:sp>
      <p:sp>
        <p:nvSpPr>
          <p:cNvPr id="223" name="Shape 17"/>
          <p:cNvSpPr/>
          <p:nvPr/>
        </p:nvSpPr>
        <p:spPr>
          <a:xfrm>
            <a:off x="6940440" y="2395800"/>
            <a:ext cx="63720" cy="127800"/>
          </a:xfrm>
          <a:prstGeom prst="rect">
            <a:avLst/>
          </a:prstGeom>
          <a:solidFill>
            <a:schemeClr val="bg1"/>
          </a:solidFill>
          <a:ln w="0"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24" name="Shape 18"/>
          <p:cNvSpPr/>
          <p:nvPr/>
        </p:nvSpPr>
        <p:spPr>
          <a:xfrm>
            <a:off x="5029200" y="2523600"/>
            <a:ext cx="3885840" cy="621360"/>
          </a:xfrm>
          <a:prstGeom prst="rect">
            <a:avLst/>
          </a:prstGeom>
          <a:solidFill>
            <a:schemeClr val="bg1"/>
          </a:solidFill>
          <a:ln w="0"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25" name="Text 19"/>
          <p:cNvSpPr/>
          <p:nvPr/>
        </p:nvSpPr>
        <p:spPr>
          <a:xfrm>
            <a:off x="5029200" y="2523600"/>
            <a:ext cx="3885840" cy="621360"/>
          </a:xfrm>
          <a:prstGeom prst="rect">
            <a:avLst/>
          </a:prstGeom>
          <a:solidFill>
            <a:schemeClr val="bg1"/>
          </a:solidFill>
          <a:ln w="0"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50" b="1" strike="noStrike" spc="-1">
                <a:latin typeface="Calibri"/>
                <a:ea typeface="Calibri"/>
              </a:rPr>
              <a:t>Dropout(0.5)</a:t>
            </a:r>
            <a:endParaRPr lang="en-US" sz="1050" b="0" strike="noStrike" spc="-1">
              <a:latin typeface="Arial"/>
            </a:endParaRPr>
          </a:p>
        </p:txBody>
      </p:sp>
      <p:sp>
        <p:nvSpPr>
          <p:cNvPr id="226" name="Shape 20"/>
          <p:cNvSpPr/>
          <p:nvPr/>
        </p:nvSpPr>
        <p:spPr>
          <a:xfrm>
            <a:off x="6940440" y="3145680"/>
            <a:ext cx="63720" cy="127800"/>
          </a:xfrm>
          <a:prstGeom prst="rect">
            <a:avLst/>
          </a:prstGeom>
          <a:solidFill>
            <a:schemeClr val="bg1"/>
          </a:solidFill>
          <a:ln w="0"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27" name="Shape 21"/>
          <p:cNvSpPr/>
          <p:nvPr/>
        </p:nvSpPr>
        <p:spPr>
          <a:xfrm>
            <a:off x="5029200" y="3273480"/>
            <a:ext cx="3885840" cy="621360"/>
          </a:xfrm>
          <a:prstGeom prst="rect">
            <a:avLst/>
          </a:prstGeom>
          <a:solidFill>
            <a:schemeClr val="bg1"/>
          </a:solidFill>
          <a:ln w="0"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28" name="Text 22"/>
          <p:cNvSpPr/>
          <p:nvPr/>
        </p:nvSpPr>
        <p:spPr>
          <a:xfrm>
            <a:off x="5029200" y="3273480"/>
            <a:ext cx="3885840" cy="621360"/>
          </a:xfrm>
          <a:prstGeom prst="rect">
            <a:avLst/>
          </a:prstGeom>
          <a:solidFill>
            <a:schemeClr val="bg1"/>
          </a:solidFill>
          <a:ln w="0"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50" b="1" strike="noStrike" spc="-1">
                <a:latin typeface="Calibri"/>
                <a:ea typeface="Calibri"/>
              </a:rPr>
              <a:t>Output</a:t>
            </a:r>
            <a:endParaRPr lang="en-US" sz="1050" b="0" strike="noStrike" spc="-1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50" b="1" strike="noStrike" spc="-1">
                <a:latin typeface="Calibri"/>
                <a:ea typeface="Calibri"/>
              </a:rPr>
              <a:t>256 → 3</a:t>
            </a:r>
            <a:endParaRPr lang="en-US" sz="1050" b="0" strike="noStrike" spc="-1">
              <a:latin typeface="Arial"/>
            </a:endParaRPr>
          </a:p>
        </p:txBody>
      </p:sp>
      <p:sp>
        <p:nvSpPr>
          <p:cNvPr id="229" name="Shape 23"/>
          <p:cNvSpPr/>
          <p:nvPr/>
        </p:nvSpPr>
        <p:spPr>
          <a:xfrm>
            <a:off x="0" y="4919400"/>
            <a:ext cx="9143640" cy="223560"/>
          </a:xfrm>
          <a:prstGeom prst="rect">
            <a:avLst/>
          </a:prstGeom>
          <a:solidFill>
            <a:srgbClr val="D9D9D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30" name="Text 24"/>
          <p:cNvSpPr/>
          <p:nvPr/>
        </p:nvSpPr>
        <p:spPr>
          <a:xfrm>
            <a:off x="0" y="4919400"/>
            <a:ext cx="9143640" cy="223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00" b="0" strike="noStrike" spc="-1">
                <a:solidFill>
                  <a:srgbClr val="808080"/>
                </a:solidFill>
                <a:latin typeface="Calibri"/>
                <a:ea typeface="Calibri"/>
              </a:rPr>
              <a:t>Department Of CSE  |  KGiSL Institute of Technology, Coimbatore</a:t>
            </a:r>
            <a:endParaRPr lang="en-US" sz="9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Shape 0"/>
          <p:cNvSpPr/>
          <p:nvPr/>
        </p:nvSpPr>
        <p:spPr>
          <a:xfrm>
            <a:off x="0" y="0"/>
            <a:ext cx="9143640" cy="502560"/>
          </a:xfrm>
          <a:prstGeom prst="rect">
            <a:avLst/>
          </a:prstGeom>
          <a:solidFill>
            <a:schemeClr val="bg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52" name="Text 1"/>
          <p:cNvSpPr/>
          <p:nvPr/>
        </p:nvSpPr>
        <p:spPr>
          <a:xfrm>
            <a:off x="228600" y="36720"/>
            <a:ext cx="7772040" cy="429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1" strike="noStrike" spc="-1" dirty="0">
                <a:latin typeface="Calibri"/>
                <a:ea typeface="Calibri"/>
              </a:rPr>
              <a:t>SYSTEM ARCHITECTURE</a:t>
            </a:r>
            <a:endParaRPr lang="en-US" sz="2000" b="0" strike="noStrike" spc="-1" dirty="0">
              <a:latin typeface="Arial"/>
            </a:endParaRPr>
          </a:p>
        </p:txBody>
      </p:sp>
      <p:sp>
        <p:nvSpPr>
          <p:cNvPr id="253" name="Text 2"/>
          <p:cNvSpPr/>
          <p:nvPr/>
        </p:nvSpPr>
        <p:spPr>
          <a:xfrm>
            <a:off x="8503920" y="36720"/>
            <a:ext cx="594000" cy="429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1" strike="noStrike" spc="-1">
                <a:solidFill>
                  <a:srgbClr val="FFFFFF"/>
                </a:solidFill>
                <a:latin typeface="Calibri"/>
              </a:rPr>
              <a:t>12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254" name="Text 3"/>
          <p:cNvSpPr/>
          <p:nvPr/>
        </p:nvSpPr>
        <p:spPr>
          <a:xfrm>
            <a:off x="228600" y="594360"/>
            <a:ext cx="868644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600" b="1" strike="noStrike" spc="-1">
                <a:solidFill>
                  <a:srgbClr val="1F3864"/>
                </a:solidFill>
                <a:latin typeface="Calibri"/>
                <a:ea typeface="Calibri"/>
              </a:rPr>
              <a:t>Overall Dual-Stream Deep Learning Framework</a:t>
            </a:r>
            <a:endParaRPr lang="en-US" sz="1600" b="0" strike="noStrike" spc="-1">
              <a:latin typeface="Arial"/>
            </a:endParaRPr>
          </a:p>
        </p:txBody>
      </p:sp>
      <p:sp>
        <p:nvSpPr>
          <p:cNvPr id="255" name="Shape 4"/>
          <p:cNvSpPr/>
          <p:nvPr/>
        </p:nvSpPr>
        <p:spPr>
          <a:xfrm>
            <a:off x="228600" y="941760"/>
            <a:ext cx="8686440" cy="27000"/>
          </a:xfrm>
          <a:prstGeom prst="rect">
            <a:avLst/>
          </a:prstGeom>
          <a:solidFill>
            <a:srgbClr val="2E74B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56" name="Text 5"/>
          <p:cNvSpPr/>
          <p:nvPr/>
        </p:nvSpPr>
        <p:spPr>
          <a:xfrm>
            <a:off x="274320" y="1170720"/>
            <a:ext cx="8595000" cy="33514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50000"/>
              </a:lnSpc>
            </a:pPr>
            <a:r>
              <a:rPr lang="en-US" sz="11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➢  The system follows a </a:t>
            </a:r>
            <a:r>
              <a:rPr lang="en-US" sz="1100" b="1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dual-stream deep learning approach</a:t>
            </a:r>
            <a:r>
              <a:rPr lang="en-US" sz="11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— two transformer models analyze the same mammogram image in parallel.</a:t>
            </a:r>
            <a:endParaRPr lang="en-US" sz="1100" b="0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400"/>
              </a:spcAft>
              <a:buNone/>
              <a:tabLst>
                <a:tab pos="0" algn="l"/>
              </a:tabLst>
            </a:pPr>
            <a:endParaRPr lang="en-US" sz="1100" b="0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400"/>
              </a:spcAft>
              <a:buNone/>
              <a:tabLst>
                <a:tab pos="0" algn="l"/>
              </a:tabLst>
            </a:pPr>
            <a:r>
              <a:rPr lang="en-US" sz="11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➢  </a:t>
            </a:r>
            <a:r>
              <a:rPr lang="en-US" sz="1100" b="1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Branch 1:</a:t>
            </a:r>
            <a:r>
              <a:rPr lang="en-US" sz="11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Captures global anatomical context of the breast (shape, density distribution, structural patterns).</a:t>
            </a:r>
            <a:endParaRPr lang="en-US" sz="1100" b="0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400"/>
              </a:spcAft>
              <a:buNone/>
              <a:tabLst>
                <a:tab pos="0" algn="l"/>
              </a:tabLst>
            </a:pPr>
            <a:endParaRPr lang="en-US" sz="1100" b="0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400"/>
              </a:spcAft>
              <a:buNone/>
              <a:tabLst>
                <a:tab pos="0" algn="l"/>
              </a:tabLst>
            </a:pPr>
            <a:r>
              <a:rPr lang="en-US" sz="11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➢  </a:t>
            </a:r>
            <a:r>
              <a:rPr lang="en-US" sz="1100" b="1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Branch 2:</a:t>
            </a:r>
            <a:r>
              <a:rPr lang="en-US" sz="11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Extracts fine-grained local texture features (microcalcifications, irregular margins, tissue distortions).</a:t>
            </a:r>
            <a:endParaRPr lang="en-US" sz="1100" b="0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400"/>
              </a:spcAft>
              <a:buNone/>
              <a:tabLst>
                <a:tab pos="0" algn="l"/>
              </a:tabLst>
            </a:pPr>
            <a:endParaRPr lang="en-US" sz="1100" b="0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400"/>
              </a:spcAft>
              <a:buNone/>
              <a:tabLst>
                <a:tab pos="0" algn="l"/>
              </a:tabLst>
            </a:pPr>
            <a:r>
              <a:rPr lang="en-US" sz="11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➢  Complementary representations are </a:t>
            </a:r>
            <a:r>
              <a:rPr lang="en-US" sz="1100" b="1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fused and passed to an MLP classifier</a:t>
            </a:r>
            <a:r>
              <a:rPr lang="en-US" sz="11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for 3-class mammogram categorization.</a:t>
            </a:r>
            <a:endParaRPr lang="en-US" sz="1100" b="0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400"/>
              </a:spcAft>
              <a:buNone/>
              <a:tabLst>
                <a:tab pos="0" algn="l"/>
              </a:tabLst>
            </a:pPr>
            <a:endParaRPr lang="en-US" sz="1100" b="0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400"/>
              </a:spcAft>
              <a:buNone/>
              <a:tabLst>
                <a:tab pos="0" algn="l"/>
              </a:tabLst>
            </a:pPr>
            <a:r>
              <a:rPr lang="en-US" sz="11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➢  The framework also integrates </a:t>
            </a:r>
            <a:r>
              <a:rPr lang="en-US" sz="1100" b="1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Grad-CAM attention maps</a:t>
            </a:r>
            <a:r>
              <a:rPr lang="en-US" sz="11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to highlight which regions influenced the classification decision.</a:t>
            </a:r>
            <a:endParaRPr lang="en-US" sz="1100" b="0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400"/>
              </a:spcAft>
              <a:buNone/>
              <a:tabLst>
                <a:tab pos="0" algn="l"/>
              </a:tabLst>
            </a:pPr>
            <a:endParaRPr lang="en-US" sz="1100" b="0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400"/>
              </a:spcAft>
              <a:buNone/>
              <a:tabLst>
                <a:tab pos="0" algn="l"/>
              </a:tabLst>
            </a:pPr>
            <a:r>
              <a:rPr lang="en-US" sz="11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➢  A </a:t>
            </a:r>
            <a:r>
              <a:rPr lang="en-US" sz="1100" b="1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Gemini</a:t>
            </a:r>
            <a:r>
              <a:rPr lang="en-US" sz="1100" b="1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LLM module</a:t>
            </a:r>
            <a:r>
              <a:rPr lang="en-US" sz="11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generates natural-language clinical recommendations based on model predictions and Grad-CAM outputs.</a:t>
            </a:r>
            <a:endParaRPr lang="en-US" sz="1100" b="0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7" name="Shape 6"/>
          <p:cNvSpPr/>
          <p:nvPr/>
        </p:nvSpPr>
        <p:spPr>
          <a:xfrm>
            <a:off x="0" y="4919400"/>
            <a:ext cx="9143640" cy="223560"/>
          </a:xfrm>
          <a:prstGeom prst="rect">
            <a:avLst/>
          </a:prstGeom>
          <a:solidFill>
            <a:srgbClr val="D9D9D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58" name="Text 7"/>
          <p:cNvSpPr/>
          <p:nvPr/>
        </p:nvSpPr>
        <p:spPr>
          <a:xfrm>
            <a:off x="0" y="4919400"/>
            <a:ext cx="9143640" cy="223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00" b="0" strike="noStrike" spc="-1">
                <a:solidFill>
                  <a:srgbClr val="808080"/>
                </a:solidFill>
                <a:latin typeface="Calibri"/>
                <a:ea typeface="Calibri"/>
              </a:rPr>
              <a:t>Department Of CSE  |  KGiSL Institute of Technology, Coimbatore</a:t>
            </a:r>
            <a:endParaRPr lang="en-US" sz="9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Shape 1"/>
          <p:cNvSpPr/>
          <p:nvPr/>
        </p:nvSpPr>
        <p:spPr>
          <a:xfrm>
            <a:off x="0" y="0"/>
            <a:ext cx="9143640" cy="502560"/>
          </a:xfrm>
          <a:prstGeom prst="rect">
            <a:avLst/>
          </a:prstGeom>
          <a:solidFill>
            <a:schemeClr val="bg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60" name="Text 29"/>
          <p:cNvSpPr/>
          <p:nvPr/>
        </p:nvSpPr>
        <p:spPr>
          <a:xfrm>
            <a:off x="228600" y="36720"/>
            <a:ext cx="7772040" cy="429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1" strike="noStrike" spc="-1" dirty="0">
                <a:latin typeface="Calibri"/>
                <a:ea typeface="Calibri"/>
              </a:rPr>
              <a:t>SYSTEM ARCHITECTURE</a:t>
            </a:r>
            <a:endParaRPr lang="en-US" sz="2000" b="0" strike="noStrike" spc="-1" dirty="0">
              <a:latin typeface="Arial"/>
            </a:endParaRPr>
          </a:p>
        </p:txBody>
      </p:sp>
      <p:sp>
        <p:nvSpPr>
          <p:cNvPr id="261" name="Text 31"/>
          <p:cNvSpPr/>
          <p:nvPr/>
        </p:nvSpPr>
        <p:spPr>
          <a:xfrm>
            <a:off x="8503920" y="36720"/>
            <a:ext cx="594000" cy="429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1" strike="noStrike" spc="-1">
                <a:solidFill>
                  <a:srgbClr val="FFFFFF"/>
                </a:solidFill>
                <a:latin typeface="Calibri"/>
              </a:rPr>
              <a:t>13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262" name="Text 32"/>
          <p:cNvSpPr/>
          <p:nvPr/>
        </p:nvSpPr>
        <p:spPr>
          <a:xfrm>
            <a:off x="228600" y="594360"/>
            <a:ext cx="868644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600" b="1" strike="noStrike" spc="-1">
                <a:solidFill>
                  <a:srgbClr val="1F3864"/>
                </a:solidFill>
                <a:latin typeface="Calibri"/>
                <a:ea typeface="Calibri"/>
              </a:rPr>
              <a:t>Overall Dual-Stream Deep Learning Flow Diagram</a:t>
            </a:r>
            <a:endParaRPr lang="en-US" sz="1600" b="0" strike="noStrike" spc="-1">
              <a:latin typeface="Arial"/>
            </a:endParaRPr>
          </a:p>
        </p:txBody>
      </p:sp>
      <p:sp>
        <p:nvSpPr>
          <p:cNvPr id="263" name="Shape 2"/>
          <p:cNvSpPr/>
          <p:nvPr/>
        </p:nvSpPr>
        <p:spPr>
          <a:xfrm>
            <a:off x="228600" y="941760"/>
            <a:ext cx="8686440" cy="27000"/>
          </a:xfrm>
          <a:prstGeom prst="rect">
            <a:avLst/>
          </a:prstGeom>
          <a:solidFill>
            <a:srgbClr val="2E74B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64" name="Text 33"/>
          <p:cNvSpPr/>
          <p:nvPr/>
        </p:nvSpPr>
        <p:spPr>
          <a:xfrm>
            <a:off x="274320" y="1024200"/>
            <a:ext cx="8595000" cy="374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r>
              <a:rPr lang="en-US" sz="1100" b="0" strike="noStrike" spc="-1" dirty="0">
                <a:solidFill>
                  <a:srgbClr val="000000"/>
                </a:solidFill>
                <a:latin typeface="Calibri"/>
                <a:ea typeface="Calibri"/>
              </a:rPr>
              <a:t> </a:t>
            </a:r>
            <a:endParaRPr lang="en-US" sz="110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  <a:tabLst>
                <a:tab pos="0" algn="l"/>
              </a:tabLst>
            </a:pPr>
            <a:endParaRPr lang="en-US" sz="1100" b="0" strike="noStrike" spc="-1" dirty="0">
              <a:latin typeface="Arial"/>
            </a:endParaRPr>
          </a:p>
        </p:txBody>
      </p:sp>
      <p:sp>
        <p:nvSpPr>
          <p:cNvPr id="265" name="Shape 7"/>
          <p:cNvSpPr/>
          <p:nvPr/>
        </p:nvSpPr>
        <p:spPr>
          <a:xfrm>
            <a:off x="0" y="4919400"/>
            <a:ext cx="9143640" cy="223560"/>
          </a:xfrm>
          <a:prstGeom prst="rect">
            <a:avLst/>
          </a:prstGeom>
          <a:solidFill>
            <a:srgbClr val="D9D9D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66" name="Text 34"/>
          <p:cNvSpPr/>
          <p:nvPr/>
        </p:nvSpPr>
        <p:spPr>
          <a:xfrm>
            <a:off x="0" y="4919400"/>
            <a:ext cx="9143640" cy="223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00" b="0" strike="noStrike" spc="-1">
                <a:solidFill>
                  <a:srgbClr val="808080"/>
                </a:solidFill>
                <a:latin typeface="Calibri"/>
                <a:ea typeface="Calibri"/>
              </a:rPr>
              <a:t>Department Of CSE  |  KGiSL Institute of Technology, Coimbatore</a:t>
            </a:r>
            <a:endParaRPr lang="en-US" sz="900" b="0" strike="noStrike" spc="-1">
              <a:latin typeface="Arial"/>
            </a:endParaRPr>
          </a:p>
        </p:txBody>
      </p:sp>
      <p:sp>
        <p:nvSpPr>
          <p:cNvPr id="267" name="TextBox 266"/>
          <p:cNvSpPr txBox="1"/>
          <p:nvPr/>
        </p:nvSpPr>
        <p:spPr>
          <a:xfrm>
            <a:off x="1828800" y="1024200"/>
            <a:ext cx="5715000" cy="3808440"/>
          </a:xfrm>
          <a:prstGeom prst="rect">
            <a:avLst/>
          </a:prstGeom>
          <a:blipFill rotWithShape="0">
            <a:blip r:embed="rId3"/>
            <a:stretch/>
          </a:blipFill>
          <a:ln w="0">
            <a:noFill/>
          </a:ln>
        </p:spPr>
        <p:txBody>
          <a:bodyPr lIns="90000" tIns="45000" rIns="90000" bIns="45000" anchor="ctr" anchorCtr="1">
            <a:noAutofit/>
          </a:bodyPr>
          <a:lstStyle/>
          <a:p>
            <a:pPr algn="ctr">
              <a:buNone/>
            </a:pPr>
            <a:r>
              <a:rPr lang="en-US" sz="1800" b="0" strike="noStrike" spc="-1">
                <a:latin typeface="Arial"/>
              </a:rPr>
              <a:t> 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Shape 0"/>
          <p:cNvSpPr/>
          <p:nvPr/>
        </p:nvSpPr>
        <p:spPr>
          <a:xfrm>
            <a:off x="0" y="0"/>
            <a:ext cx="9143640" cy="502560"/>
          </a:xfrm>
          <a:prstGeom prst="rect">
            <a:avLst/>
          </a:prstGeom>
          <a:solidFill>
            <a:schemeClr val="bg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69" name="Text 1"/>
          <p:cNvSpPr/>
          <p:nvPr/>
        </p:nvSpPr>
        <p:spPr>
          <a:xfrm>
            <a:off x="228600" y="36720"/>
            <a:ext cx="7772040" cy="429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1" strike="noStrike" spc="-1" dirty="0">
                <a:latin typeface="Calibri"/>
                <a:ea typeface="Calibri"/>
              </a:rPr>
              <a:t>TRAINING AND OPTIMIZATION</a:t>
            </a:r>
            <a:endParaRPr lang="en-US" sz="2000" b="0" strike="noStrike" spc="-1" dirty="0">
              <a:latin typeface="Arial"/>
            </a:endParaRPr>
          </a:p>
        </p:txBody>
      </p:sp>
      <p:sp>
        <p:nvSpPr>
          <p:cNvPr id="270" name="Text 2"/>
          <p:cNvSpPr/>
          <p:nvPr/>
        </p:nvSpPr>
        <p:spPr>
          <a:xfrm>
            <a:off x="8503920" y="36720"/>
            <a:ext cx="594000" cy="429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1" strike="noStrike" spc="-1">
                <a:solidFill>
                  <a:srgbClr val="FFFFFF"/>
                </a:solidFill>
                <a:latin typeface="Calibri"/>
              </a:rPr>
              <a:t>13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271" name="Text 3"/>
          <p:cNvSpPr/>
          <p:nvPr/>
        </p:nvSpPr>
        <p:spPr>
          <a:xfrm>
            <a:off x="228600" y="484200"/>
            <a:ext cx="868644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600" b="1" strike="noStrike" spc="-1" dirty="0">
                <a:solidFill>
                  <a:srgbClr val="1F3864"/>
                </a:solidFill>
                <a:latin typeface="Calibri"/>
                <a:ea typeface="Calibri"/>
              </a:rPr>
              <a:t>Training Configuration and Hyperparameters</a:t>
            </a:r>
            <a:endParaRPr lang="en-US" sz="1600" b="0" strike="noStrike" spc="-1" dirty="0">
              <a:latin typeface="Arial"/>
            </a:endParaRPr>
          </a:p>
        </p:txBody>
      </p:sp>
      <p:sp>
        <p:nvSpPr>
          <p:cNvPr id="272" name="Shape 4"/>
          <p:cNvSpPr/>
          <p:nvPr/>
        </p:nvSpPr>
        <p:spPr>
          <a:xfrm>
            <a:off x="228600" y="813420"/>
            <a:ext cx="8686440" cy="27000"/>
          </a:xfrm>
          <a:prstGeom prst="rect">
            <a:avLst/>
          </a:prstGeom>
          <a:solidFill>
            <a:srgbClr val="2E74B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73" name="Text 5"/>
          <p:cNvSpPr/>
          <p:nvPr/>
        </p:nvSpPr>
        <p:spPr>
          <a:xfrm>
            <a:off x="274320" y="1024200"/>
            <a:ext cx="4571640" cy="374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50000"/>
              </a:lnSpc>
              <a:buNone/>
            </a:pPr>
            <a:endParaRPr lang="en-US" sz="11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1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➢  Trained using </a:t>
            </a:r>
            <a:r>
              <a:rPr lang="en-US" sz="1100" b="1" strike="noStrike" spc="-1" dirty="0" err="1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AdamW</a:t>
            </a:r>
            <a:r>
              <a:rPr lang="en-US" sz="1100" b="1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optimizer</a:t>
            </a:r>
            <a:r>
              <a:rPr lang="en-US" sz="11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— effectively handles weight decay in transformer models by separating it from gradient updates.</a:t>
            </a:r>
            <a:endParaRPr lang="en-US" sz="1100" b="0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400"/>
              </a:spcAft>
              <a:buNone/>
              <a:tabLst>
                <a:tab pos="0" algn="l"/>
              </a:tabLst>
            </a:pPr>
            <a:r>
              <a:rPr lang="en-US" sz="11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➢  Initial </a:t>
            </a:r>
            <a:r>
              <a:rPr lang="en-US" sz="1100" b="1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learning rate: 3 × 10⁻⁴</a:t>
            </a:r>
            <a:r>
              <a:rPr lang="en-US" sz="11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with a cosine annealing scheduler that gradually reduces the learning rate during training.</a:t>
            </a:r>
            <a:endParaRPr lang="en-US" sz="1100" b="0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400"/>
              </a:spcAft>
              <a:buNone/>
              <a:tabLst>
                <a:tab pos="0" algn="l"/>
              </a:tabLst>
            </a:pPr>
            <a:r>
              <a:rPr lang="en-US" sz="11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➢  </a:t>
            </a:r>
            <a:r>
              <a:rPr lang="en-US" sz="1100" b="1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35 epochs</a:t>
            </a:r>
            <a:r>
              <a:rPr lang="en-US" sz="11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of full training with validation monitoring; effective batch size of 16 using gradient accumulation.</a:t>
            </a:r>
            <a:endParaRPr lang="en-US" sz="1100" b="0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400"/>
              </a:spcAft>
              <a:buNone/>
              <a:tabLst>
                <a:tab pos="0" algn="l"/>
              </a:tabLst>
            </a:pPr>
            <a:r>
              <a:rPr lang="en-US" sz="11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➢  Optimization uses </a:t>
            </a:r>
            <a:r>
              <a:rPr lang="en-US" sz="1100" b="1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cross-entropy loss</a:t>
            </a:r>
            <a:r>
              <a:rPr lang="en-US" sz="11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— measures the difference between predicted class probabilities and ground-truth labels.</a:t>
            </a:r>
            <a:endParaRPr lang="en-US" sz="1100" b="0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400"/>
              </a:spcAft>
              <a:buNone/>
              <a:tabLst>
                <a:tab pos="0" algn="l"/>
              </a:tabLst>
            </a:pPr>
            <a:r>
              <a:rPr lang="en-US" sz="11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➢  </a:t>
            </a:r>
            <a:r>
              <a:rPr lang="en-US" sz="1100" b="1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Dropout(0.5)</a:t>
            </a:r>
            <a:r>
              <a:rPr lang="en-US" sz="11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in the MLP head and frozen pretrained layers together prevent overfitting on the limited medical dataset.</a:t>
            </a:r>
            <a:endParaRPr lang="en-US" sz="1100" b="0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400"/>
              </a:spcAft>
              <a:buNone/>
              <a:tabLst>
                <a:tab pos="0" algn="l"/>
              </a:tabLst>
            </a:pPr>
            <a:r>
              <a:rPr lang="en-US" sz="11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➢  GPU memory limitations are addressed through </a:t>
            </a:r>
            <a:r>
              <a:rPr lang="en-US" sz="1100" b="1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gradient accumulation</a:t>
            </a:r>
            <a:r>
              <a:rPr lang="en-US" sz="11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to simulate larger effective batch sizes per optimization step.</a:t>
            </a:r>
            <a:endParaRPr lang="en-US" sz="1100" b="0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4" name="Shape 6"/>
          <p:cNvSpPr/>
          <p:nvPr/>
        </p:nvSpPr>
        <p:spPr>
          <a:xfrm>
            <a:off x="5029200" y="1024200"/>
            <a:ext cx="3885840" cy="365400"/>
          </a:xfrm>
          <a:prstGeom prst="rect">
            <a:avLst/>
          </a:prstGeom>
          <a:solidFill>
            <a:schemeClr val="bg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75" name="Text 7"/>
          <p:cNvSpPr/>
          <p:nvPr/>
        </p:nvSpPr>
        <p:spPr>
          <a:xfrm>
            <a:off x="5029200" y="1024200"/>
            <a:ext cx="3885840" cy="365400"/>
          </a:xfrm>
          <a:prstGeom prst="rect">
            <a:avLst/>
          </a:prstGeom>
          <a:solidFill>
            <a:schemeClr val="bg1"/>
          </a:solidFill>
          <a:ln w="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0" b="1" strike="noStrike" spc="-1" dirty="0">
                <a:latin typeface="Calibri"/>
              </a:rPr>
              <a:t>Training Configuration</a:t>
            </a:r>
            <a:endParaRPr lang="en-US" sz="1100" b="0" strike="noStrike" spc="-1" dirty="0">
              <a:latin typeface="Arial"/>
            </a:endParaRPr>
          </a:p>
        </p:txBody>
      </p:sp>
      <p:sp>
        <p:nvSpPr>
          <p:cNvPr id="276" name="Shape 8"/>
          <p:cNvSpPr/>
          <p:nvPr/>
        </p:nvSpPr>
        <p:spPr>
          <a:xfrm>
            <a:off x="5029200" y="1389960"/>
            <a:ext cx="3885840" cy="4752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77" name="Text 9"/>
          <p:cNvSpPr/>
          <p:nvPr/>
        </p:nvSpPr>
        <p:spPr>
          <a:xfrm>
            <a:off x="5074920" y="1408320"/>
            <a:ext cx="1737000" cy="438480"/>
          </a:xfrm>
          <a:prstGeom prst="rect">
            <a:avLst/>
          </a:prstGeom>
          <a:solidFill>
            <a:schemeClr val="bg1"/>
          </a:solidFill>
          <a:ln w="0">
            <a:solidFill>
              <a:schemeClr val="bg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50" b="1" strike="noStrike" spc="-1" dirty="0">
                <a:latin typeface="Calibri"/>
                <a:ea typeface="Calibri"/>
              </a:rPr>
              <a:t>Optimizer</a:t>
            </a:r>
            <a:endParaRPr lang="en-US" sz="1050" b="1" strike="noStrike" spc="-1" dirty="0">
              <a:latin typeface="Arial"/>
            </a:endParaRPr>
          </a:p>
        </p:txBody>
      </p:sp>
      <p:sp>
        <p:nvSpPr>
          <p:cNvPr id="278" name="Text 10"/>
          <p:cNvSpPr/>
          <p:nvPr/>
        </p:nvSpPr>
        <p:spPr>
          <a:xfrm>
            <a:off x="6858000" y="1408320"/>
            <a:ext cx="2011320" cy="438480"/>
          </a:xfrm>
          <a:prstGeom prst="rect">
            <a:avLst/>
          </a:prstGeom>
          <a:solidFill>
            <a:schemeClr val="bg1"/>
          </a:solidFill>
          <a:ln w="0">
            <a:solidFill>
              <a:schemeClr val="bg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50" strike="noStrike" spc="-1" dirty="0" err="1">
                <a:solidFill>
                  <a:srgbClr val="000000"/>
                </a:solidFill>
                <a:latin typeface="Calibri"/>
                <a:ea typeface="Calibri"/>
              </a:rPr>
              <a:t>AdamW</a:t>
            </a:r>
            <a:endParaRPr lang="en-US" sz="1050" strike="noStrike" spc="-1" dirty="0">
              <a:latin typeface="Arial"/>
            </a:endParaRPr>
          </a:p>
        </p:txBody>
      </p:sp>
      <p:sp>
        <p:nvSpPr>
          <p:cNvPr id="279" name="Shape 11"/>
          <p:cNvSpPr/>
          <p:nvPr/>
        </p:nvSpPr>
        <p:spPr>
          <a:xfrm>
            <a:off x="5029200" y="1865520"/>
            <a:ext cx="3885840" cy="4752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80" name="Text 12"/>
          <p:cNvSpPr/>
          <p:nvPr/>
        </p:nvSpPr>
        <p:spPr>
          <a:xfrm>
            <a:off x="5074920" y="1883520"/>
            <a:ext cx="1737000" cy="438480"/>
          </a:xfrm>
          <a:prstGeom prst="rect">
            <a:avLst/>
          </a:prstGeom>
          <a:solidFill>
            <a:schemeClr val="bg1"/>
          </a:solidFill>
          <a:ln w="0">
            <a:solidFill>
              <a:schemeClr val="bg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50" b="1" strike="noStrike" spc="-1" dirty="0">
                <a:latin typeface="Calibri"/>
                <a:ea typeface="Calibri"/>
              </a:rPr>
              <a:t>Learning Rate</a:t>
            </a:r>
            <a:endParaRPr lang="en-US" sz="1050" b="1" strike="noStrike" spc="-1" dirty="0">
              <a:latin typeface="Arial"/>
            </a:endParaRPr>
          </a:p>
        </p:txBody>
      </p:sp>
      <p:sp>
        <p:nvSpPr>
          <p:cNvPr id="281" name="Text 13"/>
          <p:cNvSpPr/>
          <p:nvPr/>
        </p:nvSpPr>
        <p:spPr>
          <a:xfrm>
            <a:off x="6858000" y="1883520"/>
            <a:ext cx="2011320" cy="438480"/>
          </a:xfrm>
          <a:prstGeom prst="rect">
            <a:avLst/>
          </a:prstGeom>
          <a:solidFill>
            <a:schemeClr val="bg1"/>
          </a:solidFill>
          <a:ln w="0">
            <a:solidFill>
              <a:schemeClr val="bg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50" b="0" strike="noStrike" spc="-1" dirty="0">
                <a:solidFill>
                  <a:srgbClr val="000000"/>
                </a:solidFill>
                <a:latin typeface="Calibri"/>
                <a:ea typeface="Calibri"/>
              </a:rPr>
              <a:t>3 × 10⁻⁴</a:t>
            </a:r>
            <a:endParaRPr lang="en-US" sz="1050" b="0" strike="noStrike" spc="-1" dirty="0">
              <a:latin typeface="Arial"/>
            </a:endParaRPr>
          </a:p>
        </p:txBody>
      </p:sp>
      <p:sp>
        <p:nvSpPr>
          <p:cNvPr id="282" name="Shape 14"/>
          <p:cNvSpPr/>
          <p:nvPr/>
        </p:nvSpPr>
        <p:spPr>
          <a:xfrm>
            <a:off x="5029200" y="2340720"/>
            <a:ext cx="3885840" cy="4752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83" name="Text 15"/>
          <p:cNvSpPr/>
          <p:nvPr/>
        </p:nvSpPr>
        <p:spPr>
          <a:xfrm>
            <a:off x="5074920" y="2359080"/>
            <a:ext cx="1737000" cy="438480"/>
          </a:xfrm>
          <a:prstGeom prst="rect">
            <a:avLst/>
          </a:prstGeom>
          <a:solidFill>
            <a:schemeClr val="bg1"/>
          </a:solidFill>
          <a:ln w="0">
            <a:solidFill>
              <a:schemeClr val="bg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50" b="1" strike="noStrike" spc="-1" dirty="0">
                <a:latin typeface="Calibri"/>
                <a:ea typeface="Calibri"/>
              </a:rPr>
              <a:t>Scheduler</a:t>
            </a:r>
            <a:endParaRPr lang="en-US" sz="1050" b="0" strike="noStrike" spc="-1" dirty="0">
              <a:latin typeface="Arial"/>
            </a:endParaRPr>
          </a:p>
        </p:txBody>
      </p:sp>
      <p:sp>
        <p:nvSpPr>
          <p:cNvPr id="284" name="Text 16"/>
          <p:cNvSpPr/>
          <p:nvPr/>
        </p:nvSpPr>
        <p:spPr>
          <a:xfrm>
            <a:off x="6858000" y="2359080"/>
            <a:ext cx="2011320" cy="438480"/>
          </a:xfrm>
          <a:prstGeom prst="rect">
            <a:avLst/>
          </a:prstGeom>
          <a:solidFill>
            <a:schemeClr val="bg1"/>
          </a:solidFill>
          <a:ln w="0">
            <a:solidFill>
              <a:schemeClr val="bg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50" b="0" strike="noStrike" spc="-1" dirty="0">
                <a:solidFill>
                  <a:srgbClr val="000000"/>
                </a:solidFill>
                <a:latin typeface="Calibri"/>
                <a:ea typeface="Calibri"/>
              </a:rPr>
              <a:t>Cosine Annealing</a:t>
            </a:r>
            <a:endParaRPr lang="en-US" sz="1050" b="0" strike="noStrike" spc="-1" dirty="0">
              <a:latin typeface="Arial"/>
            </a:endParaRPr>
          </a:p>
        </p:txBody>
      </p:sp>
      <p:sp>
        <p:nvSpPr>
          <p:cNvPr id="285" name="Shape 17"/>
          <p:cNvSpPr/>
          <p:nvPr/>
        </p:nvSpPr>
        <p:spPr>
          <a:xfrm>
            <a:off x="5029200" y="2816280"/>
            <a:ext cx="3885840" cy="4752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86" name="Text 18"/>
          <p:cNvSpPr/>
          <p:nvPr/>
        </p:nvSpPr>
        <p:spPr>
          <a:xfrm>
            <a:off x="5074920" y="2834640"/>
            <a:ext cx="1737000" cy="438480"/>
          </a:xfrm>
          <a:prstGeom prst="rect">
            <a:avLst/>
          </a:prstGeom>
          <a:solidFill>
            <a:schemeClr val="bg1"/>
          </a:solidFill>
          <a:ln w="0">
            <a:solidFill>
              <a:schemeClr val="bg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50" b="1" strike="noStrike" spc="-1" dirty="0">
                <a:latin typeface="Calibri"/>
                <a:ea typeface="Calibri"/>
              </a:rPr>
              <a:t>Epochs</a:t>
            </a:r>
            <a:endParaRPr lang="en-US" sz="1050" b="0" strike="noStrike" spc="-1" dirty="0">
              <a:latin typeface="Arial"/>
            </a:endParaRPr>
          </a:p>
        </p:txBody>
      </p:sp>
      <p:sp>
        <p:nvSpPr>
          <p:cNvPr id="287" name="Text 19"/>
          <p:cNvSpPr/>
          <p:nvPr/>
        </p:nvSpPr>
        <p:spPr>
          <a:xfrm>
            <a:off x="6858000" y="2834640"/>
            <a:ext cx="2011320" cy="438480"/>
          </a:xfrm>
          <a:prstGeom prst="rect">
            <a:avLst/>
          </a:prstGeom>
          <a:solidFill>
            <a:schemeClr val="bg1"/>
          </a:solidFill>
          <a:ln w="0">
            <a:solidFill>
              <a:schemeClr val="bg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50" b="0" strike="noStrike" spc="-1">
                <a:solidFill>
                  <a:srgbClr val="000000"/>
                </a:solidFill>
                <a:latin typeface="Calibri"/>
                <a:ea typeface="Calibri"/>
              </a:rPr>
              <a:t>35</a:t>
            </a:r>
            <a:endParaRPr lang="en-US" sz="1050" b="0" strike="noStrike" spc="-1">
              <a:latin typeface="Arial"/>
            </a:endParaRPr>
          </a:p>
        </p:txBody>
      </p:sp>
      <p:sp>
        <p:nvSpPr>
          <p:cNvPr id="288" name="Shape 20"/>
          <p:cNvSpPr/>
          <p:nvPr/>
        </p:nvSpPr>
        <p:spPr>
          <a:xfrm>
            <a:off x="5029200" y="3291840"/>
            <a:ext cx="3885840" cy="4752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89" name="Text 21"/>
          <p:cNvSpPr/>
          <p:nvPr/>
        </p:nvSpPr>
        <p:spPr>
          <a:xfrm>
            <a:off x="5074920" y="3310200"/>
            <a:ext cx="1737000" cy="438480"/>
          </a:xfrm>
          <a:prstGeom prst="rect">
            <a:avLst/>
          </a:prstGeom>
          <a:solidFill>
            <a:schemeClr val="bg1"/>
          </a:solidFill>
          <a:ln w="0">
            <a:solidFill>
              <a:schemeClr val="bg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50" b="1" strike="noStrike" spc="-1" dirty="0">
                <a:latin typeface="Calibri"/>
                <a:ea typeface="Calibri"/>
              </a:rPr>
              <a:t>Batch Size (eff.)</a:t>
            </a:r>
            <a:endParaRPr lang="en-US" sz="1050" b="0" strike="noStrike" spc="-1" dirty="0">
              <a:latin typeface="Arial"/>
            </a:endParaRPr>
          </a:p>
        </p:txBody>
      </p:sp>
      <p:sp>
        <p:nvSpPr>
          <p:cNvPr id="290" name="Text 22"/>
          <p:cNvSpPr/>
          <p:nvPr/>
        </p:nvSpPr>
        <p:spPr>
          <a:xfrm>
            <a:off x="6858000" y="3310200"/>
            <a:ext cx="2011320" cy="438480"/>
          </a:xfrm>
          <a:prstGeom prst="rect">
            <a:avLst/>
          </a:prstGeom>
          <a:solidFill>
            <a:schemeClr val="bg1"/>
          </a:solidFill>
          <a:ln w="0">
            <a:solidFill>
              <a:schemeClr val="bg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50" b="0" strike="noStrike" spc="-1">
                <a:solidFill>
                  <a:srgbClr val="000000"/>
                </a:solidFill>
                <a:latin typeface="Calibri"/>
                <a:ea typeface="Calibri"/>
              </a:rPr>
              <a:t>16</a:t>
            </a:r>
            <a:endParaRPr lang="en-US" sz="1050" b="0" strike="noStrike" spc="-1">
              <a:latin typeface="Arial"/>
            </a:endParaRPr>
          </a:p>
        </p:txBody>
      </p:sp>
      <p:sp>
        <p:nvSpPr>
          <p:cNvPr id="291" name="Shape 23"/>
          <p:cNvSpPr/>
          <p:nvPr/>
        </p:nvSpPr>
        <p:spPr>
          <a:xfrm>
            <a:off x="5029200" y="3767400"/>
            <a:ext cx="3885840" cy="4752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92" name="Text 24"/>
          <p:cNvSpPr/>
          <p:nvPr/>
        </p:nvSpPr>
        <p:spPr>
          <a:xfrm>
            <a:off x="5074920" y="3785760"/>
            <a:ext cx="1737000" cy="438480"/>
          </a:xfrm>
          <a:prstGeom prst="rect">
            <a:avLst/>
          </a:prstGeom>
          <a:solidFill>
            <a:schemeClr val="bg1"/>
          </a:solidFill>
          <a:ln w="0">
            <a:solidFill>
              <a:schemeClr val="bg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50" b="1" strike="noStrike" spc="-1" dirty="0">
                <a:latin typeface="Calibri"/>
                <a:ea typeface="Calibri"/>
              </a:rPr>
              <a:t>Loss Function</a:t>
            </a:r>
            <a:endParaRPr lang="en-US" sz="1050" b="0" strike="noStrike" spc="-1" dirty="0">
              <a:latin typeface="Arial"/>
            </a:endParaRPr>
          </a:p>
        </p:txBody>
      </p:sp>
      <p:sp>
        <p:nvSpPr>
          <p:cNvPr id="293" name="Text 25"/>
          <p:cNvSpPr/>
          <p:nvPr/>
        </p:nvSpPr>
        <p:spPr>
          <a:xfrm>
            <a:off x="6858000" y="3785760"/>
            <a:ext cx="2011320" cy="438480"/>
          </a:xfrm>
          <a:prstGeom prst="rect">
            <a:avLst/>
          </a:prstGeom>
          <a:solidFill>
            <a:schemeClr val="bg1"/>
          </a:solidFill>
          <a:ln w="0">
            <a:solidFill>
              <a:schemeClr val="bg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50" b="0" strike="noStrike" spc="-1">
                <a:solidFill>
                  <a:srgbClr val="000000"/>
                </a:solidFill>
                <a:latin typeface="Calibri"/>
                <a:ea typeface="Calibri"/>
              </a:rPr>
              <a:t>Cross-Entropy</a:t>
            </a:r>
            <a:endParaRPr lang="en-US" sz="1050" b="0" strike="noStrike" spc="-1">
              <a:latin typeface="Arial"/>
            </a:endParaRPr>
          </a:p>
        </p:txBody>
      </p:sp>
      <p:sp>
        <p:nvSpPr>
          <p:cNvPr id="294" name="Shape 26"/>
          <p:cNvSpPr/>
          <p:nvPr/>
        </p:nvSpPr>
        <p:spPr>
          <a:xfrm>
            <a:off x="5029200" y="4242960"/>
            <a:ext cx="3885840" cy="4752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95" name="Text 27"/>
          <p:cNvSpPr/>
          <p:nvPr/>
        </p:nvSpPr>
        <p:spPr>
          <a:xfrm>
            <a:off x="5074920" y="4260960"/>
            <a:ext cx="1737000" cy="438480"/>
          </a:xfrm>
          <a:prstGeom prst="rect">
            <a:avLst/>
          </a:prstGeom>
          <a:solidFill>
            <a:schemeClr val="bg1"/>
          </a:solidFill>
          <a:ln w="0">
            <a:solidFill>
              <a:schemeClr val="bg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50" b="1" strike="noStrike" spc="-1" dirty="0">
                <a:latin typeface="Calibri"/>
                <a:ea typeface="Calibri"/>
              </a:rPr>
              <a:t>Regularization</a:t>
            </a:r>
            <a:endParaRPr lang="en-US" sz="1050" b="0" strike="noStrike" spc="-1" dirty="0">
              <a:latin typeface="Arial"/>
            </a:endParaRPr>
          </a:p>
        </p:txBody>
      </p:sp>
      <p:sp>
        <p:nvSpPr>
          <p:cNvPr id="296" name="Text 28"/>
          <p:cNvSpPr/>
          <p:nvPr/>
        </p:nvSpPr>
        <p:spPr>
          <a:xfrm>
            <a:off x="6858000" y="4260960"/>
            <a:ext cx="2011320" cy="438480"/>
          </a:xfrm>
          <a:prstGeom prst="rect">
            <a:avLst/>
          </a:prstGeom>
          <a:solidFill>
            <a:schemeClr val="bg1"/>
          </a:solidFill>
          <a:ln w="0">
            <a:solidFill>
              <a:schemeClr val="bg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50" b="0" strike="noStrike" spc="-1">
                <a:solidFill>
                  <a:srgbClr val="000000"/>
                </a:solidFill>
                <a:latin typeface="Calibri"/>
                <a:ea typeface="Calibri"/>
              </a:rPr>
              <a:t>Dropout 0.5</a:t>
            </a:r>
            <a:endParaRPr lang="en-US" sz="1050" b="0" strike="noStrike" spc="-1">
              <a:latin typeface="Arial"/>
            </a:endParaRPr>
          </a:p>
        </p:txBody>
      </p:sp>
      <p:sp>
        <p:nvSpPr>
          <p:cNvPr id="297" name="Shape 29"/>
          <p:cNvSpPr/>
          <p:nvPr/>
        </p:nvSpPr>
        <p:spPr>
          <a:xfrm>
            <a:off x="0" y="4919400"/>
            <a:ext cx="9143640" cy="223560"/>
          </a:xfrm>
          <a:prstGeom prst="rect">
            <a:avLst/>
          </a:prstGeom>
          <a:solidFill>
            <a:srgbClr val="D9D9D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98" name="Text 30"/>
          <p:cNvSpPr/>
          <p:nvPr/>
        </p:nvSpPr>
        <p:spPr>
          <a:xfrm>
            <a:off x="0" y="4919400"/>
            <a:ext cx="9143640" cy="223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00" b="0" strike="noStrike" spc="-1">
                <a:solidFill>
                  <a:srgbClr val="808080"/>
                </a:solidFill>
                <a:latin typeface="Calibri"/>
                <a:ea typeface="Calibri"/>
              </a:rPr>
              <a:t>Department Of CSE  |  KGiSL Institute of Technology, Coimbatore</a:t>
            </a:r>
            <a:endParaRPr lang="en-US" sz="900" b="0" strike="noStrike" spc="-1">
              <a:latin typeface="Arial"/>
            </a:endParaRPr>
          </a:p>
        </p:txBody>
      </p:sp>
      <p:sp>
        <p:nvSpPr>
          <p:cNvPr id="36" name="Shape 8">
            <a:extLst>
              <a:ext uri="{FF2B5EF4-FFF2-40B4-BE49-F238E27FC236}">
                <a16:creationId xmlns:a16="http://schemas.microsoft.com/office/drawing/2014/main" id="{FD65BF7B-5A9F-4EE8-B06A-D040E28D4514}"/>
              </a:ext>
            </a:extLst>
          </p:cNvPr>
          <p:cNvSpPr/>
          <p:nvPr/>
        </p:nvSpPr>
        <p:spPr>
          <a:xfrm>
            <a:off x="5029200" y="914760"/>
            <a:ext cx="3885840" cy="4752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pPr algn="ctr"/>
            <a:r>
              <a:rPr lang="en-US" sz="1100" b="1" spc="-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Training Configuration</a:t>
            </a:r>
            <a:endParaRPr lang="en-US" sz="1100" spc="-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endParaRPr lang="en-IN" sz="1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8" name="Shape 8">
            <a:extLst>
              <a:ext uri="{FF2B5EF4-FFF2-40B4-BE49-F238E27FC236}">
                <a16:creationId xmlns:a16="http://schemas.microsoft.com/office/drawing/2014/main" id="{D850ACE0-650E-4627-A81F-BE99CF119C50}"/>
              </a:ext>
            </a:extLst>
          </p:cNvPr>
          <p:cNvSpPr/>
          <p:nvPr/>
        </p:nvSpPr>
        <p:spPr>
          <a:xfrm>
            <a:off x="5029200" y="923760"/>
            <a:ext cx="3885840" cy="4752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pPr algn="ctr">
              <a:lnSpc>
                <a:spcPct val="200000"/>
              </a:lnSpc>
            </a:pPr>
            <a:r>
              <a:rPr lang="en-US" sz="1100" b="1" spc="-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Training Configuration</a:t>
            </a:r>
            <a:endParaRPr lang="en-US" sz="1100" spc="-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>
              <a:lnSpc>
                <a:spcPct val="200000"/>
              </a:lnSpc>
            </a:pPr>
            <a:endParaRPr lang="en-IN" sz="1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Shape 0"/>
          <p:cNvSpPr/>
          <p:nvPr/>
        </p:nvSpPr>
        <p:spPr>
          <a:xfrm>
            <a:off x="0" y="0"/>
            <a:ext cx="9143640" cy="502560"/>
          </a:xfrm>
          <a:prstGeom prst="rect">
            <a:avLst/>
          </a:prstGeom>
          <a:solidFill>
            <a:schemeClr val="bg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15" name="Text 1"/>
          <p:cNvSpPr/>
          <p:nvPr/>
        </p:nvSpPr>
        <p:spPr>
          <a:xfrm>
            <a:off x="228600" y="36720"/>
            <a:ext cx="7772040" cy="429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1" strike="noStrike" spc="-1" dirty="0">
                <a:latin typeface="Calibri"/>
                <a:ea typeface="Calibri"/>
              </a:rPr>
              <a:t>GRAD-CAM ATTENTION &amp; INTERPRETABILITY MODULE</a:t>
            </a:r>
            <a:endParaRPr lang="en-US" sz="2000" b="0" strike="noStrike" spc="-1" dirty="0">
              <a:latin typeface="Arial"/>
            </a:endParaRPr>
          </a:p>
        </p:txBody>
      </p:sp>
      <p:sp>
        <p:nvSpPr>
          <p:cNvPr id="316" name="Text 2"/>
          <p:cNvSpPr/>
          <p:nvPr/>
        </p:nvSpPr>
        <p:spPr>
          <a:xfrm>
            <a:off x="8503920" y="36720"/>
            <a:ext cx="594000" cy="429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1" strike="noStrike" spc="-1">
                <a:solidFill>
                  <a:srgbClr val="FFFFFF"/>
                </a:solidFill>
                <a:latin typeface="Calibri"/>
              </a:rPr>
              <a:t>15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317" name="Text 3"/>
          <p:cNvSpPr/>
          <p:nvPr/>
        </p:nvSpPr>
        <p:spPr>
          <a:xfrm>
            <a:off x="228600" y="594360"/>
            <a:ext cx="868644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600" b="1" strike="noStrike" spc="-1">
                <a:solidFill>
                  <a:srgbClr val="1F3864"/>
                </a:solidFill>
                <a:latin typeface="Calibri"/>
                <a:ea typeface="Calibri"/>
              </a:rPr>
              <a:t>Visual Explanations for Clinical Trust</a:t>
            </a:r>
            <a:endParaRPr lang="en-US" sz="1600" b="0" strike="noStrike" spc="-1">
              <a:latin typeface="Arial"/>
            </a:endParaRPr>
          </a:p>
        </p:txBody>
      </p:sp>
      <p:sp>
        <p:nvSpPr>
          <p:cNvPr id="318" name="Shape 4"/>
          <p:cNvSpPr/>
          <p:nvPr/>
        </p:nvSpPr>
        <p:spPr>
          <a:xfrm>
            <a:off x="228600" y="941760"/>
            <a:ext cx="8686440" cy="27000"/>
          </a:xfrm>
          <a:prstGeom prst="rect">
            <a:avLst/>
          </a:prstGeom>
          <a:solidFill>
            <a:srgbClr val="2E74B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19" name="Text 5"/>
          <p:cNvSpPr/>
          <p:nvPr/>
        </p:nvSpPr>
        <p:spPr>
          <a:xfrm>
            <a:off x="274320" y="1024200"/>
            <a:ext cx="4571640" cy="374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11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➢  Most deep learning models act as </a:t>
            </a:r>
            <a:r>
              <a:rPr lang="en-US" sz="1100" b="1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'black-box' systems</a:t>
            </a:r>
            <a:r>
              <a:rPr lang="en-US" sz="11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— clinicians cannot understand the reasoning behind predictions.</a:t>
            </a:r>
            <a:endParaRPr lang="en-US" sz="1100" b="0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400"/>
              </a:spcAft>
              <a:buNone/>
              <a:tabLst>
                <a:tab pos="0" algn="l"/>
              </a:tabLst>
            </a:pPr>
            <a:r>
              <a:rPr lang="en-US" sz="11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➢  The proposed system integrates </a:t>
            </a:r>
            <a:r>
              <a:rPr lang="en-US" sz="1100" b="1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Gradient-weighted Class Activation Mapping (Grad-CAM)</a:t>
            </a:r>
            <a:r>
              <a:rPr lang="en-US" sz="11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to visualize which mammogram regions influenced the classification decision.</a:t>
            </a:r>
            <a:endParaRPr lang="en-US" sz="1100" b="0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400"/>
              </a:spcAft>
              <a:buNone/>
              <a:tabLst>
                <a:tab pos="0" algn="l"/>
              </a:tabLst>
            </a:pPr>
            <a:r>
              <a:rPr lang="en-US" sz="11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➢  Grad-CAM generates a </a:t>
            </a:r>
            <a:r>
              <a:rPr lang="en-US" sz="1100" b="1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heatmap overlay</a:t>
            </a:r>
            <a:r>
              <a:rPr lang="en-US" sz="11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highlighting areas of glandular tissue, calcifications, or tumor regions that drove the model's output.</a:t>
            </a:r>
            <a:endParaRPr lang="en-US" sz="1100" b="0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400"/>
              </a:spcAft>
              <a:buNone/>
              <a:tabLst>
                <a:tab pos="0" algn="l"/>
              </a:tabLst>
            </a:pPr>
            <a:r>
              <a:rPr lang="en-US" sz="11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➢  </a:t>
            </a:r>
            <a:r>
              <a:rPr lang="en-US" sz="1100" b="0" strike="noStrike" spc="-1" dirty="0" err="1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RandomErasing</a:t>
            </a:r>
            <a:r>
              <a:rPr lang="en-US" sz="11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during training </a:t>
            </a:r>
            <a:r>
              <a:rPr lang="en-US" sz="1100" b="1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forces the model to look centrally at relevant tissue</a:t>
            </a:r>
            <a:r>
              <a:rPr lang="en-US" sz="11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rather than borders or artifacts (anti-shortcut mechanism).</a:t>
            </a:r>
            <a:endParaRPr lang="en-US" sz="1100" b="0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400"/>
              </a:spcAft>
              <a:buNone/>
              <a:tabLst>
                <a:tab pos="0" algn="l"/>
              </a:tabLst>
            </a:pPr>
            <a:r>
              <a:rPr lang="en-US" sz="11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➢  Radiologists can verify whether model attention aligns with </a:t>
            </a:r>
            <a:r>
              <a:rPr lang="en-US" sz="1100" b="1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actual anatomical structures of concern</a:t>
            </a:r>
            <a:r>
              <a:rPr lang="en-US" sz="11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— increasing diagnostic trust.</a:t>
            </a:r>
            <a:endParaRPr lang="en-US" sz="1100" b="0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400"/>
              </a:spcAft>
              <a:buNone/>
              <a:tabLst>
                <a:tab pos="0" algn="l"/>
              </a:tabLst>
            </a:pPr>
            <a:r>
              <a:rPr lang="en-US" sz="11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➢  </a:t>
            </a:r>
            <a:r>
              <a:rPr lang="en-US" sz="1100" b="1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Grad-CAM outputs are passed to the </a:t>
            </a:r>
            <a:r>
              <a:rPr lang="en-US" sz="1100" b="1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Gemini</a:t>
            </a:r>
            <a:r>
              <a:rPr lang="en-US" sz="1100" b="1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LLM module</a:t>
            </a:r>
            <a:r>
              <a:rPr lang="en-US" sz="11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to generate natural-language clinical recommendation reports.</a:t>
            </a:r>
            <a:endParaRPr lang="en-US" sz="1100" b="0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0" name="Shape 6"/>
          <p:cNvSpPr/>
          <p:nvPr/>
        </p:nvSpPr>
        <p:spPr>
          <a:xfrm>
            <a:off x="5029200" y="1024200"/>
            <a:ext cx="3885840" cy="529920"/>
          </a:xfrm>
          <a:prstGeom prst="rect">
            <a:avLst/>
          </a:prstGeom>
          <a:solidFill>
            <a:schemeClr val="bg1"/>
          </a:solidFill>
          <a:ln w="0"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21" name="Text 7"/>
          <p:cNvSpPr/>
          <p:nvPr/>
        </p:nvSpPr>
        <p:spPr>
          <a:xfrm>
            <a:off x="5074920" y="1115280"/>
            <a:ext cx="3794400" cy="365760"/>
          </a:xfrm>
          <a:prstGeom prst="rect">
            <a:avLst/>
          </a:prstGeom>
          <a:solidFill>
            <a:schemeClr val="bg1"/>
          </a:solidFill>
          <a:ln w="0">
            <a:solidFill>
              <a:schemeClr val="bg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0" b="1" strike="noStrike" spc="-1" dirty="0">
                <a:latin typeface="Calibri"/>
                <a:ea typeface="Calibri"/>
              </a:rPr>
              <a:t>1.  Mammogram Input</a:t>
            </a:r>
            <a:endParaRPr lang="en-US" sz="1100" b="0" strike="noStrike" spc="-1" dirty="0">
              <a:latin typeface="Arial"/>
            </a:endParaRPr>
          </a:p>
        </p:txBody>
      </p:sp>
      <p:sp>
        <p:nvSpPr>
          <p:cNvPr id="322" name="Shape 8"/>
          <p:cNvSpPr/>
          <p:nvPr/>
        </p:nvSpPr>
        <p:spPr>
          <a:xfrm>
            <a:off x="6940440" y="1554480"/>
            <a:ext cx="63720" cy="127800"/>
          </a:xfrm>
          <a:prstGeom prst="rect">
            <a:avLst/>
          </a:prstGeom>
          <a:solidFill>
            <a:schemeClr val="bg1"/>
          </a:solidFill>
          <a:ln w="0"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23" name="Shape 9"/>
          <p:cNvSpPr/>
          <p:nvPr/>
        </p:nvSpPr>
        <p:spPr>
          <a:xfrm>
            <a:off x="5029200" y="1682640"/>
            <a:ext cx="3885840" cy="529920"/>
          </a:xfrm>
          <a:prstGeom prst="rect">
            <a:avLst/>
          </a:prstGeom>
          <a:solidFill>
            <a:schemeClr val="bg1"/>
          </a:solidFill>
          <a:ln w="0"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24" name="Text 10"/>
          <p:cNvSpPr/>
          <p:nvPr/>
        </p:nvSpPr>
        <p:spPr>
          <a:xfrm>
            <a:off x="5074920" y="1810080"/>
            <a:ext cx="3794400" cy="329400"/>
          </a:xfrm>
          <a:prstGeom prst="rect">
            <a:avLst/>
          </a:prstGeom>
          <a:solidFill>
            <a:schemeClr val="bg1"/>
          </a:solidFill>
          <a:ln w="0">
            <a:solidFill>
              <a:schemeClr val="bg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0" b="1" strike="noStrike" spc="-1" dirty="0">
                <a:latin typeface="Calibri"/>
                <a:ea typeface="Calibri"/>
              </a:rPr>
              <a:t>2.  Dual-Stream Classification</a:t>
            </a:r>
            <a:endParaRPr lang="en-US" sz="1100" b="0" strike="noStrike" spc="-1" dirty="0">
              <a:latin typeface="Arial"/>
            </a:endParaRPr>
          </a:p>
        </p:txBody>
      </p:sp>
      <p:sp>
        <p:nvSpPr>
          <p:cNvPr id="325" name="Shape 11"/>
          <p:cNvSpPr/>
          <p:nvPr/>
        </p:nvSpPr>
        <p:spPr>
          <a:xfrm>
            <a:off x="6940440" y="2212920"/>
            <a:ext cx="63720" cy="127800"/>
          </a:xfrm>
          <a:prstGeom prst="rect">
            <a:avLst/>
          </a:prstGeom>
          <a:solidFill>
            <a:schemeClr val="bg1"/>
          </a:solidFill>
          <a:ln w="0"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26" name="Shape 12"/>
          <p:cNvSpPr/>
          <p:nvPr/>
        </p:nvSpPr>
        <p:spPr>
          <a:xfrm>
            <a:off x="5029200" y="2340720"/>
            <a:ext cx="3885840" cy="529920"/>
          </a:xfrm>
          <a:prstGeom prst="rect">
            <a:avLst/>
          </a:prstGeom>
          <a:solidFill>
            <a:schemeClr val="bg1"/>
          </a:solidFill>
          <a:ln w="0"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27" name="Text 13"/>
          <p:cNvSpPr/>
          <p:nvPr/>
        </p:nvSpPr>
        <p:spPr>
          <a:xfrm>
            <a:off x="5074920" y="2414160"/>
            <a:ext cx="3794400" cy="383400"/>
          </a:xfrm>
          <a:prstGeom prst="rect">
            <a:avLst/>
          </a:prstGeom>
          <a:solidFill>
            <a:schemeClr val="bg1"/>
          </a:solidFill>
          <a:ln w="0">
            <a:solidFill>
              <a:schemeClr val="bg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0" b="1" strike="noStrike" spc="-1" dirty="0">
                <a:latin typeface="Calibri"/>
                <a:ea typeface="Calibri"/>
              </a:rPr>
              <a:t>3.  Grad-CAM Heatmap Generation</a:t>
            </a:r>
            <a:endParaRPr lang="en-US" sz="1100" b="0" strike="noStrike" spc="-1" dirty="0">
              <a:latin typeface="Arial"/>
            </a:endParaRPr>
          </a:p>
        </p:txBody>
      </p:sp>
      <p:sp>
        <p:nvSpPr>
          <p:cNvPr id="328" name="Shape 14"/>
          <p:cNvSpPr/>
          <p:nvPr/>
        </p:nvSpPr>
        <p:spPr>
          <a:xfrm>
            <a:off x="6940440" y="2871360"/>
            <a:ext cx="63720" cy="127800"/>
          </a:xfrm>
          <a:prstGeom prst="rect">
            <a:avLst/>
          </a:prstGeom>
          <a:solidFill>
            <a:schemeClr val="bg1"/>
          </a:solidFill>
          <a:ln w="0"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29" name="Shape 15"/>
          <p:cNvSpPr/>
          <p:nvPr/>
        </p:nvSpPr>
        <p:spPr>
          <a:xfrm>
            <a:off x="5029200" y="2999160"/>
            <a:ext cx="3885840" cy="529920"/>
          </a:xfrm>
          <a:prstGeom prst="rect">
            <a:avLst/>
          </a:prstGeom>
          <a:solidFill>
            <a:schemeClr val="bg1"/>
          </a:solidFill>
          <a:ln w="0"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30" name="Text 16"/>
          <p:cNvSpPr/>
          <p:nvPr/>
        </p:nvSpPr>
        <p:spPr>
          <a:xfrm>
            <a:off x="5074920" y="3072600"/>
            <a:ext cx="3794400" cy="388620"/>
          </a:xfrm>
          <a:prstGeom prst="rect">
            <a:avLst/>
          </a:prstGeom>
          <a:solidFill>
            <a:schemeClr val="bg1"/>
          </a:solidFill>
          <a:ln w="0">
            <a:solidFill>
              <a:schemeClr val="bg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0" b="1" strike="noStrike" spc="-1" dirty="0">
                <a:latin typeface="Calibri"/>
                <a:ea typeface="Calibri"/>
              </a:rPr>
              <a:t>4.  </a:t>
            </a:r>
            <a:r>
              <a:rPr lang="en-US" sz="1100" b="1" spc="-1" dirty="0">
                <a:latin typeface="Calibri"/>
                <a:ea typeface="Calibri"/>
              </a:rPr>
              <a:t>Gemini</a:t>
            </a:r>
            <a:r>
              <a:rPr lang="en-US" sz="1100" b="1" strike="noStrike" spc="-1" dirty="0">
                <a:latin typeface="Calibri"/>
                <a:ea typeface="Calibri"/>
              </a:rPr>
              <a:t> LLM Clinical Report</a:t>
            </a:r>
            <a:endParaRPr lang="en-US" sz="1100" b="0" strike="noStrike" spc="-1" dirty="0">
              <a:latin typeface="Arial"/>
            </a:endParaRPr>
          </a:p>
        </p:txBody>
      </p:sp>
      <p:sp>
        <p:nvSpPr>
          <p:cNvPr id="331" name="Shape 17"/>
          <p:cNvSpPr/>
          <p:nvPr/>
        </p:nvSpPr>
        <p:spPr>
          <a:xfrm>
            <a:off x="6940440" y="3529440"/>
            <a:ext cx="63720" cy="127800"/>
          </a:xfrm>
          <a:prstGeom prst="rect">
            <a:avLst/>
          </a:prstGeom>
          <a:solidFill>
            <a:schemeClr val="bg1"/>
          </a:solidFill>
          <a:ln w="0"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32" name="Shape 18"/>
          <p:cNvSpPr/>
          <p:nvPr/>
        </p:nvSpPr>
        <p:spPr>
          <a:xfrm>
            <a:off x="5029200" y="3657600"/>
            <a:ext cx="3885840" cy="529920"/>
          </a:xfrm>
          <a:prstGeom prst="rect">
            <a:avLst/>
          </a:prstGeom>
          <a:solidFill>
            <a:schemeClr val="bg1"/>
          </a:solidFill>
          <a:ln w="0"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33" name="Text 19"/>
          <p:cNvSpPr/>
          <p:nvPr/>
        </p:nvSpPr>
        <p:spPr>
          <a:xfrm>
            <a:off x="5074920" y="3731040"/>
            <a:ext cx="3794400" cy="388260"/>
          </a:xfrm>
          <a:prstGeom prst="rect">
            <a:avLst/>
          </a:prstGeom>
          <a:solidFill>
            <a:schemeClr val="bg1"/>
          </a:solidFill>
          <a:ln w="0">
            <a:solidFill>
              <a:schemeClr val="bg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0" b="1" strike="noStrike" spc="-1">
                <a:latin typeface="Calibri"/>
                <a:ea typeface="Calibri"/>
              </a:rPr>
              <a:t>5.  Radiologist Review + Decision</a:t>
            </a:r>
            <a:endParaRPr lang="en-US" sz="1100" b="0" strike="noStrike" spc="-1">
              <a:latin typeface="Arial"/>
            </a:endParaRPr>
          </a:p>
        </p:txBody>
      </p:sp>
      <p:sp>
        <p:nvSpPr>
          <p:cNvPr id="334" name="Shape 20"/>
          <p:cNvSpPr/>
          <p:nvPr/>
        </p:nvSpPr>
        <p:spPr>
          <a:xfrm>
            <a:off x="0" y="4919400"/>
            <a:ext cx="9143640" cy="223560"/>
          </a:xfrm>
          <a:prstGeom prst="rect">
            <a:avLst/>
          </a:prstGeom>
          <a:solidFill>
            <a:srgbClr val="D9D9D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35" name="Text 21"/>
          <p:cNvSpPr/>
          <p:nvPr/>
        </p:nvSpPr>
        <p:spPr>
          <a:xfrm>
            <a:off x="0" y="4919400"/>
            <a:ext cx="9143640" cy="223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00" b="0" strike="noStrike" spc="-1">
                <a:solidFill>
                  <a:srgbClr val="808080"/>
                </a:solidFill>
                <a:latin typeface="Calibri"/>
                <a:ea typeface="Calibri"/>
              </a:rPr>
              <a:t>Department Of CSE  |  KGiSL Institute of Technology, Coimbatore</a:t>
            </a:r>
            <a:endParaRPr lang="en-US" sz="9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6A980A-655F-12FD-0F78-1FAE4A14FF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Shape 0">
            <a:extLst>
              <a:ext uri="{FF2B5EF4-FFF2-40B4-BE49-F238E27FC236}">
                <a16:creationId xmlns:a16="http://schemas.microsoft.com/office/drawing/2014/main" id="{12D2629E-28DC-5D11-CAE4-8D628A374A45}"/>
              </a:ext>
            </a:extLst>
          </p:cNvPr>
          <p:cNvSpPr/>
          <p:nvPr/>
        </p:nvSpPr>
        <p:spPr>
          <a:xfrm>
            <a:off x="0" y="0"/>
            <a:ext cx="9143640" cy="502560"/>
          </a:xfrm>
          <a:prstGeom prst="rect">
            <a:avLst/>
          </a:prstGeom>
          <a:solidFill>
            <a:schemeClr val="bg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15" name="Text 1">
            <a:extLst>
              <a:ext uri="{FF2B5EF4-FFF2-40B4-BE49-F238E27FC236}">
                <a16:creationId xmlns:a16="http://schemas.microsoft.com/office/drawing/2014/main" id="{54E33704-2EAC-A0AE-57DC-FCB812B9B587}"/>
              </a:ext>
            </a:extLst>
          </p:cNvPr>
          <p:cNvSpPr/>
          <p:nvPr/>
        </p:nvSpPr>
        <p:spPr>
          <a:xfrm>
            <a:off x="228600" y="36720"/>
            <a:ext cx="7772040" cy="429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1" strike="noStrike" spc="-1" dirty="0">
                <a:latin typeface="Calibri"/>
                <a:ea typeface="Calibri"/>
              </a:rPr>
              <a:t>GRAD-CAM ATTENTION </a:t>
            </a:r>
            <a:r>
              <a:rPr lang="en-US" sz="2000" b="1" spc="-1" dirty="0">
                <a:latin typeface="Calibri"/>
                <a:ea typeface="Calibri"/>
              </a:rPr>
              <a:t>SAMPLE IMAGES</a:t>
            </a:r>
            <a:endParaRPr lang="en-US" sz="2000" b="0" strike="noStrike" spc="-1" dirty="0">
              <a:latin typeface="Arial"/>
            </a:endParaRPr>
          </a:p>
        </p:txBody>
      </p:sp>
      <p:sp>
        <p:nvSpPr>
          <p:cNvPr id="316" name="Text 2">
            <a:extLst>
              <a:ext uri="{FF2B5EF4-FFF2-40B4-BE49-F238E27FC236}">
                <a16:creationId xmlns:a16="http://schemas.microsoft.com/office/drawing/2014/main" id="{7F3DC6FE-0A81-FAAF-E95C-E7C16CCC2144}"/>
              </a:ext>
            </a:extLst>
          </p:cNvPr>
          <p:cNvSpPr/>
          <p:nvPr/>
        </p:nvSpPr>
        <p:spPr>
          <a:xfrm>
            <a:off x="8503920" y="36720"/>
            <a:ext cx="594000" cy="429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1" strike="noStrike" spc="-1">
                <a:solidFill>
                  <a:srgbClr val="FFFFFF"/>
                </a:solidFill>
                <a:latin typeface="Calibri"/>
              </a:rPr>
              <a:t>15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334" name="Shape 20">
            <a:extLst>
              <a:ext uri="{FF2B5EF4-FFF2-40B4-BE49-F238E27FC236}">
                <a16:creationId xmlns:a16="http://schemas.microsoft.com/office/drawing/2014/main" id="{89935999-B257-6CF6-AAC5-786A3C632A24}"/>
              </a:ext>
            </a:extLst>
          </p:cNvPr>
          <p:cNvSpPr/>
          <p:nvPr/>
        </p:nvSpPr>
        <p:spPr>
          <a:xfrm>
            <a:off x="0" y="4919400"/>
            <a:ext cx="9143640" cy="223560"/>
          </a:xfrm>
          <a:prstGeom prst="rect">
            <a:avLst/>
          </a:prstGeom>
          <a:solidFill>
            <a:srgbClr val="D9D9D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35" name="Text 21">
            <a:extLst>
              <a:ext uri="{FF2B5EF4-FFF2-40B4-BE49-F238E27FC236}">
                <a16:creationId xmlns:a16="http://schemas.microsoft.com/office/drawing/2014/main" id="{B727C1F5-A62A-6CC3-1E5D-284A41F03B24}"/>
              </a:ext>
            </a:extLst>
          </p:cNvPr>
          <p:cNvSpPr/>
          <p:nvPr/>
        </p:nvSpPr>
        <p:spPr>
          <a:xfrm>
            <a:off x="0" y="4919400"/>
            <a:ext cx="9143640" cy="223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00" b="0" strike="noStrike" spc="-1">
                <a:solidFill>
                  <a:srgbClr val="808080"/>
                </a:solidFill>
                <a:latin typeface="Calibri"/>
                <a:ea typeface="Calibri"/>
              </a:rPr>
              <a:t>Department Of CSE  |  KGiSL Institute of Technology, Coimbatore</a:t>
            </a:r>
            <a:endParaRPr lang="en-US" sz="900" b="0" strike="noStrike" spc="-1">
              <a:latin typeface="Arial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2C5067D-A553-8472-FC12-FC45DC8EF80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92" y="1472484"/>
            <a:ext cx="1971983" cy="197198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7531A01-8003-5783-46A6-188484C863B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8581" y="1472484"/>
            <a:ext cx="1971983" cy="197198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54296CF-8852-B2FA-BE48-8DEC9225FD2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1466039"/>
            <a:ext cx="1971983" cy="1971983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E89C551C-63D8-AD0D-3F1A-1CF5067EF54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9369" y="1466039"/>
            <a:ext cx="1971982" cy="197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002260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Shape 0"/>
          <p:cNvSpPr/>
          <p:nvPr/>
        </p:nvSpPr>
        <p:spPr>
          <a:xfrm>
            <a:off x="0" y="0"/>
            <a:ext cx="9143640" cy="502560"/>
          </a:xfrm>
          <a:prstGeom prst="rect">
            <a:avLst/>
          </a:prstGeom>
          <a:solidFill>
            <a:schemeClr val="bg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37" name="Text 1"/>
          <p:cNvSpPr/>
          <p:nvPr/>
        </p:nvSpPr>
        <p:spPr>
          <a:xfrm>
            <a:off x="228600" y="36720"/>
            <a:ext cx="7772040" cy="429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1" spc="-1" dirty="0">
                <a:latin typeface="Calibri"/>
                <a:ea typeface="Calibri"/>
              </a:rPr>
              <a:t>GEMINI</a:t>
            </a:r>
            <a:r>
              <a:rPr lang="en-US" sz="2000" b="1" strike="noStrike" spc="-1" dirty="0">
                <a:latin typeface="Calibri"/>
                <a:ea typeface="Calibri"/>
              </a:rPr>
              <a:t> LLM — CLINICAL RECOMMENDATIONS</a:t>
            </a:r>
            <a:endParaRPr lang="en-US" sz="2000" b="0" strike="noStrike" spc="-1" dirty="0">
              <a:latin typeface="Arial"/>
            </a:endParaRPr>
          </a:p>
        </p:txBody>
      </p:sp>
      <p:sp>
        <p:nvSpPr>
          <p:cNvPr id="338" name="Text 2"/>
          <p:cNvSpPr/>
          <p:nvPr/>
        </p:nvSpPr>
        <p:spPr>
          <a:xfrm>
            <a:off x="8503920" y="36720"/>
            <a:ext cx="594000" cy="429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1" strike="noStrike" spc="-1">
                <a:solidFill>
                  <a:srgbClr val="FFFFFF"/>
                </a:solidFill>
                <a:latin typeface="Calibri"/>
              </a:rPr>
              <a:t>16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339" name="Text 3"/>
          <p:cNvSpPr/>
          <p:nvPr/>
        </p:nvSpPr>
        <p:spPr>
          <a:xfrm>
            <a:off x="228600" y="594360"/>
            <a:ext cx="868644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600" b="1" strike="noStrike" spc="-1">
                <a:solidFill>
                  <a:srgbClr val="1F3864"/>
                </a:solidFill>
                <a:latin typeface="Calibri"/>
                <a:ea typeface="Calibri"/>
              </a:rPr>
              <a:t>Natural Language Clinical Report Generation</a:t>
            </a:r>
            <a:endParaRPr lang="en-US" sz="1600" b="0" strike="noStrike" spc="-1">
              <a:latin typeface="Arial"/>
            </a:endParaRPr>
          </a:p>
        </p:txBody>
      </p:sp>
      <p:sp>
        <p:nvSpPr>
          <p:cNvPr id="340" name="Shape 4"/>
          <p:cNvSpPr/>
          <p:nvPr/>
        </p:nvSpPr>
        <p:spPr>
          <a:xfrm>
            <a:off x="228600" y="941760"/>
            <a:ext cx="8686440" cy="27000"/>
          </a:xfrm>
          <a:prstGeom prst="rect">
            <a:avLst/>
          </a:prstGeom>
          <a:solidFill>
            <a:srgbClr val="2E74B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41" name="Text 5"/>
          <p:cNvSpPr/>
          <p:nvPr/>
        </p:nvSpPr>
        <p:spPr>
          <a:xfrm>
            <a:off x="274320" y="1024200"/>
            <a:ext cx="4571640" cy="374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11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➢  </a:t>
            </a:r>
            <a:r>
              <a:rPr lang="en-US" sz="1100" b="1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Grad-CAM-Informed Clinical Recommendations (</a:t>
            </a:r>
            <a:r>
              <a:rPr lang="en-US" sz="1100" b="1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Gemini</a:t>
            </a:r>
            <a:r>
              <a:rPr lang="en-US" sz="1100" b="1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LLM):</a:t>
            </a:r>
            <a:r>
              <a:rPr lang="en-US" sz="11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integrates model outputs and attention maps to generate actionable diagnostic reports.</a:t>
            </a:r>
            <a:endParaRPr lang="en-US" sz="1100" b="0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400"/>
              </a:spcAft>
              <a:buNone/>
              <a:tabLst>
                <a:tab pos="0" algn="l"/>
              </a:tabLst>
            </a:pPr>
            <a:r>
              <a:rPr lang="en-US" sz="11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➢  Generates a </a:t>
            </a:r>
            <a:r>
              <a:rPr lang="en-US" sz="1100" b="1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natural-language description</a:t>
            </a:r>
            <a:r>
              <a:rPr lang="en-US" sz="11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of detected abnormalities using clinical terminology understandable by radiologists.</a:t>
            </a:r>
            <a:endParaRPr lang="en-US" sz="1100" b="0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400"/>
              </a:spcAft>
              <a:buNone/>
              <a:tabLst>
                <a:tab pos="0" algn="l"/>
              </a:tabLst>
            </a:pPr>
            <a:r>
              <a:rPr lang="en-US" sz="11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➢  Provides a </a:t>
            </a:r>
            <a:r>
              <a:rPr lang="en-US" sz="1100" b="1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confidence level explanation</a:t>
            </a:r>
            <a:r>
              <a:rPr lang="en-US" sz="11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referencing specific tissue regions highlighted by Grad-CAM attention maps.</a:t>
            </a:r>
            <a:endParaRPr lang="en-US" sz="1100" b="0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400"/>
              </a:spcAft>
              <a:buNone/>
              <a:tabLst>
                <a:tab pos="0" algn="l"/>
              </a:tabLst>
            </a:pPr>
            <a:r>
              <a:rPr lang="en-US" sz="11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➢  Suggests </a:t>
            </a:r>
            <a:r>
              <a:rPr lang="en-US" sz="1100" b="1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recommended follow-up actions:</a:t>
            </a:r>
            <a:r>
              <a:rPr lang="en-US" sz="11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biopsy, 6-month repeat screening, or routine follow-up based on classification output.</a:t>
            </a:r>
            <a:endParaRPr lang="en-US" sz="1100" b="0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400"/>
              </a:spcAft>
              <a:buNone/>
              <a:tabLst>
                <a:tab pos="0" algn="l"/>
              </a:tabLst>
            </a:pPr>
            <a:r>
              <a:rPr lang="en-US" sz="11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➢  Produces a </a:t>
            </a:r>
            <a:r>
              <a:rPr lang="en-US" sz="1100" b="1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patient-friendly summary</a:t>
            </a:r>
            <a:r>
              <a:rPr lang="en-US" sz="11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suitable for communication between healthcare professionals and patients.</a:t>
            </a:r>
            <a:endParaRPr lang="en-US" sz="1100" b="0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400"/>
              </a:spcAft>
              <a:buNone/>
              <a:tabLst>
                <a:tab pos="0" algn="l"/>
              </a:tabLst>
            </a:pPr>
            <a:r>
              <a:rPr lang="en-US" sz="11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➢  The complete </a:t>
            </a:r>
            <a:r>
              <a:rPr lang="en-US" sz="1100" b="1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Final Integrated Diagnosis + Medical Recommendations</a:t>
            </a:r>
            <a:r>
              <a:rPr lang="en-US" sz="11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report combines all model outputs into a single clinical document.</a:t>
            </a:r>
            <a:endParaRPr lang="en-US" sz="1100" b="0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2" name="Shape 6"/>
          <p:cNvSpPr/>
          <p:nvPr/>
        </p:nvSpPr>
        <p:spPr>
          <a:xfrm>
            <a:off x="5029200" y="1164895"/>
            <a:ext cx="3885840" cy="383760"/>
          </a:xfrm>
          <a:prstGeom prst="rect">
            <a:avLst/>
          </a:prstGeom>
          <a:solidFill>
            <a:schemeClr val="bg1"/>
          </a:solidFill>
          <a:ln w="0"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43" name="Text 7"/>
          <p:cNvSpPr/>
          <p:nvPr/>
        </p:nvSpPr>
        <p:spPr>
          <a:xfrm>
            <a:off x="5029200" y="1164895"/>
            <a:ext cx="3885840" cy="38376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0" b="1" strike="noStrike" spc="-1" dirty="0">
                <a:latin typeface="Calibri"/>
              </a:rPr>
              <a:t>Sample </a:t>
            </a:r>
            <a:r>
              <a:rPr lang="en-US" sz="1100" b="1" spc="-1" dirty="0">
                <a:latin typeface="Calibri"/>
              </a:rPr>
              <a:t>Gemini</a:t>
            </a:r>
            <a:r>
              <a:rPr lang="en-US" sz="1100" b="1" strike="noStrike" spc="-1" dirty="0">
                <a:latin typeface="Calibri"/>
              </a:rPr>
              <a:t> Output Structure</a:t>
            </a:r>
            <a:endParaRPr lang="en-US" sz="1100" b="0" strike="noStrike" spc="-1" dirty="0">
              <a:latin typeface="Arial"/>
            </a:endParaRPr>
          </a:p>
        </p:txBody>
      </p:sp>
      <p:sp>
        <p:nvSpPr>
          <p:cNvPr id="344" name="Shape 8"/>
          <p:cNvSpPr/>
          <p:nvPr/>
        </p:nvSpPr>
        <p:spPr>
          <a:xfrm>
            <a:off x="5029200" y="1549015"/>
            <a:ext cx="3885840" cy="50256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45" name="Text 9"/>
          <p:cNvSpPr/>
          <p:nvPr/>
        </p:nvSpPr>
        <p:spPr>
          <a:xfrm>
            <a:off x="5074920" y="1567015"/>
            <a:ext cx="3794400" cy="465840"/>
          </a:xfrm>
          <a:prstGeom prst="rect">
            <a:avLst/>
          </a:prstGeom>
          <a:solidFill>
            <a:schemeClr val="bg1"/>
          </a:solidFill>
          <a:ln w="0">
            <a:solidFill>
              <a:schemeClr val="bg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50" b="0" strike="noStrike" spc="-1" dirty="0">
                <a:solidFill>
                  <a:srgbClr val="000000"/>
                </a:solidFill>
                <a:latin typeface="Calibri"/>
                <a:ea typeface="Calibri"/>
              </a:rPr>
              <a:t>Detected Region: Upper-outer quadrant</a:t>
            </a:r>
            <a:endParaRPr lang="en-US" sz="950" b="0" strike="noStrike" spc="-1" dirty="0">
              <a:latin typeface="Arial"/>
            </a:endParaRPr>
          </a:p>
        </p:txBody>
      </p:sp>
      <p:sp>
        <p:nvSpPr>
          <p:cNvPr id="346" name="Shape 10"/>
          <p:cNvSpPr/>
          <p:nvPr/>
        </p:nvSpPr>
        <p:spPr>
          <a:xfrm>
            <a:off x="5029200" y="2051935"/>
            <a:ext cx="3885840" cy="50256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47" name="Text 11"/>
          <p:cNvSpPr/>
          <p:nvPr/>
        </p:nvSpPr>
        <p:spPr>
          <a:xfrm>
            <a:off x="5074920" y="2069935"/>
            <a:ext cx="3794400" cy="465840"/>
          </a:xfrm>
          <a:prstGeom prst="rect">
            <a:avLst/>
          </a:prstGeom>
          <a:solidFill>
            <a:schemeClr val="bg1"/>
          </a:solidFill>
          <a:ln w="0">
            <a:solidFill>
              <a:schemeClr val="bg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50" b="0" strike="noStrike" spc="-1">
                <a:solidFill>
                  <a:srgbClr val="000000"/>
                </a:solidFill>
                <a:latin typeface="Calibri"/>
                <a:ea typeface="Calibri"/>
              </a:rPr>
              <a:t>Finding: Cluster of microcalcifications (high-risk morphology)</a:t>
            </a:r>
            <a:endParaRPr lang="en-US" sz="950" b="0" strike="noStrike" spc="-1">
              <a:latin typeface="Arial"/>
            </a:endParaRPr>
          </a:p>
        </p:txBody>
      </p:sp>
      <p:sp>
        <p:nvSpPr>
          <p:cNvPr id="348" name="Shape 12"/>
          <p:cNvSpPr/>
          <p:nvPr/>
        </p:nvSpPr>
        <p:spPr>
          <a:xfrm>
            <a:off x="5029200" y="2554855"/>
            <a:ext cx="3885840" cy="50256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49" name="Text 13"/>
          <p:cNvSpPr/>
          <p:nvPr/>
        </p:nvSpPr>
        <p:spPr>
          <a:xfrm>
            <a:off x="5074920" y="2572855"/>
            <a:ext cx="3794400" cy="465840"/>
          </a:xfrm>
          <a:prstGeom prst="rect">
            <a:avLst/>
          </a:prstGeom>
          <a:solidFill>
            <a:schemeClr val="bg1"/>
          </a:solidFill>
          <a:ln w="0">
            <a:solidFill>
              <a:schemeClr val="bg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50" b="0" strike="noStrike" spc="-1">
                <a:solidFill>
                  <a:srgbClr val="000000"/>
                </a:solidFill>
                <a:latin typeface="Calibri"/>
                <a:ea typeface="Calibri"/>
              </a:rPr>
              <a:t>Confidence: 94.2% — Heavily Malignant</a:t>
            </a:r>
            <a:endParaRPr lang="en-US" sz="950" b="0" strike="noStrike" spc="-1">
              <a:latin typeface="Arial"/>
            </a:endParaRPr>
          </a:p>
        </p:txBody>
      </p:sp>
      <p:sp>
        <p:nvSpPr>
          <p:cNvPr id="350" name="Shape 14"/>
          <p:cNvSpPr/>
          <p:nvPr/>
        </p:nvSpPr>
        <p:spPr>
          <a:xfrm>
            <a:off x="5029200" y="3057775"/>
            <a:ext cx="3885840" cy="50256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51" name="Text 15"/>
          <p:cNvSpPr/>
          <p:nvPr/>
        </p:nvSpPr>
        <p:spPr>
          <a:xfrm>
            <a:off x="5074920" y="3075775"/>
            <a:ext cx="3794400" cy="465840"/>
          </a:xfrm>
          <a:prstGeom prst="rect">
            <a:avLst/>
          </a:prstGeom>
          <a:solidFill>
            <a:schemeClr val="bg1"/>
          </a:solidFill>
          <a:ln w="0">
            <a:solidFill>
              <a:schemeClr val="bg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50" b="0" strike="noStrike" spc="-1">
                <a:solidFill>
                  <a:srgbClr val="000000"/>
                </a:solidFill>
                <a:latin typeface="Calibri"/>
                <a:ea typeface="Calibri"/>
              </a:rPr>
              <a:t>Grad-CAM Focus: Confirmed on glandular tissue</a:t>
            </a:r>
            <a:endParaRPr lang="en-US" sz="950" b="0" strike="noStrike" spc="-1">
              <a:latin typeface="Arial"/>
            </a:endParaRPr>
          </a:p>
        </p:txBody>
      </p:sp>
      <p:sp>
        <p:nvSpPr>
          <p:cNvPr id="352" name="Shape 16"/>
          <p:cNvSpPr/>
          <p:nvPr/>
        </p:nvSpPr>
        <p:spPr>
          <a:xfrm>
            <a:off x="5029200" y="3560695"/>
            <a:ext cx="3885840" cy="50256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53" name="Text 17"/>
          <p:cNvSpPr/>
          <p:nvPr/>
        </p:nvSpPr>
        <p:spPr>
          <a:xfrm>
            <a:off x="5074920" y="3578695"/>
            <a:ext cx="3794400" cy="465840"/>
          </a:xfrm>
          <a:prstGeom prst="rect">
            <a:avLst/>
          </a:prstGeom>
          <a:solidFill>
            <a:schemeClr val="bg1"/>
          </a:solidFill>
          <a:ln w="0">
            <a:solidFill>
              <a:schemeClr val="bg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50" b="0" strike="noStrike" spc="-1" dirty="0">
                <a:solidFill>
                  <a:srgbClr val="000000"/>
                </a:solidFill>
                <a:latin typeface="Calibri"/>
                <a:ea typeface="Calibri"/>
              </a:rPr>
              <a:t>Recommendation: Immediate biopsy advised</a:t>
            </a:r>
            <a:endParaRPr lang="en-US" sz="950" b="0" strike="noStrike" spc="-1" dirty="0">
              <a:latin typeface="Arial"/>
            </a:endParaRPr>
          </a:p>
        </p:txBody>
      </p:sp>
      <p:sp>
        <p:nvSpPr>
          <p:cNvPr id="354" name="Shape 18"/>
          <p:cNvSpPr/>
          <p:nvPr/>
        </p:nvSpPr>
        <p:spPr>
          <a:xfrm>
            <a:off x="5029200" y="4063615"/>
            <a:ext cx="3885840" cy="50256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55" name="Text 19"/>
          <p:cNvSpPr/>
          <p:nvPr/>
        </p:nvSpPr>
        <p:spPr>
          <a:xfrm>
            <a:off x="5074920" y="4081615"/>
            <a:ext cx="3794400" cy="465840"/>
          </a:xfrm>
          <a:prstGeom prst="rect">
            <a:avLst/>
          </a:prstGeom>
          <a:solidFill>
            <a:schemeClr val="bg1"/>
          </a:solidFill>
          <a:ln w="0">
            <a:solidFill>
              <a:schemeClr val="bg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50" b="0" strike="noStrike" spc="-1">
                <a:solidFill>
                  <a:srgbClr val="000000"/>
                </a:solidFill>
                <a:latin typeface="Calibri"/>
                <a:ea typeface="Calibri"/>
              </a:rPr>
              <a:t>Patient Note: Urgent specialist referral required</a:t>
            </a:r>
            <a:endParaRPr lang="en-US" sz="950" b="0" strike="noStrike" spc="-1">
              <a:latin typeface="Arial"/>
            </a:endParaRPr>
          </a:p>
        </p:txBody>
      </p:sp>
      <p:sp>
        <p:nvSpPr>
          <p:cNvPr id="356" name="Shape 20"/>
          <p:cNvSpPr/>
          <p:nvPr/>
        </p:nvSpPr>
        <p:spPr>
          <a:xfrm>
            <a:off x="0" y="4919400"/>
            <a:ext cx="9143640" cy="223560"/>
          </a:xfrm>
          <a:prstGeom prst="rect">
            <a:avLst/>
          </a:prstGeom>
          <a:solidFill>
            <a:srgbClr val="D9D9D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57" name="Text 21"/>
          <p:cNvSpPr/>
          <p:nvPr/>
        </p:nvSpPr>
        <p:spPr>
          <a:xfrm>
            <a:off x="0" y="4941360"/>
            <a:ext cx="9143640" cy="223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00" b="0" strike="noStrike" spc="-1">
                <a:solidFill>
                  <a:srgbClr val="808080"/>
                </a:solidFill>
                <a:latin typeface="Calibri"/>
                <a:ea typeface="Calibri"/>
              </a:rPr>
              <a:t>Department Of CSE  |  KGiSL Institute of Technology, Coimbatore</a:t>
            </a:r>
            <a:endParaRPr lang="en-US" sz="9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Shape 0"/>
          <p:cNvSpPr/>
          <p:nvPr/>
        </p:nvSpPr>
        <p:spPr>
          <a:xfrm>
            <a:off x="0" y="0"/>
            <a:ext cx="9143640" cy="502560"/>
          </a:xfrm>
          <a:prstGeom prst="rect">
            <a:avLst/>
          </a:prstGeom>
          <a:solidFill>
            <a:schemeClr val="bg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59" name="Text 1"/>
          <p:cNvSpPr/>
          <p:nvPr/>
        </p:nvSpPr>
        <p:spPr>
          <a:xfrm>
            <a:off x="228600" y="36720"/>
            <a:ext cx="7772040" cy="429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1" spc="-1" dirty="0">
                <a:latin typeface="Calibri"/>
                <a:ea typeface="Calibri"/>
              </a:rPr>
              <a:t>RESULTS AND ANALYSIS</a:t>
            </a:r>
            <a:endParaRPr lang="en-US" sz="2000" b="0" strike="noStrike" spc="-1" dirty="0">
              <a:latin typeface="Arial"/>
            </a:endParaRPr>
          </a:p>
        </p:txBody>
      </p:sp>
      <p:sp>
        <p:nvSpPr>
          <p:cNvPr id="360" name="Text 2"/>
          <p:cNvSpPr/>
          <p:nvPr/>
        </p:nvSpPr>
        <p:spPr>
          <a:xfrm>
            <a:off x="8503920" y="36720"/>
            <a:ext cx="594000" cy="429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1" strike="noStrike" spc="-1">
                <a:solidFill>
                  <a:srgbClr val="FFFFFF"/>
                </a:solidFill>
                <a:latin typeface="Calibri"/>
              </a:rPr>
              <a:t>17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361" name="Text 3"/>
          <p:cNvSpPr/>
          <p:nvPr/>
        </p:nvSpPr>
        <p:spPr>
          <a:xfrm>
            <a:off x="228600" y="594360"/>
            <a:ext cx="868644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600" b="1" strike="noStrike" spc="-1">
                <a:solidFill>
                  <a:srgbClr val="1F3864"/>
                </a:solidFill>
                <a:latin typeface="Calibri"/>
                <a:ea typeface="Calibri"/>
              </a:rPr>
              <a:t>Classification Performance &amp; Accuracy</a:t>
            </a:r>
            <a:endParaRPr lang="en-US" sz="1600" b="0" strike="noStrike" spc="-1">
              <a:latin typeface="Arial"/>
            </a:endParaRPr>
          </a:p>
        </p:txBody>
      </p:sp>
      <p:sp>
        <p:nvSpPr>
          <p:cNvPr id="362" name="Shape 4"/>
          <p:cNvSpPr/>
          <p:nvPr/>
        </p:nvSpPr>
        <p:spPr>
          <a:xfrm>
            <a:off x="228600" y="941760"/>
            <a:ext cx="8686440" cy="27000"/>
          </a:xfrm>
          <a:prstGeom prst="rect">
            <a:avLst/>
          </a:prstGeom>
          <a:solidFill>
            <a:srgbClr val="2E74B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63" name="Text 5"/>
          <p:cNvSpPr/>
          <p:nvPr/>
        </p:nvSpPr>
        <p:spPr>
          <a:xfrm>
            <a:off x="274320" y="1024200"/>
            <a:ext cx="4536219" cy="2094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r>
              <a:rPr lang="en-US" sz="11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➢  </a:t>
            </a:r>
            <a:r>
              <a:rPr lang="en-US" sz="1100" b="1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Improved classification accuracy</a:t>
            </a:r>
            <a:r>
              <a:rPr lang="en-US" sz="11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in identifying different types of breast abnormalities — benign, lightly malignant, and heavily malignant.</a:t>
            </a:r>
            <a:endParaRPr lang="en-US" sz="1100" b="0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  <a:tabLst>
                <a:tab pos="0" algn="l"/>
              </a:tabLst>
            </a:pPr>
            <a:endParaRPr lang="en-US" sz="1100" b="0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  <a:tabLst>
                <a:tab pos="0" algn="l"/>
              </a:tabLst>
            </a:pPr>
            <a:r>
              <a:rPr lang="en-US" sz="11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➢  By incorporating both global and local feature representations, the system is expected to </a:t>
            </a:r>
            <a:r>
              <a:rPr lang="en-US" sz="1100" b="1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reduce misclassification errors</a:t>
            </a:r>
            <a:r>
              <a:rPr lang="en-US" sz="11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common in single-stream models.</a:t>
            </a:r>
            <a:endParaRPr lang="en-US" sz="1100" b="0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  <a:tabLst>
                <a:tab pos="0" algn="l"/>
              </a:tabLst>
            </a:pPr>
            <a:endParaRPr lang="en-US" sz="1100" b="0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  <a:tabLst>
                <a:tab pos="0" algn="l"/>
              </a:tabLst>
            </a:pPr>
            <a:r>
              <a:rPr lang="en-US" sz="11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➢  Architecture should demonstrate </a:t>
            </a:r>
            <a:r>
              <a:rPr lang="en-US" sz="1100" b="1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improved sensitivity in detecting malignant cases</a:t>
            </a:r>
            <a:r>
              <a:rPr lang="en-US" sz="11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— essential for early cancer diagnosis before physical symptoms.</a:t>
            </a:r>
            <a:endParaRPr lang="en-US" sz="1100" b="0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  <a:tabLst>
                <a:tab pos="0" algn="l"/>
              </a:tabLst>
            </a:pPr>
            <a:endParaRPr lang="en-US" sz="1100" b="0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  <a:tabLst>
                <a:tab pos="0" algn="l"/>
              </a:tabLst>
            </a:pPr>
            <a:r>
              <a:rPr lang="en-US" sz="11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➢  </a:t>
            </a:r>
            <a:r>
              <a:rPr lang="en-US" sz="1100" b="1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Reduced shortcut learning</a:t>
            </a:r>
            <a:r>
              <a:rPr lang="en-US" sz="11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— fusion of both streams prevents the model from relying on non-medical cues like image borders or pectoral muscle.</a:t>
            </a:r>
            <a:endParaRPr lang="en-US" sz="1100" b="0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64" name="Chart 0"/>
          <p:cNvGraphicFramePr/>
          <p:nvPr>
            <p:extLst>
              <p:ext uri="{D42A27DB-BD31-4B8C-83A1-F6EECF244321}">
                <p14:modId xmlns:p14="http://schemas.microsoft.com/office/powerpoint/2010/main" val="344083705"/>
              </p:ext>
            </p:extLst>
          </p:nvPr>
        </p:nvGraphicFramePr>
        <p:xfrm>
          <a:off x="99391" y="3458816"/>
          <a:ext cx="5247861" cy="14328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65" name="Shape 6"/>
          <p:cNvSpPr/>
          <p:nvPr/>
        </p:nvSpPr>
        <p:spPr>
          <a:xfrm>
            <a:off x="5347248" y="1024200"/>
            <a:ext cx="3567791" cy="749520"/>
          </a:xfrm>
          <a:prstGeom prst="rect">
            <a:avLst/>
          </a:prstGeom>
          <a:solidFill>
            <a:schemeClr val="bg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66" name="Text 7"/>
          <p:cNvSpPr/>
          <p:nvPr/>
        </p:nvSpPr>
        <p:spPr>
          <a:xfrm>
            <a:off x="5029200" y="1024200"/>
            <a:ext cx="1645560" cy="749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800" b="1" strike="noStrike" spc="-1" dirty="0">
                <a:latin typeface="Calibri"/>
                <a:ea typeface="Calibri"/>
              </a:rPr>
              <a:t>&gt;94%</a:t>
            </a:r>
            <a:endParaRPr lang="en-US" sz="2800" b="0" strike="noStrike" spc="-1" dirty="0">
              <a:latin typeface="Arial"/>
            </a:endParaRPr>
          </a:p>
        </p:txBody>
      </p:sp>
      <p:sp>
        <p:nvSpPr>
          <p:cNvPr id="367" name="Text 8"/>
          <p:cNvSpPr/>
          <p:nvPr/>
        </p:nvSpPr>
        <p:spPr>
          <a:xfrm>
            <a:off x="6675120" y="1024200"/>
            <a:ext cx="2285640" cy="749520"/>
          </a:xfrm>
          <a:prstGeom prst="rect">
            <a:avLst/>
          </a:prstGeom>
          <a:solidFill>
            <a:schemeClr val="bg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1" strike="noStrike" spc="-1">
                <a:latin typeface="Calibri"/>
                <a:ea typeface="Calibri"/>
              </a:rPr>
              <a:t>Accuracy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368" name="Shape 9"/>
          <p:cNvSpPr/>
          <p:nvPr/>
        </p:nvSpPr>
        <p:spPr>
          <a:xfrm>
            <a:off x="5347250" y="1920240"/>
            <a:ext cx="3567790" cy="749520"/>
          </a:xfrm>
          <a:prstGeom prst="rect">
            <a:avLst/>
          </a:prstGeom>
          <a:solidFill>
            <a:schemeClr val="bg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69" name="Text 10"/>
          <p:cNvSpPr/>
          <p:nvPr/>
        </p:nvSpPr>
        <p:spPr>
          <a:xfrm>
            <a:off x="5029200" y="1920240"/>
            <a:ext cx="1645560" cy="749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800" b="1" strike="noStrike" spc="-1" dirty="0">
                <a:latin typeface="Calibri"/>
                <a:ea typeface="Calibri"/>
              </a:rPr>
              <a:t>&gt;90%</a:t>
            </a:r>
            <a:endParaRPr lang="en-US" sz="2800" b="0" strike="noStrike" spc="-1" dirty="0">
              <a:latin typeface="Arial"/>
            </a:endParaRPr>
          </a:p>
        </p:txBody>
      </p:sp>
      <p:sp>
        <p:nvSpPr>
          <p:cNvPr id="370" name="Text 11"/>
          <p:cNvSpPr/>
          <p:nvPr/>
        </p:nvSpPr>
        <p:spPr>
          <a:xfrm>
            <a:off x="6675120" y="1920240"/>
            <a:ext cx="2285640" cy="749520"/>
          </a:xfrm>
          <a:prstGeom prst="rect">
            <a:avLst/>
          </a:prstGeom>
          <a:solidFill>
            <a:schemeClr val="bg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1" strike="noStrike" spc="-1">
                <a:latin typeface="Calibri"/>
                <a:ea typeface="Calibri"/>
              </a:rPr>
              <a:t>Sensitivity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371" name="Shape 12"/>
          <p:cNvSpPr/>
          <p:nvPr/>
        </p:nvSpPr>
        <p:spPr>
          <a:xfrm>
            <a:off x="5347250" y="2816280"/>
            <a:ext cx="3567789" cy="749520"/>
          </a:xfrm>
          <a:prstGeom prst="rect">
            <a:avLst/>
          </a:prstGeom>
          <a:solidFill>
            <a:schemeClr val="bg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72" name="Text 13"/>
          <p:cNvSpPr/>
          <p:nvPr/>
        </p:nvSpPr>
        <p:spPr>
          <a:xfrm>
            <a:off x="5029200" y="2816280"/>
            <a:ext cx="1645560" cy="749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800" b="1" strike="noStrike" spc="-1" dirty="0">
                <a:latin typeface="Calibri"/>
                <a:ea typeface="Calibri"/>
              </a:rPr>
              <a:t>&gt;88%</a:t>
            </a:r>
            <a:endParaRPr lang="en-US" sz="2800" b="0" strike="noStrike" spc="-1" dirty="0">
              <a:latin typeface="Arial"/>
            </a:endParaRPr>
          </a:p>
        </p:txBody>
      </p:sp>
      <p:sp>
        <p:nvSpPr>
          <p:cNvPr id="373" name="Text 14"/>
          <p:cNvSpPr/>
          <p:nvPr/>
        </p:nvSpPr>
        <p:spPr>
          <a:xfrm>
            <a:off x="6675120" y="2816280"/>
            <a:ext cx="2285640" cy="749520"/>
          </a:xfrm>
          <a:prstGeom prst="rect">
            <a:avLst/>
          </a:prstGeom>
          <a:solidFill>
            <a:schemeClr val="bg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1" strike="noStrike" spc="-1">
                <a:latin typeface="Calibri"/>
                <a:ea typeface="Calibri"/>
              </a:rPr>
              <a:t>Specificity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374" name="Shape 15"/>
          <p:cNvSpPr/>
          <p:nvPr/>
        </p:nvSpPr>
        <p:spPr>
          <a:xfrm>
            <a:off x="5347252" y="3712320"/>
            <a:ext cx="3567788" cy="749520"/>
          </a:xfrm>
          <a:prstGeom prst="rect">
            <a:avLst/>
          </a:prstGeom>
          <a:solidFill>
            <a:schemeClr val="bg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75" name="Text 16"/>
          <p:cNvSpPr/>
          <p:nvPr/>
        </p:nvSpPr>
        <p:spPr>
          <a:xfrm>
            <a:off x="5029200" y="3712320"/>
            <a:ext cx="1645560" cy="749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800" b="1" strike="noStrike" spc="-1" dirty="0">
                <a:latin typeface="Calibri"/>
                <a:ea typeface="Calibri"/>
              </a:rPr>
              <a:t>&gt;0.91</a:t>
            </a:r>
            <a:endParaRPr lang="en-US" sz="2800" b="0" strike="noStrike" spc="-1" dirty="0">
              <a:latin typeface="Arial"/>
            </a:endParaRPr>
          </a:p>
        </p:txBody>
      </p:sp>
      <p:sp>
        <p:nvSpPr>
          <p:cNvPr id="376" name="Text 17"/>
          <p:cNvSpPr/>
          <p:nvPr/>
        </p:nvSpPr>
        <p:spPr>
          <a:xfrm>
            <a:off x="6675120" y="3712320"/>
            <a:ext cx="2285640" cy="749520"/>
          </a:xfrm>
          <a:prstGeom prst="rect">
            <a:avLst/>
          </a:prstGeom>
          <a:solidFill>
            <a:schemeClr val="bg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1" strike="noStrike" spc="-1">
                <a:latin typeface="Calibri"/>
                <a:ea typeface="Calibri"/>
              </a:rPr>
              <a:t>F1-Score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377" name="Shape 18"/>
          <p:cNvSpPr/>
          <p:nvPr/>
        </p:nvSpPr>
        <p:spPr>
          <a:xfrm>
            <a:off x="0" y="4919400"/>
            <a:ext cx="9143640" cy="223560"/>
          </a:xfrm>
          <a:prstGeom prst="rect">
            <a:avLst/>
          </a:prstGeom>
          <a:solidFill>
            <a:srgbClr val="D9D9D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78" name="Text 19"/>
          <p:cNvSpPr/>
          <p:nvPr/>
        </p:nvSpPr>
        <p:spPr>
          <a:xfrm>
            <a:off x="0" y="4919400"/>
            <a:ext cx="9143640" cy="223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00" b="0" strike="noStrike" spc="-1">
                <a:solidFill>
                  <a:srgbClr val="808080"/>
                </a:solidFill>
                <a:latin typeface="Calibri"/>
                <a:ea typeface="Calibri"/>
              </a:rPr>
              <a:t>Department Of CSE  |  KGiSL Institute of Technology, Coimbatore</a:t>
            </a:r>
            <a:endParaRPr lang="en-US" sz="9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Shape 0"/>
          <p:cNvSpPr/>
          <p:nvPr/>
        </p:nvSpPr>
        <p:spPr>
          <a:xfrm>
            <a:off x="0" y="0"/>
            <a:ext cx="9143640" cy="502560"/>
          </a:xfrm>
          <a:prstGeom prst="rect">
            <a:avLst/>
          </a:prstGeom>
          <a:solidFill>
            <a:schemeClr val="bg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80" name="Text 1"/>
          <p:cNvSpPr/>
          <p:nvPr/>
        </p:nvSpPr>
        <p:spPr>
          <a:xfrm>
            <a:off x="228600" y="36720"/>
            <a:ext cx="7772040" cy="429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1" spc="-1" dirty="0">
                <a:latin typeface="Calibri"/>
                <a:ea typeface="Calibri"/>
              </a:rPr>
              <a:t>RESULTS AND ANALYSIS</a:t>
            </a:r>
            <a:endParaRPr lang="en-US" sz="2000" b="0" strike="noStrike" spc="-1" dirty="0">
              <a:latin typeface="Arial"/>
            </a:endParaRPr>
          </a:p>
        </p:txBody>
      </p:sp>
      <p:sp>
        <p:nvSpPr>
          <p:cNvPr id="381" name="Text 2"/>
          <p:cNvSpPr/>
          <p:nvPr/>
        </p:nvSpPr>
        <p:spPr>
          <a:xfrm>
            <a:off x="8503920" y="36720"/>
            <a:ext cx="594000" cy="429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1" strike="noStrike" spc="-1">
                <a:solidFill>
                  <a:srgbClr val="FFFFFF"/>
                </a:solidFill>
                <a:latin typeface="Calibri"/>
              </a:rPr>
              <a:t>18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382" name="Text 3"/>
          <p:cNvSpPr/>
          <p:nvPr/>
        </p:nvSpPr>
        <p:spPr>
          <a:xfrm>
            <a:off x="228600" y="594360"/>
            <a:ext cx="868644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600" b="1" strike="noStrike" spc="-1">
                <a:solidFill>
                  <a:srgbClr val="1F3864"/>
                </a:solidFill>
                <a:latin typeface="Calibri"/>
                <a:ea typeface="Calibri"/>
              </a:rPr>
              <a:t>Robustness, Interpretability &amp; Clinical Reliability</a:t>
            </a:r>
            <a:endParaRPr lang="en-US" sz="1600" b="0" strike="noStrike" spc="-1">
              <a:latin typeface="Arial"/>
            </a:endParaRPr>
          </a:p>
        </p:txBody>
      </p:sp>
      <p:sp>
        <p:nvSpPr>
          <p:cNvPr id="383" name="Shape 4"/>
          <p:cNvSpPr/>
          <p:nvPr/>
        </p:nvSpPr>
        <p:spPr>
          <a:xfrm>
            <a:off x="228600" y="941760"/>
            <a:ext cx="8686440" cy="27000"/>
          </a:xfrm>
          <a:prstGeom prst="rect">
            <a:avLst/>
          </a:prstGeom>
          <a:solidFill>
            <a:srgbClr val="2E74B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84" name="Text 5"/>
          <p:cNvSpPr/>
          <p:nvPr/>
        </p:nvSpPr>
        <p:spPr>
          <a:xfrm>
            <a:off x="274320" y="1024200"/>
            <a:ext cx="8595000" cy="374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50000"/>
              </a:lnSpc>
            </a:pPr>
            <a:r>
              <a:rPr lang="en-US" sz="11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➢  </a:t>
            </a:r>
            <a:r>
              <a:rPr lang="en-US" sz="1100" b="1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Improved model interpretability:</a:t>
            </a:r>
            <a:r>
              <a:rPr lang="en-US" sz="11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Attention-based mechanisms highlight important mammogram regions — helps radiologists verify model focus.</a:t>
            </a:r>
            <a:endParaRPr lang="en-US" sz="1100" b="0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400"/>
              </a:spcAft>
              <a:buNone/>
              <a:tabLst>
                <a:tab pos="0" algn="l"/>
              </a:tabLst>
            </a:pPr>
            <a:endParaRPr lang="en-US" sz="1100" b="0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400"/>
              </a:spcAft>
              <a:buNone/>
              <a:tabLst>
                <a:tab pos="0" algn="l"/>
              </a:tabLst>
            </a:pPr>
            <a:r>
              <a:rPr lang="en-US" sz="11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➢  </a:t>
            </a:r>
            <a:r>
              <a:rPr lang="en-US" sz="1100" b="1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Robustness across diverse datasets:</a:t>
            </a:r>
            <a:r>
              <a:rPr lang="en-US" sz="11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Pretrained transformers + data augmentation enable generalization across different scanners, conditions, and patient populations.</a:t>
            </a:r>
            <a:endParaRPr lang="en-US" sz="1100" b="0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400"/>
              </a:spcAft>
              <a:buNone/>
              <a:tabLst>
                <a:tab pos="0" algn="l"/>
              </a:tabLst>
            </a:pPr>
            <a:endParaRPr lang="en-US" sz="1100" b="0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400"/>
              </a:spcAft>
              <a:buNone/>
              <a:tabLst>
                <a:tab pos="0" algn="l"/>
              </a:tabLst>
            </a:pPr>
            <a:r>
              <a:rPr lang="en-US" sz="11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➢  </a:t>
            </a:r>
            <a:r>
              <a:rPr lang="en-US" sz="1100" b="1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Reduced shortcut learning risk:</a:t>
            </a:r>
            <a:r>
              <a:rPr lang="en-US" sz="11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Dual-stream approach ensures the model focuses on clinically relevant glandular tissue, not borders or artifacts.</a:t>
            </a:r>
            <a:endParaRPr lang="en-US" sz="1100" b="0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400"/>
              </a:spcAft>
              <a:buNone/>
              <a:tabLst>
                <a:tab pos="0" algn="l"/>
              </a:tabLst>
            </a:pPr>
            <a:endParaRPr lang="en-US" sz="1100" b="0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400"/>
              </a:spcAft>
              <a:buNone/>
              <a:tabLst>
                <a:tab pos="0" algn="l"/>
              </a:tabLst>
            </a:pPr>
            <a:r>
              <a:rPr lang="en-US" sz="11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➢  </a:t>
            </a:r>
            <a:r>
              <a:rPr lang="en-US" sz="1100" b="1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Cross-dataset generalization:</a:t>
            </a:r>
            <a:r>
              <a:rPr lang="en-US" sz="11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Expected consistent performance across CBIS-DDSM, MIAS, and real clinical imaging environments.</a:t>
            </a:r>
            <a:endParaRPr lang="en-US" sz="1100" b="0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400"/>
              </a:spcAft>
              <a:buNone/>
              <a:tabLst>
                <a:tab pos="0" algn="l"/>
              </a:tabLst>
            </a:pPr>
            <a:endParaRPr lang="en-US" sz="1100" b="0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400"/>
              </a:spcAft>
              <a:buNone/>
              <a:tabLst>
                <a:tab pos="0" algn="l"/>
              </a:tabLst>
            </a:pPr>
            <a:r>
              <a:rPr lang="en-US" sz="11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➢  </a:t>
            </a:r>
            <a:r>
              <a:rPr lang="en-US" sz="1100" b="1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Clinical workflow integration:</a:t>
            </a:r>
            <a:r>
              <a:rPr lang="en-US" sz="11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Integrated diagnosis + clinical recommendation reports directly support radiologist decision-making.</a:t>
            </a:r>
            <a:endParaRPr lang="en-US" sz="1100" b="0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400"/>
              </a:spcAft>
              <a:buNone/>
              <a:tabLst>
                <a:tab pos="0" algn="l"/>
              </a:tabLst>
            </a:pPr>
            <a:endParaRPr lang="en-US" sz="1100" b="0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400"/>
              </a:spcAft>
              <a:buNone/>
              <a:tabLst>
                <a:tab pos="0" algn="l"/>
              </a:tabLst>
            </a:pPr>
            <a:r>
              <a:rPr lang="en-US" sz="11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➢  </a:t>
            </a:r>
            <a:r>
              <a:rPr lang="en-US" sz="1100" b="1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Scalable architecture:</a:t>
            </a:r>
            <a:r>
              <a:rPr lang="en-US" sz="11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Modular design can be extended with additional imaging modalities (MRI, ultrasound) in future work.</a:t>
            </a:r>
            <a:endParaRPr lang="en-US" sz="1100" b="0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5" name="Shape 6"/>
          <p:cNvSpPr/>
          <p:nvPr/>
        </p:nvSpPr>
        <p:spPr>
          <a:xfrm>
            <a:off x="0" y="4919400"/>
            <a:ext cx="9143640" cy="223560"/>
          </a:xfrm>
          <a:prstGeom prst="rect">
            <a:avLst/>
          </a:prstGeom>
          <a:solidFill>
            <a:srgbClr val="D9D9D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86" name="Text 7"/>
          <p:cNvSpPr/>
          <p:nvPr/>
        </p:nvSpPr>
        <p:spPr>
          <a:xfrm>
            <a:off x="0" y="4919400"/>
            <a:ext cx="9143640" cy="223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00" b="0" strike="noStrike" spc="-1">
                <a:solidFill>
                  <a:srgbClr val="808080"/>
                </a:solidFill>
                <a:latin typeface="Calibri"/>
                <a:ea typeface="Calibri"/>
              </a:rPr>
              <a:t>Department Of CSE  |  KGiSL Institute of Technology, Coimbatore</a:t>
            </a:r>
            <a:endParaRPr lang="en-US" sz="9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Shape 0"/>
          <p:cNvSpPr/>
          <p:nvPr/>
        </p:nvSpPr>
        <p:spPr>
          <a:xfrm>
            <a:off x="0" y="0"/>
            <a:ext cx="9143640" cy="502560"/>
          </a:xfrm>
          <a:prstGeom prst="rect">
            <a:avLst/>
          </a:prstGeom>
          <a:solidFill>
            <a:schemeClr val="bg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27" name="Text 1"/>
          <p:cNvSpPr/>
          <p:nvPr/>
        </p:nvSpPr>
        <p:spPr>
          <a:xfrm>
            <a:off x="228600" y="36720"/>
            <a:ext cx="7772040" cy="429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1" strike="noStrike" spc="-1" dirty="0">
                <a:latin typeface="Calibri"/>
                <a:ea typeface="Calibri"/>
              </a:rPr>
              <a:t>APPLICATIONS</a:t>
            </a:r>
            <a:endParaRPr lang="en-US" sz="2000" b="0" strike="noStrike" spc="-1" dirty="0">
              <a:latin typeface="Arial"/>
            </a:endParaRPr>
          </a:p>
        </p:txBody>
      </p:sp>
      <p:sp>
        <p:nvSpPr>
          <p:cNvPr id="428" name="Text 2"/>
          <p:cNvSpPr/>
          <p:nvPr/>
        </p:nvSpPr>
        <p:spPr>
          <a:xfrm>
            <a:off x="8503920" y="36720"/>
            <a:ext cx="594000" cy="429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1" strike="noStrike" spc="-1">
                <a:solidFill>
                  <a:srgbClr val="FFFFFF"/>
                </a:solidFill>
                <a:latin typeface="Calibri"/>
              </a:rPr>
              <a:t>21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429" name="Text 3"/>
          <p:cNvSpPr/>
          <p:nvPr/>
        </p:nvSpPr>
        <p:spPr>
          <a:xfrm>
            <a:off x="228600" y="594360"/>
            <a:ext cx="868644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600" b="1" strike="noStrike" spc="-1">
                <a:solidFill>
                  <a:srgbClr val="1F3864"/>
                </a:solidFill>
                <a:latin typeface="Calibri"/>
                <a:ea typeface="Calibri"/>
              </a:rPr>
              <a:t>Clinical and Healthcare Applications</a:t>
            </a:r>
            <a:endParaRPr lang="en-US" sz="1600" b="0" strike="noStrike" spc="-1">
              <a:latin typeface="Arial"/>
            </a:endParaRPr>
          </a:p>
        </p:txBody>
      </p:sp>
      <p:sp>
        <p:nvSpPr>
          <p:cNvPr id="430" name="Shape 4"/>
          <p:cNvSpPr/>
          <p:nvPr/>
        </p:nvSpPr>
        <p:spPr>
          <a:xfrm>
            <a:off x="228600" y="941760"/>
            <a:ext cx="8686440" cy="27000"/>
          </a:xfrm>
          <a:prstGeom prst="rect">
            <a:avLst/>
          </a:prstGeom>
          <a:solidFill>
            <a:srgbClr val="2E74B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31" name="Text 5"/>
          <p:cNvSpPr/>
          <p:nvPr/>
        </p:nvSpPr>
        <p:spPr>
          <a:xfrm>
            <a:off x="274320" y="1024200"/>
            <a:ext cx="8595000" cy="374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endParaRPr lang="en-US" sz="11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r>
              <a:rPr lang="en-US" sz="11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➢  </a:t>
            </a:r>
            <a:r>
              <a:rPr lang="en-US" sz="1100" b="1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Hospital Breast Cancer Screening Programs:</a:t>
            </a:r>
            <a:r>
              <a:rPr lang="en-US" sz="11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Automates preliminary mammogram analysis, helping radiologists prioritize high-risk cases in high-volume settings.</a:t>
            </a:r>
            <a:endParaRPr lang="en-US" sz="1100" b="0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  <a:tabLst>
                <a:tab pos="0" algn="l"/>
              </a:tabLst>
            </a:pPr>
            <a:endParaRPr lang="en-US" sz="1100" b="0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  <a:tabLst>
                <a:tab pos="0" algn="l"/>
              </a:tabLst>
            </a:pPr>
            <a:r>
              <a:rPr lang="en-US" sz="11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➢  </a:t>
            </a:r>
            <a:r>
              <a:rPr lang="en-US" sz="1100" b="1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Early Detection in Rural &amp; Low-Resource Settings:</a:t>
            </a:r>
            <a:r>
              <a:rPr lang="en-US" sz="11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Cloud-deployable CAD tool provides expert-level analysis without access to specialized oncology radiologists.</a:t>
            </a:r>
            <a:endParaRPr lang="en-US" sz="1100" b="0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  <a:tabLst>
                <a:tab pos="0" algn="l"/>
              </a:tabLst>
            </a:pPr>
            <a:endParaRPr lang="en-US" sz="1100" b="0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  <a:tabLst>
                <a:tab pos="0" algn="l"/>
              </a:tabLst>
            </a:pPr>
            <a:r>
              <a:rPr lang="en-US" sz="11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➢  </a:t>
            </a:r>
            <a:r>
              <a:rPr lang="en-US" sz="1100" b="1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Computer-Aided Diagnosis (CAD) Integration:</a:t>
            </a:r>
            <a:r>
              <a:rPr lang="en-US" sz="11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Seamlessly integrates into existing PACS (Picture Archiving and Communication Systems) radiology workflows.</a:t>
            </a:r>
            <a:endParaRPr lang="en-US" sz="1100" b="0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  <a:tabLst>
                <a:tab pos="0" algn="l"/>
              </a:tabLst>
            </a:pPr>
            <a:endParaRPr lang="en-US" sz="1100" b="0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  <a:tabLst>
                <a:tab pos="0" algn="l"/>
              </a:tabLst>
            </a:pPr>
            <a:r>
              <a:rPr lang="en-US" sz="11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➢  </a:t>
            </a:r>
            <a:r>
              <a:rPr lang="en-US" sz="1100" b="1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Oncology Research &amp; Drug Trial Support:</a:t>
            </a:r>
            <a:r>
              <a:rPr lang="en-US" sz="11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Provides consistent, reproducible mammogram classification for clinical trial patient stratification.</a:t>
            </a:r>
            <a:endParaRPr lang="en-US" sz="1100" b="0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  <a:tabLst>
                <a:tab pos="0" algn="l"/>
              </a:tabLst>
            </a:pPr>
            <a:endParaRPr lang="en-US" sz="1100" b="0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  <a:tabLst>
                <a:tab pos="0" algn="l"/>
              </a:tabLst>
            </a:pPr>
            <a:r>
              <a:rPr lang="en-US" sz="11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➢  </a:t>
            </a:r>
            <a:r>
              <a:rPr lang="en-US" sz="1100" b="1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Medical Education &amp; Radiology Training:</a:t>
            </a:r>
            <a:r>
              <a:rPr lang="en-US" sz="11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Interpretable Grad-CAM attention maps serve as educational tools for radiology students and residents.</a:t>
            </a:r>
            <a:endParaRPr lang="en-US" sz="1100" b="0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  <a:tabLst>
                <a:tab pos="0" algn="l"/>
              </a:tabLst>
            </a:pPr>
            <a:endParaRPr lang="en-US" sz="1100" b="0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  <a:tabLst>
                <a:tab pos="0" algn="l"/>
              </a:tabLst>
            </a:pPr>
            <a:r>
              <a:rPr lang="en-US" sz="11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➢  </a:t>
            </a:r>
            <a:r>
              <a:rPr lang="en-US" sz="1100" b="1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Telemedicine &amp; Remote Diagnostics:</a:t>
            </a:r>
            <a:r>
              <a:rPr lang="en-US" sz="11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Enables remote breast cancer screening with AI assistance for patients in areas lacking specialist access.</a:t>
            </a:r>
            <a:endParaRPr lang="en-US" sz="1100" b="0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2" name="Shape 6"/>
          <p:cNvSpPr/>
          <p:nvPr/>
        </p:nvSpPr>
        <p:spPr>
          <a:xfrm>
            <a:off x="0" y="4919400"/>
            <a:ext cx="9143640" cy="223560"/>
          </a:xfrm>
          <a:prstGeom prst="rect">
            <a:avLst/>
          </a:prstGeom>
          <a:solidFill>
            <a:srgbClr val="D9D9D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33" name="Text 7"/>
          <p:cNvSpPr/>
          <p:nvPr/>
        </p:nvSpPr>
        <p:spPr>
          <a:xfrm>
            <a:off x="0" y="4919400"/>
            <a:ext cx="9143640" cy="223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00" b="0" strike="noStrike" spc="-1">
                <a:solidFill>
                  <a:srgbClr val="808080"/>
                </a:solidFill>
                <a:latin typeface="Calibri"/>
                <a:ea typeface="Calibri"/>
              </a:rPr>
              <a:t>Department Of CSE  |  KGiSL Institute of Technology, Coimbatore</a:t>
            </a:r>
            <a:endParaRPr lang="en-US" sz="9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Shape 0"/>
          <p:cNvSpPr/>
          <p:nvPr/>
        </p:nvSpPr>
        <p:spPr>
          <a:xfrm>
            <a:off x="0" y="0"/>
            <a:ext cx="9143640" cy="502560"/>
          </a:xfrm>
          <a:prstGeom prst="rect">
            <a:avLst/>
          </a:prstGeom>
          <a:solidFill>
            <a:schemeClr val="bg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35" name="Text 1"/>
          <p:cNvSpPr/>
          <p:nvPr/>
        </p:nvSpPr>
        <p:spPr>
          <a:xfrm>
            <a:off x="228600" y="36720"/>
            <a:ext cx="7772040" cy="429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1" strike="noStrike" spc="-1" dirty="0">
                <a:latin typeface="Calibri"/>
                <a:ea typeface="Calibri"/>
              </a:rPr>
              <a:t>LIMITATIONS</a:t>
            </a:r>
            <a:endParaRPr lang="en-US" sz="2000" b="0" strike="noStrike" spc="-1" dirty="0">
              <a:latin typeface="Arial"/>
            </a:endParaRPr>
          </a:p>
        </p:txBody>
      </p:sp>
      <p:sp>
        <p:nvSpPr>
          <p:cNvPr id="436" name="Text 2"/>
          <p:cNvSpPr/>
          <p:nvPr/>
        </p:nvSpPr>
        <p:spPr>
          <a:xfrm>
            <a:off x="8503920" y="36720"/>
            <a:ext cx="594000" cy="429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1" strike="noStrike" spc="-1">
                <a:solidFill>
                  <a:srgbClr val="FFFFFF"/>
                </a:solidFill>
                <a:latin typeface="Calibri"/>
              </a:rPr>
              <a:t>22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437" name="Text 3"/>
          <p:cNvSpPr/>
          <p:nvPr/>
        </p:nvSpPr>
        <p:spPr>
          <a:xfrm>
            <a:off x="228600" y="594360"/>
            <a:ext cx="868644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600" b="1" strike="noStrike" spc="-1">
                <a:solidFill>
                  <a:srgbClr val="1F3864"/>
                </a:solidFill>
                <a:latin typeface="Calibri"/>
                <a:ea typeface="Calibri"/>
              </a:rPr>
              <a:t>Current Challenges and Constraints</a:t>
            </a:r>
            <a:endParaRPr lang="en-US" sz="1600" b="0" strike="noStrike" spc="-1">
              <a:latin typeface="Arial"/>
            </a:endParaRPr>
          </a:p>
        </p:txBody>
      </p:sp>
      <p:sp>
        <p:nvSpPr>
          <p:cNvPr id="438" name="Shape 4"/>
          <p:cNvSpPr/>
          <p:nvPr/>
        </p:nvSpPr>
        <p:spPr>
          <a:xfrm>
            <a:off x="228600" y="941760"/>
            <a:ext cx="8686440" cy="27000"/>
          </a:xfrm>
          <a:prstGeom prst="rect">
            <a:avLst/>
          </a:prstGeom>
          <a:solidFill>
            <a:srgbClr val="2E74B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39" name="Text 5"/>
          <p:cNvSpPr/>
          <p:nvPr/>
        </p:nvSpPr>
        <p:spPr>
          <a:xfrm>
            <a:off x="274320" y="1024200"/>
            <a:ext cx="8595000" cy="374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endParaRPr lang="en-US" sz="11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r>
              <a:rPr lang="en-US" sz="11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➢  </a:t>
            </a:r>
            <a:r>
              <a:rPr lang="en-US" sz="1100" b="1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Computational Cost:</a:t>
            </a:r>
            <a:r>
              <a:rPr lang="en-US" sz="11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Dual-stream transformer inference is slower than CNN-based systems — requires GPU acceleration for real-time clinical deployment.</a:t>
            </a:r>
            <a:endParaRPr lang="en-US" sz="1100" b="0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  <a:tabLst>
                <a:tab pos="0" algn="l"/>
              </a:tabLst>
            </a:pPr>
            <a:endParaRPr lang="en-US" sz="1100" b="0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  <a:tabLst>
                <a:tab pos="0" algn="l"/>
              </a:tabLst>
            </a:pPr>
            <a:r>
              <a:rPr lang="en-US" sz="11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➢  </a:t>
            </a:r>
            <a:r>
              <a:rPr lang="en-US" sz="1100" b="1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Limited Training Data:</a:t>
            </a:r>
            <a:r>
              <a:rPr lang="en-US" sz="11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Medical imaging datasets are small compared to natural image datasets; model generalization across different scanner types may be inconsistent.</a:t>
            </a:r>
            <a:endParaRPr lang="en-US" sz="1100" b="0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  <a:tabLst>
                <a:tab pos="0" algn="l"/>
              </a:tabLst>
            </a:pPr>
            <a:endParaRPr lang="en-US" sz="1100" b="0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  <a:tabLst>
                <a:tab pos="0" algn="l"/>
              </a:tabLst>
            </a:pPr>
            <a:r>
              <a:rPr lang="en-US" sz="11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➢  </a:t>
            </a:r>
            <a:r>
              <a:rPr lang="en-US" sz="1100" b="1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Single Modality:</a:t>
            </a:r>
            <a:r>
              <a:rPr lang="en-US" sz="11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Current architecture processes only mammography images; integration with MRI or ultrasound could significantly improve diagnostic accuracy.</a:t>
            </a:r>
            <a:endParaRPr lang="en-US" sz="1100" b="0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  <a:tabLst>
                <a:tab pos="0" algn="l"/>
              </a:tabLst>
            </a:pPr>
            <a:endParaRPr lang="en-US" sz="1100" b="0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  <a:tabLst>
                <a:tab pos="0" algn="l"/>
              </a:tabLst>
            </a:pPr>
            <a:r>
              <a:rPr lang="en-US" sz="11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➢  </a:t>
            </a:r>
            <a:r>
              <a:rPr lang="en-US" sz="1100" b="1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Class Imbalance:</a:t>
            </a:r>
            <a:r>
              <a:rPr lang="en-US" sz="11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Mammography datasets typically contain far more benign than malignant cases, potentially biasing predictions toward the majority class.</a:t>
            </a:r>
            <a:endParaRPr lang="en-US" sz="1100" b="0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  <a:tabLst>
                <a:tab pos="0" algn="l"/>
              </a:tabLst>
            </a:pPr>
            <a:endParaRPr lang="en-US" sz="1100" b="0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  <a:tabLst>
                <a:tab pos="0" algn="l"/>
              </a:tabLst>
            </a:pPr>
            <a:r>
              <a:rPr lang="en-US" sz="11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➢  </a:t>
            </a:r>
            <a:r>
              <a:rPr lang="en-US" sz="1100" b="1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Regulatory Approval Required:</a:t>
            </a:r>
            <a:r>
              <a:rPr lang="en-US" sz="11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Clinical deployment of AI diagnostic tools requires rigorous FDA/CE approval and extensive prospective clinical trial validation.</a:t>
            </a:r>
            <a:endParaRPr lang="en-US" sz="1100" b="0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  <a:tabLst>
                <a:tab pos="0" algn="l"/>
              </a:tabLst>
            </a:pPr>
            <a:endParaRPr lang="en-US" sz="1100" b="0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  <a:tabLst>
                <a:tab pos="0" algn="l"/>
              </a:tabLst>
            </a:pPr>
            <a:r>
              <a:rPr lang="en-US" sz="11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➢  </a:t>
            </a:r>
            <a:r>
              <a:rPr lang="en-US" sz="1100" b="1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External Validation Needed:</a:t>
            </a:r>
            <a:r>
              <a:rPr lang="en-US" sz="11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Results are expected outcomes — independent validation on datasets from different institutions is necessary before clinical use.</a:t>
            </a:r>
            <a:endParaRPr lang="en-US" sz="1100" b="0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0" name="Shape 6"/>
          <p:cNvSpPr/>
          <p:nvPr/>
        </p:nvSpPr>
        <p:spPr>
          <a:xfrm>
            <a:off x="0" y="4919400"/>
            <a:ext cx="9143640" cy="223560"/>
          </a:xfrm>
          <a:prstGeom prst="rect">
            <a:avLst/>
          </a:prstGeom>
          <a:solidFill>
            <a:srgbClr val="D9D9D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41" name="Text 7"/>
          <p:cNvSpPr/>
          <p:nvPr/>
        </p:nvSpPr>
        <p:spPr>
          <a:xfrm>
            <a:off x="0" y="4919400"/>
            <a:ext cx="9143640" cy="223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00" b="0" strike="noStrike" spc="-1">
                <a:solidFill>
                  <a:srgbClr val="808080"/>
                </a:solidFill>
                <a:latin typeface="Calibri"/>
                <a:ea typeface="Calibri"/>
              </a:rPr>
              <a:t>Department Of CSE  |  KGiSL Institute of Technology, Coimbatore</a:t>
            </a:r>
            <a:endParaRPr lang="en-US" sz="9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Shape 0"/>
          <p:cNvSpPr/>
          <p:nvPr/>
        </p:nvSpPr>
        <p:spPr>
          <a:xfrm>
            <a:off x="0" y="0"/>
            <a:ext cx="9143640" cy="502560"/>
          </a:xfrm>
          <a:prstGeom prst="rect">
            <a:avLst/>
          </a:prstGeom>
          <a:solidFill>
            <a:schemeClr val="bg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43" name="Text 1"/>
          <p:cNvSpPr/>
          <p:nvPr/>
        </p:nvSpPr>
        <p:spPr>
          <a:xfrm>
            <a:off x="228600" y="36720"/>
            <a:ext cx="7772040" cy="429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1" strike="noStrike" spc="-1" dirty="0">
                <a:latin typeface="Calibri"/>
                <a:ea typeface="Calibri"/>
              </a:rPr>
              <a:t>CONCLUSION</a:t>
            </a:r>
            <a:endParaRPr lang="en-US" sz="2000" b="0" strike="noStrike" spc="-1" dirty="0">
              <a:latin typeface="Arial"/>
            </a:endParaRPr>
          </a:p>
        </p:txBody>
      </p:sp>
      <p:sp>
        <p:nvSpPr>
          <p:cNvPr id="444" name="Text 2"/>
          <p:cNvSpPr/>
          <p:nvPr/>
        </p:nvSpPr>
        <p:spPr>
          <a:xfrm>
            <a:off x="8503920" y="36720"/>
            <a:ext cx="594000" cy="429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1" strike="noStrike" spc="-1">
                <a:solidFill>
                  <a:srgbClr val="FFFFFF"/>
                </a:solidFill>
                <a:latin typeface="Calibri"/>
              </a:rPr>
              <a:t>23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445" name="Text 3"/>
          <p:cNvSpPr/>
          <p:nvPr/>
        </p:nvSpPr>
        <p:spPr>
          <a:xfrm>
            <a:off x="228600" y="594360"/>
            <a:ext cx="868644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600" b="1" strike="noStrike" spc="-1" dirty="0">
                <a:solidFill>
                  <a:srgbClr val="1F3864"/>
                </a:solidFill>
                <a:latin typeface="Calibri"/>
                <a:ea typeface="Calibri"/>
              </a:rPr>
              <a:t>Summary of Contributions</a:t>
            </a:r>
            <a:endParaRPr lang="en-US" sz="1600" b="0" strike="noStrike" spc="-1" dirty="0">
              <a:latin typeface="Arial"/>
            </a:endParaRPr>
          </a:p>
        </p:txBody>
      </p:sp>
      <p:sp>
        <p:nvSpPr>
          <p:cNvPr id="446" name="Shape 4"/>
          <p:cNvSpPr/>
          <p:nvPr/>
        </p:nvSpPr>
        <p:spPr>
          <a:xfrm>
            <a:off x="228600" y="941760"/>
            <a:ext cx="8686440" cy="27000"/>
          </a:xfrm>
          <a:prstGeom prst="rect">
            <a:avLst/>
          </a:prstGeom>
          <a:solidFill>
            <a:srgbClr val="2E74B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47" name="Text 5"/>
          <p:cNvSpPr/>
          <p:nvPr/>
        </p:nvSpPr>
        <p:spPr>
          <a:xfrm>
            <a:off x="274320" y="1024200"/>
            <a:ext cx="8595000" cy="374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endParaRPr lang="en-US" sz="11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r>
              <a:rPr lang="en-US" sz="11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➢  Proposed a novel </a:t>
            </a:r>
            <a:r>
              <a:rPr lang="en-US" sz="1100" b="1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Parallel Dual-Stream Vision Transformer architecture</a:t>
            </a:r>
            <a:r>
              <a:rPr lang="en-US" sz="11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combining RAD-DINO (global context) and </a:t>
            </a:r>
            <a:r>
              <a:rPr lang="en-US" sz="1100" b="0" strike="noStrike" spc="-1" dirty="0" err="1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Swin</a:t>
            </a:r>
            <a:r>
              <a:rPr lang="en-US" sz="11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Transformer (local texture) for mammography analysis.</a:t>
            </a:r>
            <a:endParaRPr lang="en-US" sz="1100" b="0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  <a:tabLst>
                <a:tab pos="0" algn="l"/>
              </a:tabLst>
            </a:pPr>
            <a:endParaRPr lang="en-US" sz="1100" b="0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  <a:tabLst>
                <a:tab pos="0" algn="l"/>
              </a:tabLst>
            </a:pPr>
            <a:r>
              <a:rPr lang="en-US" sz="11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➢  Addressed the critical </a:t>
            </a:r>
            <a:r>
              <a:rPr lang="en-US" sz="1100" b="1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shortcut learning problem</a:t>
            </a:r>
            <a:r>
              <a:rPr lang="en-US" sz="11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by forcing the model to analyze both global anatomical context and fine-grained tissue patterns simultaneously.</a:t>
            </a:r>
            <a:endParaRPr lang="en-US" sz="1100" b="0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  <a:tabLst>
                <a:tab pos="0" algn="l"/>
              </a:tabLst>
            </a:pPr>
            <a:endParaRPr lang="en-US" sz="1100" b="0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  <a:tabLst>
                <a:tab pos="0" algn="l"/>
              </a:tabLst>
            </a:pPr>
            <a:r>
              <a:rPr lang="en-US" sz="11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➢  Integrated </a:t>
            </a:r>
            <a:r>
              <a:rPr lang="en-US" sz="1100" b="1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Grad-CAM visual explanations and </a:t>
            </a:r>
            <a:r>
              <a:rPr lang="en-US" sz="1100" b="1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Gemini</a:t>
            </a:r>
            <a:r>
              <a:rPr lang="en-US" sz="1100" b="1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-based clinical recommendations</a:t>
            </a:r>
            <a:r>
              <a:rPr lang="en-US" sz="11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to provide interpretable, actionable diagnostic support for radiologists.</a:t>
            </a:r>
            <a:endParaRPr lang="en-US" sz="1100" b="0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  <a:tabLst>
                <a:tab pos="0" algn="l"/>
              </a:tabLst>
            </a:pPr>
            <a:endParaRPr lang="en-US" sz="1100" b="0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  <a:tabLst>
                <a:tab pos="0" algn="l"/>
              </a:tabLst>
            </a:pPr>
            <a:r>
              <a:rPr lang="en-US" sz="11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➢  Demonstrated that </a:t>
            </a:r>
            <a:r>
              <a:rPr lang="en-US" sz="1100" b="1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pretrained radiology-specific transformers (RAD-DINO, frozen)</a:t>
            </a:r>
            <a:r>
              <a:rPr lang="en-US" sz="11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can be effectively combined with fine-tuned local texture models for superior classification.</a:t>
            </a:r>
            <a:endParaRPr lang="en-US" sz="1100" b="0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  <a:tabLst>
                <a:tab pos="0" algn="l"/>
              </a:tabLst>
            </a:pPr>
            <a:endParaRPr lang="en-US" sz="1100" b="0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  <a:tabLst>
                <a:tab pos="0" algn="l"/>
              </a:tabLst>
            </a:pPr>
            <a:r>
              <a:rPr lang="en-US" sz="11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➢  The proposed system offers improved </a:t>
            </a:r>
            <a:r>
              <a:rPr lang="en-US" sz="1100" b="1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accuracy, interpretability, and robustness</a:t>
            </a:r>
            <a:r>
              <a:rPr lang="en-US" sz="11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compared to conventional single-model approaches.</a:t>
            </a:r>
            <a:endParaRPr lang="en-US" sz="1100" b="0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  <a:tabLst>
                <a:tab pos="0" algn="l"/>
              </a:tabLst>
            </a:pPr>
            <a:endParaRPr lang="en-US" sz="1100" b="0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  <a:tabLst>
                <a:tab pos="0" algn="l"/>
              </a:tabLst>
            </a:pPr>
            <a:r>
              <a:rPr lang="en-US" sz="11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➢  With further validation, such </a:t>
            </a:r>
            <a:r>
              <a:rPr lang="en-US" sz="1100" b="1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AI-based diagnostic tools</a:t>
            </a:r>
            <a:r>
              <a:rPr lang="en-US" sz="11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may play an important role in supporting radiologists and improving early detection of breast cancer.</a:t>
            </a:r>
            <a:endParaRPr lang="en-US" sz="1100" b="0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8" name="Shape 6"/>
          <p:cNvSpPr/>
          <p:nvPr/>
        </p:nvSpPr>
        <p:spPr>
          <a:xfrm>
            <a:off x="0" y="4919400"/>
            <a:ext cx="9143640" cy="223560"/>
          </a:xfrm>
          <a:prstGeom prst="rect">
            <a:avLst/>
          </a:prstGeom>
          <a:solidFill>
            <a:srgbClr val="D9D9D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49" name="Text 7"/>
          <p:cNvSpPr/>
          <p:nvPr/>
        </p:nvSpPr>
        <p:spPr>
          <a:xfrm>
            <a:off x="0" y="4919400"/>
            <a:ext cx="9143640" cy="223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00" b="0" strike="noStrike" spc="-1">
                <a:solidFill>
                  <a:srgbClr val="808080"/>
                </a:solidFill>
                <a:latin typeface="Calibri"/>
                <a:ea typeface="Calibri"/>
              </a:rPr>
              <a:t>Department Of CSE  |  KGiSL Institute of Technology, Coimbatore</a:t>
            </a:r>
            <a:endParaRPr lang="en-US" sz="9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65760" y="914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PUBLICATION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28600" y="519523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ln w="0"/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Research Published in Peer-Reviewed Journal</a:t>
            </a:r>
          </a:p>
        </p:txBody>
      </p:sp>
      <p:sp>
        <p:nvSpPr>
          <p:cNvPr id="6" name="Shape 4"/>
          <p:cNvSpPr/>
          <p:nvPr/>
        </p:nvSpPr>
        <p:spPr>
          <a:xfrm>
            <a:off x="274320" y="1175004"/>
            <a:ext cx="8229600" cy="214884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</p:sp>
      <p:sp>
        <p:nvSpPr>
          <p:cNvPr id="7" name="Shape 5"/>
          <p:cNvSpPr/>
          <p:nvPr/>
        </p:nvSpPr>
        <p:spPr>
          <a:xfrm>
            <a:off x="274320" y="1175004"/>
            <a:ext cx="73152" cy="214884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</p:sp>
      <p:sp>
        <p:nvSpPr>
          <p:cNvPr id="8" name="Text 6"/>
          <p:cNvSpPr/>
          <p:nvPr/>
        </p:nvSpPr>
        <p:spPr>
          <a:xfrm>
            <a:off x="475488" y="1239012"/>
            <a:ext cx="1828800" cy="29260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/>
              <a:t>Title: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395728" y="1239012"/>
            <a:ext cx="5943600" cy="29260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/>
              <a:t>Parallel Dual-Stream Vision Transformer Network for Breast Cancer Classification in Mammography Images</a:t>
            </a:r>
          </a:p>
        </p:txBody>
      </p:sp>
      <p:sp>
        <p:nvSpPr>
          <p:cNvPr id="10" name="Text 8"/>
          <p:cNvSpPr/>
          <p:nvPr/>
        </p:nvSpPr>
        <p:spPr>
          <a:xfrm>
            <a:off x="475488" y="1568196"/>
            <a:ext cx="1828800" cy="29260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/>
              <a:t>Journal: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395728" y="1568196"/>
            <a:ext cx="5943600" cy="29260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/>
              <a:t>MSW Management Journal — Multidisciplinary, Scientific Work and Management</a:t>
            </a:r>
          </a:p>
        </p:txBody>
      </p:sp>
      <p:sp>
        <p:nvSpPr>
          <p:cNvPr id="12" name="Text 10"/>
          <p:cNvSpPr/>
          <p:nvPr/>
        </p:nvSpPr>
        <p:spPr>
          <a:xfrm>
            <a:off x="475488" y="1897380"/>
            <a:ext cx="1828800" cy="29260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/>
              <a:t>ISSN: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395728" y="1897380"/>
            <a:ext cx="5943600" cy="29260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/>
              <a:t>1053-7899</a:t>
            </a:r>
          </a:p>
        </p:txBody>
      </p:sp>
      <p:sp>
        <p:nvSpPr>
          <p:cNvPr id="14" name="Text 12"/>
          <p:cNvSpPr/>
          <p:nvPr/>
        </p:nvSpPr>
        <p:spPr>
          <a:xfrm>
            <a:off x="475488" y="2226564"/>
            <a:ext cx="1828800" cy="29260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/>
              <a:t>Volume / Issue / Year: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395728" y="2226564"/>
            <a:ext cx="5943600" cy="29260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/>
              <a:t>Vol. 36, Issue 1, 2026</a:t>
            </a:r>
          </a:p>
        </p:txBody>
      </p:sp>
      <p:sp>
        <p:nvSpPr>
          <p:cNvPr id="16" name="Text 14"/>
          <p:cNvSpPr/>
          <p:nvPr/>
        </p:nvSpPr>
        <p:spPr>
          <a:xfrm>
            <a:off x="475488" y="2555748"/>
            <a:ext cx="1828800" cy="29260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/>
              <a:t>Pages: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395728" y="2555748"/>
            <a:ext cx="5943600" cy="29260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/>
              <a:t>3334 – 3339</a:t>
            </a:r>
          </a:p>
        </p:txBody>
      </p:sp>
      <p:sp>
        <p:nvSpPr>
          <p:cNvPr id="18" name="Text 16"/>
          <p:cNvSpPr/>
          <p:nvPr/>
        </p:nvSpPr>
        <p:spPr>
          <a:xfrm>
            <a:off x="475488" y="2884932"/>
            <a:ext cx="1828800" cy="29260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/>
              <a:t>URL: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395728" y="2871680"/>
            <a:ext cx="5943600" cy="29260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/>
              <a:t>https://mswmanagementj.com/</a:t>
            </a:r>
          </a:p>
        </p:txBody>
      </p:sp>
      <p:sp>
        <p:nvSpPr>
          <p:cNvPr id="20" name="Text 18"/>
          <p:cNvSpPr/>
          <p:nvPr/>
        </p:nvSpPr>
        <p:spPr>
          <a:xfrm>
            <a:off x="457200" y="3703320"/>
            <a:ext cx="1371600" cy="27432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/>
              <a:t>Authors: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828800" y="3703320"/>
            <a:ext cx="6858000" cy="27432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1628"/>
                </a:solidFill>
              </a:rPr>
              <a:t>Keerthi R V  |  Mahesh Kanna K  |  Loganathan S  |  Arunadevi 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4005072"/>
            <a:ext cx="1371600" cy="27432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/>
              <a:t>Guide: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828800" y="4005072"/>
            <a:ext cx="6858000" cy="27432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1628"/>
                </a:solidFill>
              </a:rPr>
              <a:t>Ms. Dhamayanthi P, Assistant Professor, Dept. of CSE, KGiSL Institute of Technology, Coimbatore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4370832"/>
            <a:ext cx="8229600" cy="34747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</p:sp>
      <p:sp>
        <p:nvSpPr>
          <p:cNvPr id="25" name="Text 23"/>
          <p:cNvSpPr/>
          <p:nvPr/>
        </p:nvSpPr>
        <p:spPr>
          <a:xfrm>
            <a:off x="457200" y="4370832"/>
            <a:ext cx="8229600" cy="34747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/>
              <a:t>This research demonstrates the team's capability to conduct, publish, and present original research at the undergraduate level.</a:t>
            </a:r>
          </a:p>
        </p:txBody>
      </p:sp>
      <p:sp>
        <p:nvSpPr>
          <p:cNvPr id="26" name="Shape 24"/>
          <p:cNvSpPr/>
          <p:nvPr/>
        </p:nvSpPr>
        <p:spPr>
          <a:xfrm>
            <a:off x="0" y="4818888"/>
            <a:ext cx="9144000" cy="32004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7" name="Text 25"/>
          <p:cNvSpPr/>
          <p:nvPr/>
        </p:nvSpPr>
        <p:spPr>
          <a:xfrm>
            <a:off x="182880" y="482803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800" b="0" strike="noStrike" spc="-1" dirty="0">
                <a:solidFill>
                  <a:srgbClr val="808080"/>
                </a:solidFill>
                <a:latin typeface="Calibri"/>
                <a:ea typeface="Calibri"/>
              </a:rPr>
              <a:t>Department Of CSE  |  KGiSL Institute of Technology, Coimbatore</a:t>
            </a:r>
            <a:endParaRPr lang="en-US" sz="800" spc="-1" dirty="0"/>
          </a:p>
        </p:txBody>
      </p:sp>
      <p:sp>
        <p:nvSpPr>
          <p:cNvPr id="28" name="Text 26"/>
          <p:cNvSpPr/>
          <p:nvPr/>
        </p:nvSpPr>
        <p:spPr>
          <a:xfrm>
            <a:off x="8503920" y="48280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5EEAD4"/>
                </a:solidFill>
              </a:rPr>
              <a:t>23</a:t>
            </a:r>
            <a:endParaRPr lang="en-US" sz="900" dirty="0"/>
          </a:p>
        </p:txBody>
      </p:sp>
      <p:sp>
        <p:nvSpPr>
          <p:cNvPr id="32" name="Shape 0">
            <a:extLst>
              <a:ext uri="{FF2B5EF4-FFF2-40B4-BE49-F238E27FC236}">
                <a16:creationId xmlns:a16="http://schemas.microsoft.com/office/drawing/2014/main" id="{C7AA9EAD-84FB-4C9B-9BAD-40AD1A32DD92}"/>
              </a:ext>
            </a:extLst>
          </p:cNvPr>
          <p:cNvSpPr/>
          <p:nvPr/>
        </p:nvSpPr>
        <p:spPr>
          <a:xfrm>
            <a:off x="0" y="0"/>
            <a:ext cx="9143640" cy="502560"/>
          </a:xfrm>
          <a:prstGeom prst="rect">
            <a:avLst/>
          </a:prstGeom>
          <a:solidFill>
            <a:schemeClr val="bg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3" name="Text 1">
            <a:extLst>
              <a:ext uri="{FF2B5EF4-FFF2-40B4-BE49-F238E27FC236}">
                <a16:creationId xmlns:a16="http://schemas.microsoft.com/office/drawing/2014/main" id="{DE31E5E0-B8B5-4129-8B2B-5B33FA9E864B}"/>
              </a:ext>
            </a:extLst>
          </p:cNvPr>
          <p:cNvSpPr/>
          <p:nvPr/>
        </p:nvSpPr>
        <p:spPr>
          <a:xfrm>
            <a:off x="92765" y="-27432"/>
            <a:ext cx="822695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PUBLICATION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4" name="Shape 4">
            <a:extLst>
              <a:ext uri="{FF2B5EF4-FFF2-40B4-BE49-F238E27FC236}">
                <a16:creationId xmlns:a16="http://schemas.microsoft.com/office/drawing/2014/main" id="{3BD21061-2BAB-41DB-912D-745C5A5301FE}"/>
              </a:ext>
            </a:extLst>
          </p:cNvPr>
          <p:cNvSpPr/>
          <p:nvPr/>
        </p:nvSpPr>
        <p:spPr>
          <a:xfrm>
            <a:off x="228600" y="939892"/>
            <a:ext cx="8686440" cy="27000"/>
          </a:xfrm>
          <a:prstGeom prst="rect">
            <a:avLst/>
          </a:prstGeom>
          <a:solidFill>
            <a:srgbClr val="2E74B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Shape 0"/>
          <p:cNvSpPr/>
          <p:nvPr/>
        </p:nvSpPr>
        <p:spPr>
          <a:xfrm>
            <a:off x="0" y="0"/>
            <a:ext cx="9143640" cy="502560"/>
          </a:xfrm>
          <a:prstGeom prst="rect">
            <a:avLst/>
          </a:prstGeom>
          <a:solidFill>
            <a:schemeClr val="bg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51" name="Text 1"/>
          <p:cNvSpPr/>
          <p:nvPr/>
        </p:nvSpPr>
        <p:spPr>
          <a:xfrm>
            <a:off x="228600" y="36720"/>
            <a:ext cx="7772040" cy="429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1" strike="noStrike" spc="-1" dirty="0">
                <a:latin typeface="Calibri"/>
                <a:ea typeface="Calibri"/>
              </a:rPr>
              <a:t>FUTURE WORK</a:t>
            </a:r>
            <a:endParaRPr lang="en-US" sz="2000" b="0" strike="noStrike" spc="-1" dirty="0">
              <a:latin typeface="Arial"/>
            </a:endParaRPr>
          </a:p>
        </p:txBody>
      </p:sp>
      <p:sp>
        <p:nvSpPr>
          <p:cNvPr id="452" name="Text 2"/>
          <p:cNvSpPr/>
          <p:nvPr/>
        </p:nvSpPr>
        <p:spPr>
          <a:xfrm>
            <a:off x="8503920" y="36720"/>
            <a:ext cx="594000" cy="429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1" strike="noStrike" spc="-1">
                <a:solidFill>
                  <a:srgbClr val="FFFFFF"/>
                </a:solidFill>
                <a:latin typeface="Calibri"/>
              </a:rPr>
              <a:t>24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453" name="Text 3"/>
          <p:cNvSpPr/>
          <p:nvPr/>
        </p:nvSpPr>
        <p:spPr>
          <a:xfrm>
            <a:off x="228600" y="594360"/>
            <a:ext cx="868644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600" b="1" strike="noStrike" spc="-1">
                <a:solidFill>
                  <a:srgbClr val="1F3864"/>
                </a:solidFill>
                <a:latin typeface="Calibri"/>
                <a:ea typeface="Calibri"/>
              </a:rPr>
              <a:t>Directions for Further Research</a:t>
            </a:r>
            <a:endParaRPr lang="en-US" sz="1600" b="0" strike="noStrike" spc="-1">
              <a:latin typeface="Arial"/>
            </a:endParaRPr>
          </a:p>
        </p:txBody>
      </p:sp>
      <p:sp>
        <p:nvSpPr>
          <p:cNvPr id="454" name="Shape 4"/>
          <p:cNvSpPr/>
          <p:nvPr/>
        </p:nvSpPr>
        <p:spPr>
          <a:xfrm>
            <a:off x="228600" y="941760"/>
            <a:ext cx="8686440" cy="27000"/>
          </a:xfrm>
          <a:prstGeom prst="rect">
            <a:avLst/>
          </a:prstGeom>
          <a:solidFill>
            <a:srgbClr val="2E74B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55" name="Text 5"/>
          <p:cNvSpPr/>
          <p:nvPr/>
        </p:nvSpPr>
        <p:spPr>
          <a:xfrm>
            <a:off x="274320" y="1024200"/>
            <a:ext cx="8595000" cy="374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50000"/>
              </a:lnSpc>
            </a:pPr>
            <a:endParaRPr lang="en-US" sz="11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1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➢  </a:t>
            </a:r>
            <a:r>
              <a:rPr lang="en-US" sz="1100" b="1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Multi-Modal Fusion:</a:t>
            </a:r>
            <a:r>
              <a:rPr lang="en-US" sz="11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Integrate ultrasound, MRI, and clinical patient data alongside mammography for comprehensive diagnostic analysis.</a:t>
            </a:r>
            <a:endParaRPr lang="en-US" sz="1100" b="0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400"/>
              </a:spcAft>
              <a:buNone/>
              <a:tabLst>
                <a:tab pos="0" algn="l"/>
              </a:tabLst>
            </a:pPr>
            <a:endParaRPr lang="en-US" sz="1100" b="0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400"/>
              </a:spcAft>
              <a:buNone/>
              <a:tabLst>
                <a:tab pos="0" algn="l"/>
              </a:tabLst>
            </a:pPr>
            <a:r>
              <a:rPr lang="en-US" sz="11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➢  </a:t>
            </a:r>
            <a:r>
              <a:rPr lang="en-US" sz="1100" b="1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Federated Learning:</a:t>
            </a:r>
            <a:r>
              <a:rPr lang="en-US" sz="11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Train across multiple hospital datasets without sharing patient data — preserving privacy while improving model diversity.</a:t>
            </a:r>
            <a:endParaRPr lang="en-US" sz="1100" b="0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400"/>
              </a:spcAft>
              <a:buNone/>
              <a:tabLst>
                <a:tab pos="0" algn="l"/>
              </a:tabLst>
            </a:pPr>
            <a:endParaRPr lang="en-US" sz="1100" b="0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400"/>
              </a:spcAft>
              <a:buNone/>
              <a:tabLst>
                <a:tab pos="0" algn="l"/>
              </a:tabLst>
            </a:pPr>
            <a:r>
              <a:rPr lang="en-US" sz="11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➢  </a:t>
            </a:r>
            <a:r>
              <a:rPr lang="en-US" sz="1100" b="1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3D Volumetric Analysis:</a:t>
            </a:r>
            <a:r>
              <a:rPr lang="en-US" sz="11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Extend architecture to analyze 3D tomosynthesis data (digital breast tomography) for improved lesion localization.</a:t>
            </a:r>
            <a:endParaRPr lang="en-US" sz="1100" b="0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400"/>
              </a:spcAft>
              <a:buNone/>
              <a:tabLst>
                <a:tab pos="0" algn="l"/>
              </a:tabLst>
            </a:pPr>
            <a:endParaRPr lang="en-US" sz="1100" b="0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400"/>
              </a:spcAft>
              <a:buNone/>
              <a:tabLst>
                <a:tab pos="0" algn="l"/>
              </a:tabLst>
            </a:pPr>
            <a:r>
              <a:rPr lang="en-US" sz="11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➢  </a:t>
            </a:r>
            <a:r>
              <a:rPr lang="en-US" sz="1100" b="1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Larger &amp; More Diverse Datasets:</a:t>
            </a:r>
            <a:r>
              <a:rPr lang="en-US" sz="11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Validate on multi-institution datasets to improve generalization across scanner types, ethnicities, and patient populations.</a:t>
            </a:r>
            <a:endParaRPr lang="en-US" sz="1100" b="0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400"/>
              </a:spcAft>
              <a:buNone/>
              <a:tabLst>
                <a:tab pos="0" algn="l"/>
              </a:tabLst>
            </a:pPr>
            <a:endParaRPr lang="en-US" sz="1100" b="0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400"/>
              </a:spcAft>
              <a:buNone/>
              <a:tabLst>
                <a:tab pos="0" algn="l"/>
              </a:tabLst>
            </a:pPr>
            <a:r>
              <a:rPr lang="en-US" sz="11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➢  </a:t>
            </a:r>
            <a:r>
              <a:rPr lang="en-US" sz="1100" b="1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Active Learning:</a:t>
            </a:r>
            <a:r>
              <a:rPr lang="en-US" sz="11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Implement intelligent sample selection to maximize learning from limited labeled data, reducing annotation burden on radiologists.</a:t>
            </a:r>
            <a:endParaRPr lang="en-US" sz="1100" b="0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400"/>
              </a:spcAft>
              <a:buNone/>
              <a:tabLst>
                <a:tab pos="0" algn="l"/>
              </a:tabLst>
            </a:pPr>
            <a:endParaRPr lang="en-US" sz="1100" b="0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400"/>
              </a:spcAft>
              <a:buNone/>
              <a:tabLst>
                <a:tab pos="0" algn="l"/>
              </a:tabLst>
            </a:pPr>
            <a:r>
              <a:rPr lang="en-US" sz="11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➢  </a:t>
            </a:r>
            <a:r>
              <a:rPr lang="en-US" sz="1100" b="1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Real-Time Deployment:</a:t>
            </a:r>
            <a:r>
              <a:rPr lang="en-US" sz="11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Optimize inference speed with model distillation and quantization for integration into PACS radiology workflows.</a:t>
            </a:r>
            <a:endParaRPr lang="en-US" sz="1100" b="0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6" name="Shape 6"/>
          <p:cNvSpPr/>
          <p:nvPr/>
        </p:nvSpPr>
        <p:spPr>
          <a:xfrm>
            <a:off x="0" y="4919400"/>
            <a:ext cx="9143640" cy="223560"/>
          </a:xfrm>
          <a:prstGeom prst="rect">
            <a:avLst/>
          </a:prstGeom>
          <a:solidFill>
            <a:srgbClr val="D9D9D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57" name="Text 7"/>
          <p:cNvSpPr/>
          <p:nvPr/>
        </p:nvSpPr>
        <p:spPr>
          <a:xfrm>
            <a:off x="0" y="4919400"/>
            <a:ext cx="9143640" cy="223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00" b="0" strike="noStrike" spc="-1" dirty="0">
                <a:solidFill>
                  <a:srgbClr val="808080"/>
                </a:solidFill>
                <a:latin typeface="Calibri"/>
                <a:ea typeface="Calibri"/>
              </a:rPr>
              <a:t>Department Of CSE  |  KGiSL Institute of Technology, Coimbatore</a:t>
            </a:r>
            <a:endParaRPr lang="en-US" sz="900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Shape 0"/>
          <p:cNvSpPr/>
          <p:nvPr/>
        </p:nvSpPr>
        <p:spPr>
          <a:xfrm>
            <a:off x="0" y="0"/>
            <a:ext cx="9143640" cy="502560"/>
          </a:xfrm>
          <a:prstGeom prst="rect">
            <a:avLst/>
          </a:prstGeom>
          <a:solidFill>
            <a:schemeClr val="bg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59" name="Text 1"/>
          <p:cNvSpPr/>
          <p:nvPr/>
        </p:nvSpPr>
        <p:spPr>
          <a:xfrm>
            <a:off x="228600" y="36720"/>
            <a:ext cx="7772040" cy="429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1" strike="noStrike" spc="-1" dirty="0">
                <a:latin typeface="Calibri"/>
                <a:ea typeface="Calibri"/>
              </a:rPr>
              <a:t>REFERENCES</a:t>
            </a:r>
            <a:endParaRPr lang="en-US" sz="2000" b="0" strike="noStrike" spc="-1" dirty="0">
              <a:latin typeface="Arial"/>
            </a:endParaRPr>
          </a:p>
        </p:txBody>
      </p:sp>
      <p:sp>
        <p:nvSpPr>
          <p:cNvPr id="460" name="Text 2"/>
          <p:cNvSpPr/>
          <p:nvPr/>
        </p:nvSpPr>
        <p:spPr>
          <a:xfrm>
            <a:off x="8503920" y="36720"/>
            <a:ext cx="594000" cy="429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1" strike="noStrike" spc="-1">
                <a:solidFill>
                  <a:srgbClr val="FFFFFF"/>
                </a:solidFill>
                <a:latin typeface="Calibri"/>
              </a:rPr>
              <a:t>25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461" name="Text 3"/>
          <p:cNvSpPr/>
          <p:nvPr/>
        </p:nvSpPr>
        <p:spPr>
          <a:xfrm>
            <a:off x="228600" y="594360"/>
            <a:ext cx="868644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600" b="1" strike="noStrike" spc="-1">
                <a:solidFill>
                  <a:srgbClr val="1F3864"/>
                </a:solidFill>
                <a:latin typeface="Calibri"/>
                <a:ea typeface="Calibri"/>
              </a:rPr>
              <a:t>Key References [1–15]</a:t>
            </a:r>
            <a:endParaRPr lang="en-US" sz="1600" b="0" strike="noStrike" spc="-1">
              <a:latin typeface="Arial"/>
            </a:endParaRPr>
          </a:p>
        </p:txBody>
      </p:sp>
      <p:sp>
        <p:nvSpPr>
          <p:cNvPr id="462" name="Shape 4"/>
          <p:cNvSpPr/>
          <p:nvPr/>
        </p:nvSpPr>
        <p:spPr>
          <a:xfrm>
            <a:off x="228600" y="941760"/>
            <a:ext cx="8686440" cy="27000"/>
          </a:xfrm>
          <a:prstGeom prst="rect">
            <a:avLst/>
          </a:prstGeom>
          <a:solidFill>
            <a:srgbClr val="2E74B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63" name="Text 5"/>
          <p:cNvSpPr/>
          <p:nvPr/>
        </p:nvSpPr>
        <p:spPr>
          <a:xfrm>
            <a:off x="274320" y="1024200"/>
            <a:ext cx="85950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50" b="0" strike="noStrike" spc="-1">
                <a:solidFill>
                  <a:srgbClr val="000000"/>
                </a:solidFill>
                <a:latin typeface="Calibri"/>
                <a:ea typeface="Calibri"/>
              </a:rPr>
              <a:t>[1]  World Health Organization, Breast Cancer Fact Sheet, 2023.</a:t>
            </a:r>
            <a:endParaRPr lang="en-US" sz="950" b="0" strike="noStrike" spc="-1">
              <a:latin typeface="Arial"/>
            </a:endParaRPr>
          </a:p>
        </p:txBody>
      </p:sp>
      <p:sp>
        <p:nvSpPr>
          <p:cNvPr id="464" name="Text 6"/>
          <p:cNvSpPr/>
          <p:nvPr/>
        </p:nvSpPr>
        <p:spPr>
          <a:xfrm>
            <a:off x="274320" y="1261800"/>
            <a:ext cx="85950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50" b="0" strike="noStrike" spc="-1">
                <a:solidFill>
                  <a:srgbClr val="000000"/>
                </a:solidFill>
                <a:latin typeface="Calibri"/>
                <a:ea typeface="Calibri"/>
              </a:rPr>
              <a:t>[2]  American Cancer Society, Breast Cancer Statistics, CA: A Cancer Journal for Clinicians, 2023.</a:t>
            </a:r>
            <a:endParaRPr lang="en-US" sz="950" b="0" strike="noStrike" spc="-1">
              <a:latin typeface="Arial"/>
            </a:endParaRPr>
          </a:p>
        </p:txBody>
      </p:sp>
      <p:sp>
        <p:nvSpPr>
          <p:cNvPr id="465" name="Text 7"/>
          <p:cNvSpPr/>
          <p:nvPr/>
        </p:nvSpPr>
        <p:spPr>
          <a:xfrm>
            <a:off x="274320" y="1499760"/>
            <a:ext cx="85950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50" b="0" strike="noStrike" spc="-1">
                <a:solidFill>
                  <a:srgbClr val="000000"/>
                </a:solidFill>
                <a:latin typeface="Calibri"/>
                <a:ea typeface="Calibri"/>
              </a:rPr>
              <a:t>[3]  A. Hosny et al., Artificial intelligence in radiology, Nature Reviews Cancer, 2018.</a:t>
            </a:r>
            <a:endParaRPr lang="en-US" sz="950" b="0" strike="noStrike" spc="-1">
              <a:latin typeface="Arial"/>
            </a:endParaRPr>
          </a:p>
        </p:txBody>
      </p:sp>
      <p:sp>
        <p:nvSpPr>
          <p:cNvPr id="466" name="Text 8"/>
          <p:cNvSpPr/>
          <p:nvPr/>
        </p:nvSpPr>
        <p:spPr>
          <a:xfrm>
            <a:off x="274320" y="1737360"/>
            <a:ext cx="85950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50" b="0" strike="noStrike" spc="-1">
                <a:solidFill>
                  <a:srgbClr val="000000"/>
                </a:solidFill>
                <a:latin typeface="Calibri"/>
                <a:ea typeface="Calibri"/>
              </a:rPr>
              <a:t>[4]  G. Litjens et al., A survey on deep learning in medical image analysis, Medical Image Analysis, 2017.</a:t>
            </a:r>
            <a:endParaRPr lang="en-US" sz="950" b="0" strike="noStrike" spc="-1">
              <a:latin typeface="Arial"/>
            </a:endParaRPr>
          </a:p>
        </p:txBody>
      </p:sp>
      <p:sp>
        <p:nvSpPr>
          <p:cNvPr id="467" name="Text 9"/>
          <p:cNvSpPr/>
          <p:nvPr/>
        </p:nvSpPr>
        <p:spPr>
          <a:xfrm>
            <a:off x="274320" y="1974960"/>
            <a:ext cx="85950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50" b="0" strike="noStrike" spc="-1">
                <a:solidFill>
                  <a:srgbClr val="000000"/>
                </a:solidFill>
                <a:latin typeface="Calibri"/>
                <a:ea typeface="Calibri"/>
              </a:rPr>
              <a:t>[5]  R. Lee et al., The CBIS-DDSM dataset for mammography, Scientific Data, 2017.</a:t>
            </a:r>
            <a:endParaRPr lang="en-US" sz="950" b="0" strike="noStrike" spc="-1">
              <a:latin typeface="Arial"/>
            </a:endParaRPr>
          </a:p>
        </p:txBody>
      </p:sp>
      <p:sp>
        <p:nvSpPr>
          <p:cNvPr id="468" name="Text 10"/>
          <p:cNvSpPr/>
          <p:nvPr/>
        </p:nvSpPr>
        <p:spPr>
          <a:xfrm>
            <a:off x="274320" y="2212920"/>
            <a:ext cx="85950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50" b="0" strike="noStrike" spc="-1">
                <a:solidFill>
                  <a:srgbClr val="000000"/>
                </a:solidFill>
                <a:latin typeface="Calibri"/>
                <a:ea typeface="Calibri"/>
              </a:rPr>
              <a:t>[6]  J. Suckling et al., The MIAS database, 1994.</a:t>
            </a:r>
            <a:endParaRPr lang="en-US" sz="950" b="0" strike="noStrike" spc="-1">
              <a:latin typeface="Arial"/>
            </a:endParaRPr>
          </a:p>
        </p:txBody>
      </p:sp>
      <p:sp>
        <p:nvSpPr>
          <p:cNvPr id="469" name="Text 11"/>
          <p:cNvSpPr/>
          <p:nvPr/>
        </p:nvSpPr>
        <p:spPr>
          <a:xfrm>
            <a:off x="274320" y="2450520"/>
            <a:ext cx="85950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50" b="0" strike="noStrike" spc="-1" dirty="0">
                <a:solidFill>
                  <a:srgbClr val="000000"/>
                </a:solidFill>
                <a:latin typeface="Calibri"/>
                <a:ea typeface="Calibri"/>
              </a:rPr>
              <a:t>[7]  R. Ragab et al., Transfer learning for medical imaging, MICCAI, 2023.</a:t>
            </a:r>
            <a:endParaRPr lang="en-US" sz="950" b="0" strike="noStrike" spc="-1" dirty="0">
              <a:latin typeface="Arial"/>
            </a:endParaRPr>
          </a:p>
        </p:txBody>
      </p:sp>
      <p:sp>
        <p:nvSpPr>
          <p:cNvPr id="470" name="Text 12"/>
          <p:cNvSpPr/>
          <p:nvPr/>
        </p:nvSpPr>
        <p:spPr>
          <a:xfrm>
            <a:off x="274320" y="2688480"/>
            <a:ext cx="85950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50" b="0" strike="noStrike" spc="-1">
                <a:solidFill>
                  <a:srgbClr val="000000"/>
                </a:solidFill>
                <a:latin typeface="Calibri"/>
                <a:ea typeface="Calibri"/>
              </a:rPr>
              <a:t>[8]  Z. Liu et al., Swin Transformer: Hierarchical vision transformer using shifted windows, ICCV, 2021.</a:t>
            </a:r>
            <a:endParaRPr lang="en-US" sz="950" b="0" strike="noStrike" spc="-1">
              <a:latin typeface="Arial"/>
            </a:endParaRPr>
          </a:p>
        </p:txBody>
      </p:sp>
      <p:sp>
        <p:nvSpPr>
          <p:cNvPr id="471" name="Text 13"/>
          <p:cNvSpPr/>
          <p:nvPr/>
        </p:nvSpPr>
        <p:spPr>
          <a:xfrm>
            <a:off x="274320" y="2926080"/>
            <a:ext cx="85950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50" b="0" strike="noStrike" spc="-1">
                <a:solidFill>
                  <a:srgbClr val="000000"/>
                </a:solidFill>
                <a:latin typeface="Calibri"/>
                <a:ea typeface="Calibri"/>
              </a:rPr>
              <a:t>[9]  A. Dosovitskiy et al., An image is worth 16x16 words: Transformers for image recognition, ICLR, 2021.</a:t>
            </a:r>
            <a:endParaRPr lang="en-US" sz="950" b="0" strike="noStrike" spc="-1">
              <a:latin typeface="Arial"/>
            </a:endParaRPr>
          </a:p>
        </p:txBody>
      </p:sp>
      <p:sp>
        <p:nvSpPr>
          <p:cNvPr id="472" name="Text 14"/>
          <p:cNvSpPr/>
          <p:nvPr/>
        </p:nvSpPr>
        <p:spPr>
          <a:xfrm>
            <a:off x="274320" y="3163680"/>
            <a:ext cx="85950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50" b="0" strike="noStrike" spc="-1">
                <a:solidFill>
                  <a:srgbClr val="000000"/>
                </a:solidFill>
                <a:latin typeface="Calibri"/>
                <a:ea typeface="Calibri"/>
              </a:rPr>
              <a:t>[10] R. Selvaraju et al., Grad-CAM: Visual explanations from deep networks, Int. J. Computer Vision, 2020.</a:t>
            </a:r>
            <a:endParaRPr lang="en-US" sz="950" b="0" strike="noStrike" spc="-1">
              <a:latin typeface="Arial"/>
            </a:endParaRPr>
          </a:p>
        </p:txBody>
      </p:sp>
      <p:sp>
        <p:nvSpPr>
          <p:cNvPr id="473" name="Text 15"/>
          <p:cNvSpPr/>
          <p:nvPr/>
        </p:nvSpPr>
        <p:spPr>
          <a:xfrm>
            <a:off x="274320" y="3401640"/>
            <a:ext cx="85950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50" b="0" strike="noStrike" spc="-1">
                <a:solidFill>
                  <a:srgbClr val="000000"/>
                </a:solidFill>
                <a:latin typeface="Calibri"/>
                <a:ea typeface="Calibri"/>
              </a:rPr>
              <a:t>[11] F. Wu et al., CNN-based mammography classification using DenseNet, Diagnostics, 2023.</a:t>
            </a:r>
            <a:endParaRPr lang="en-US" sz="950" b="0" strike="noStrike" spc="-1">
              <a:latin typeface="Arial"/>
            </a:endParaRPr>
          </a:p>
        </p:txBody>
      </p:sp>
      <p:sp>
        <p:nvSpPr>
          <p:cNvPr id="474" name="Text 16"/>
          <p:cNvSpPr/>
          <p:nvPr/>
        </p:nvSpPr>
        <p:spPr>
          <a:xfrm>
            <a:off x="274320" y="3639240"/>
            <a:ext cx="85950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50" b="0" strike="noStrike" spc="-1">
                <a:solidFill>
                  <a:srgbClr val="000000"/>
                </a:solidFill>
                <a:latin typeface="Calibri"/>
                <a:ea typeface="Calibri"/>
              </a:rPr>
              <a:t>[12] M. Dutta et al., Interpretable machine learning for breast cancer diagnosis, BEEI, 2024.</a:t>
            </a:r>
            <a:endParaRPr lang="en-US" sz="950" b="0" strike="noStrike" spc="-1">
              <a:latin typeface="Arial"/>
            </a:endParaRPr>
          </a:p>
        </p:txBody>
      </p:sp>
      <p:sp>
        <p:nvSpPr>
          <p:cNvPr id="475" name="Text 17"/>
          <p:cNvSpPr/>
          <p:nvPr/>
        </p:nvSpPr>
        <p:spPr>
          <a:xfrm>
            <a:off x="274320" y="3877200"/>
            <a:ext cx="85950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50" b="0" strike="noStrike" spc="-1">
                <a:solidFill>
                  <a:srgbClr val="000000"/>
                </a:solidFill>
                <a:latin typeface="Calibri"/>
                <a:ea typeface="Calibri"/>
              </a:rPr>
              <a:t>[13] K. He et al., Deep residual learning for image recognition, CVPR, 2016.</a:t>
            </a:r>
            <a:endParaRPr lang="en-US" sz="950" b="0" strike="noStrike" spc="-1">
              <a:latin typeface="Arial"/>
            </a:endParaRPr>
          </a:p>
        </p:txBody>
      </p:sp>
      <p:sp>
        <p:nvSpPr>
          <p:cNvPr id="476" name="Text 18"/>
          <p:cNvSpPr/>
          <p:nvPr/>
        </p:nvSpPr>
        <p:spPr>
          <a:xfrm>
            <a:off x="274320" y="4114800"/>
            <a:ext cx="85950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50" b="0" strike="noStrike" spc="-1">
                <a:solidFill>
                  <a:srgbClr val="000000"/>
                </a:solidFill>
                <a:latin typeface="Calibri"/>
                <a:ea typeface="Calibri"/>
              </a:rPr>
              <a:t>[14] T. Mahesh et al., Performance analysis of XGBoost ensemble methods, Healthcare, 2022.</a:t>
            </a:r>
            <a:endParaRPr lang="en-US" sz="950" b="0" strike="noStrike" spc="-1">
              <a:latin typeface="Arial"/>
            </a:endParaRPr>
          </a:p>
        </p:txBody>
      </p:sp>
      <p:sp>
        <p:nvSpPr>
          <p:cNvPr id="477" name="Text 19"/>
          <p:cNvSpPr/>
          <p:nvPr/>
        </p:nvSpPr>
        <p:spPr>
          <a:xfrm>
            <a:off x="274320" y="4352400"/>
            <a:ext cx="85950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50" b="0" strike="noStrike" spc="-1">
                <a:solidFill>
                  <a:srgbClr val="000000"/>
                </a:solidFill>
                <a:latin typeface="Calibri"/>
                <a:ea typeface="Calibri"/>
              </a:rPr>
              <a:t>[15] E. Topol, High-performance medicine: The convergence of human and artificial intelligence, Nature Medicine, 2019.</a:t>
            </a:r>
            <a:endParaRPr lang="en-US" sz="950" b="0" strike="noStrike" spc="-1">
              <a:latin typeface="Arial"/>
            </a:endParaRPr>
          </a:p>
        </p:txBody>
      </p:sp>
      <p:sp>
        <p:nvSpPr>
          <p:cNvPr id="478" name="Shape 20"/>
          <p:cNvSpPr/>
          <p:nvPr/>
        </p:nvSpPr>
        <p:spPr>
          <a:xfrm>
            <a:off x="0" y="4919400"/>
            <a:ext cx="9143640" cy="223560"/>
          </a:xfrm>
          <a:prstGeom prst="rect">
            <a:avLst/>
          </a:prstGeom>
          <a:solidFill>
            <a:srgbClr val="D9D9D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79" name="Text 21"/>
          <p:cNvSpPr/>
          <p:nvPr/>
        </p:nvSpPr>
        <p:spPr>
          <a:xfrm>
            <a:off x="0" y="4919400"/>
            <a:ext cx="9143640" cy="223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00" b="0" strike="noStrike" spc="-1">
                <a:solidFill>
                  <a:srgbClr val="808080"/>
                </a:solidFill>
                <a:latin typeface="Calibri"/>
                <a:ea typeface="Calibri"/>
              </a:rPr>
              <a:t>Department Of CSE  |  KGiSL Institute of Technology, Coimbatore</a:t>
            </a:r>
            <a:endParaRPr lang="en-US" sz="9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Shape 0"/>
          <p:cNvSpPr/>
          <p:nvPr/>
        </p:nvSpPr>
        <p:spPr>
          <a:xfrm>
            <a:off x="0" y="0"/>
            <a:ext cx="9143640" cy="502560"/>
          </a:xfrm>
          <a:prstGeom prst="rect">
            <a:avLst/>
          </a:prstGeom>
          <a:solidFill>
            <a:schemeClr val="bg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81" name="Text 1"/>
          <p:cNvSpPr/>
          <p:nvPr/>
        </p:nvSpPr>
        <p:spPr>
          <a:xfrm>
            <a:off x="228600" y="36720"/>
            <a:ext cx="7772040" cy="429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1" strike="noStrike" spc="-1" dirty="0">
                <a:latin typeface="Calibri"/>
                <a:ea typeface="Calibri"/>
              </a:rPr>
              <a:t>REFERENCES (Continued)</a:t>
            </a:r>
            <a:endParaRPr lang="en-US" sz="2000" b="0" strike="noStrike" spc="-1" dirty="0">
              <a:latin typeface="Arial"/>
            </a:endParaRPr>
          </a:p>
        </p:txBody>
      </p:sp>
      <p:sp>
        <p:nvSpPr>
          <p:cNvPr id="482" name="Text 2"/>
          <p:cNvSpPr/>
          <p:nvPr/>
        </p:nvSpPr>
        <p:spPr>
          <a:xfrm>
            <a:off x="8503920" y="36720"/>
            <a:ext cx="594000" cy="429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1" strike="noStrike" spc="-1">
                <a:solidFill>
                  <a:srgbClr val="FFFFFF"/>
                </a:solidFill>
                <a:latin typeface="Calibri"/>
              </a:rPr>
              <a:t>26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483" name="Text 3"/>
          <p:cNvSpPr/>
          <p:nvPr/>
        </p:nvSpPr>
        <p:spPr>
          <a:xfrm>
            <a:off x="228600" y="594360"/>
            <a:ext cx="868644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600" b="1" strike="noStrike" spc="-1">
                <a:solidFill>
                  <a:srgbClr val="1F3864"/>
                </a:solidFill>
                <a:latin typeface="Calibri"/>
                <a:ea typeface="Calibri"/>
              </a:rPr>
              <a:t>Key References [16–30]</a:t>
            </a:r>
            <a:endParaRPr lang="en-US" sz="1600" b="0" strike="noStrike" spc="-1">
              <a:latin typeface="Arial"/>
            </a:endParaRPr>
          </a:p>
        </p:txBody>
      </p:sp>
      <p:sp>
        <p:nvSpPr>
          <p:cNvPr id="484" name="Shape 4"/>
          <p:cNvSpPr/>
          <p:nvPr/>
        </p:nvSpPr>
        <p:spPr>
          <a:xfrm>
            <a:off x="228600" y="941760"/>
            <a:ext cx="8686440" cy="27000"/>
          </a:xfrm>
          <a:prstGeom prst="rect">
            <a:avLst/>
          </a:prstGeom>
          <a:solidFill>
            <a:srgbClr val="2E74B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85" name="Text 5"/>
          <p:cNvSpPr/>
          <p:nvPr/>
        </p:nvSpPr>
        <p:spPr>
          <a:xfrm>
            <a:off x="274320" y="1024200"/>
            <a:ext cx="85950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50" b="0" strike="noStrike" spc="-1">
                <a:solidFill>
                  <a:srgbClr val="000000"/>
                </a:solidFill>
                <a:latin typeface="Calibri"/>
                <a:ea typeface="Calibri"/>
              </a:rPr>
              <a:t>[16] F. Liu et al., Multi-modal breast cancer detection, Medical Image Analysis, 2024.</a:t>
            </a:r>
            <a:endParaRPr lang="en-US" sz="950" b="0" strike="noStrike" spc="-1">
              <a:latin typeface="Arial"/>
            </a:endParaRPr>
          </a:p>
        </p:txBody>
      </p:sp>
      <p:sp>
        <p:nvSpPr>
          <p:cNvPr id="486" name="Text 6"/>
          <p:cNvSpPr/>
          <p:nvPr/>
        </p:nvSpPr>
        <p:spPr>
          <a:xfrm>
            <a:off x="274320" y="1261800"/>
            <a:ext cx="85950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50" b="0" strike="noStrike" spc="-1">
                <a:solidFill>
                  <a:srgbClr val="000000"/>
                </a:solidFill>
                <a:latin typeface="Calibri"/>
                <a:ea typeface="Calibri"/>
              </a:rPr>
              <a:t>[17] M. Rahman et al., A comprehensive survey on deep learning in breast cancer detection, IEEE Access, 2023.</a:t>
            </a:r>
            <a:endParaRPr lang="en-US" sz="950" b="0" strike="noStrike" spc="-1">
              <a:latin typeface="Arial"/>
            </a:endParaRPr>
          </a:p>
        </p:txBody>
      </p:sp>
      <p:sp>
        <p:nvSpPr>
          <p:cNvPr id="487" name="Text 7"/>
          <p:cNvSpPr/>
          <p:nvPr/>
        </p:nvSpPr>
        <p:spPr>
          <a:xfrm>
            <a:off x="274320" y="1499760"/>
            <a:ext cx="85950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50" b="0" strike="noStrike" spc="-1">
                <a:solidFill>
                  <a:srgbClr val="000000"/>
                </a:solidFill>
                <a:latin typeface="Calibri"/>
                <a:ea typeface="Calibri"/>
              </a:rPr>
              <a:t>[18] H. Shin et al., Deep learning in mammography: Current status and future perspectives, Korean J. Radiology, 2024.</a:t>
            </a:r>
            <a:endParaRPr lang="en-US" sz="950" b="0" strike="noStrike" spc="-1">
              <a:latin typeface="Arial"/>
            </a:endParaRPr>
          </a:p>
        </p:txBody>
      </p:sp>
      <p:sp>
        <p:nvSpPr>
          <p:cNvPr id="488" name="Text 8"/>
          <p:cNvSpPr/>
          <p:nvPr/>
        </p:nvSpPr>
        <p:spPr>
          <a:xfrm>
            <a:off x="274320" y="1737360"/>
            <a:ext cx="85950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50" b="0" strike="noStrike" spc="-1">
                <a:solidFill>
                  <a:srgbClr val="000000"/>
                </a:solidFill>
                <a:latin typeface="Calibri"/>
                <a:ea typeface="Calibri"/>
              </a:rPr>
              <a:t>[19] A. Hamidinekoo et al., Deep learning for mammogram analysis, Physics in Medicine and Biology, 2021.</a:t>
            </a:r>
            <a:endParaRPr lang="en-US" sz="950" b="0" strike="noStrike" spc="-1">
              <a:latin typeface="Arial"/>
            </a:endParaRPr>
          </a:p>
        </p:txBody>
      </p:sp>
      <p:sp>
        <p:nvSpPr>
          <p:cNvPr id="489" name="Text 9"/>
          <p:cNvSpPr/>
          <p:nvPr/>
        </p:nvSpPr>
        <p:spPr>
          <a:xfrm>
            <a:off x="274320" y="1974960"/>
            <a:ext cx="85950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50" b="0" strike="noStrike" spc="-1">
                <a:solidFill>
                  <a:srgbClr val="000000"/>
                </a:solidFill>
                <a:latin typeface="Calibri"/>
                <a:ea typeface="Calibri"/>
              </a:rPr>
              <a:t>[20] L. Shen et al., Deep active learning for breast cancer segmentation, Medical Image Analysis, 2021.</a:t>
            </a:r>
            <a:endParaRPr lang="en-US" sz="950" b="0" strike="noStrike" spc="-1">
              <a:latin typeface="Arial"/>
            </a:endParaRPr>
          </a:p>
        </p:txBody>
      </p:sp>
      <p:sp>
        <p:nvSpPr>
          <p:cNvPr id="490" name="Text 10"/>
          <p:cNvSpPr/>
          <p:nvPr/>
        </p:nvSpPr>
        <p:spPr>
          <a:xfrm>
            <a:off x="274320" y="2212920"/>
            <a:ext cx="85950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50" b="0" strike="noStrike" spc="-1">
                <a:solidFill>
                  <a:srgbClr val="000000"/>
                </a:solidFill>
                <a:latin typeface="Calibri"/>
                <a:ea typeface="Calibri"/>
              </a:rPr>
              <a:t>[21] Y. Zhang et al., Attention networks for medical image classification, IEEE Trans. Medical Imaging, 2023.</a:t>
            </a:r>
            <a:endParaRPr lang="en-US" sz="950" b="0" strike="noStrike" spc="-1">
              <a:latin typeface="Arial"/>
            </a:endParaRPr>
          </a:p>
        </p:txBody>
      </p:sp>
      <p:sp>
        <p:nvSpPr>
          <p:cNvPr id="491" name="Text 11"/>
          <p:cNvSpPr/>
          <p:nvPr/>
        </p:nvSpPr>
        <p:spPr>
          <a:xfrm>
            <a:off x="274320" y="2450520"/>
            <a:ext cx="85950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50" b="0" strike="noStrike" spc="-1">
                <a:solidFill>
                  <a:srgbClr val="000000"/>
                </a:solidFill>
                <a:latin typeface="Calibri"/>
                <a:ea typeface="Calibri"/>
              </a:rPr>
              <a:t>[22] R. Geirhos et al., Shortcut learning in deep neural networks, Nature Machine Intelligence, 2020.</a:t>
            </a:r>
            <a:endParaRPr lang="en-US" sz="950" b="0" strike="noStrike" spc="-1">
              <a:latin typeface="Arial"/>
            </a:endParaRPr>
          </a:p>
        </p:txBody>
      </p:sp>
      <p:sp>
        <p:nvSpPr>
          <p:cNvPr id="492" name="Text 12"/>
          <p:cNvSpPr/>
          <p:nvPr/>
        </p:nvSpPr>
        <p:spPr>
          <a:xfrm>
            <a:off x="274320" y="2688480"/>
            <a:ext cx="85950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50" b="0" strike="noStrike" spc="-1">
                <a:solidFill>
                  <a:srgbClr val="000000"/>
                </a:solidFill>
                <a:latin typeface="Calibri"/>
                <a:ea typeface="Calibri"/>
              </a:rPr>
              <a:t>[23] S. Sagadeeva et al., Shortcut learning leads to bias in medical diagnosis, medRxiv, 2024.</a:t>
            </a:r>
            <a:endParaRPr lang="en-US" sz="950" b="0" strike="noStrike" spc="-1">
              <a:latin typeface="Arial"/>
            </a:endParaRPr>
          </a:p>
        </p:txBody>
      </p:sp>
      <p:sp>
        <p:nvSpPr>
          <p:cNvPr id="493" name="Text 13"/>
          <p:cNvSpPr/>
          <p:nvPr/>
        </p:nvSpPr>
        <p:spPr>
          <a:xfrm>
            <a:off x="274320" y="2926080"/>
            <a:ext cx="85950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50" b="0" strike="noStrike" spc="-1">
                <a:solidFill>
                  <a:srgbClr val="000000"/>
                </a:solidFill>
                <a:latin typeface="Calibri"/>
                <a:ea typeface="Calibri"/>
              </a:rPr>
              <a:t>[24] A. Esteva et al., Dermatologist-level classification of skin cancer, Nature, 2017.</a:t>
            </a:r>
            <a:endParaRPr lang="en-US" sz="950" b="0" strike="noStrike" spc="-1">
              <a:latin typeface="Arial"/>
            </a:endParaRPr>
          </a:p>
        </p:txBody>
      </p:sp>
      <p:sp>
        <p:nvSpPr>
          <p:cNvPr id="494" name="Text 14"/>
          <p:cNvSpPr/>
          <p:nvPr/>
        </p:nvSpPr>
        <p:spPr>
          <a:xfrm>
            <a:off x="274320" y="3163680"/>
            <a:ext cx="85950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50" b="0" strike="noStrike" spc="-1">
                <a:solidFill>
                  <a:srgbClr val="000000"/>
                </a:solidFill>
                <a:latin typeface="Calibri"/>
                <a:ea typeface="Calibri"/>
              </a:rPr>
              <a:t>[25] A. Madani et al., Fast and accurate view classification of mammograms, IEEE ISBI, 2018.</a:t>
            </a:r>
            <a:endParaRPr lang="en-US" sz="950" b="0" strike="noStrike" spc="-1">
              <a:latin typeface="Arial"/>
            </a:endParaRPr>
          </a:p>
        </p:txBody>
      </p:sp>
      <p:sp>
        <p:nvSpPr>
          <p:cNvPr id="495" name="Text 15"/>
          <p:cNvSpPr/>
          <p:nvPr/>
        </p:nvSpPr>
        <p:spPr>
          <a:xfrm>
            <a:off x="274320" y="3401640"/>
            <a:ext cx="85950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50" b="0" strike="noStrike" spc="-1">
                <a:solidFill>
                  <a:srgbClr val="000000"/>
                </a:solidFill>
                <a:latin typeface="Calibri"/>
                <a:ea typeface="Calibri"/>
              </a:rPr>
              <a:t>[26] J. Ker et al., Deep learning applications in medical image analysis, J. X-Ray Sci. Tech., 2018.</a:t>
            </a:r>
            <a:endParaRPr lang="en-US" sz="950" b="0" strike="noStrike" spc="-1">
              <a:latin typeface="Arial"/>
            </a:endParaRPr>
          </a:p>
        </p:txBody>
      </p:sp>
      <p:sp>
        <p:nvSpPr>
          <p:cNvPr id="496" name="Text 16"/>
          <p:cNvSpPr/>
          <p:nvPr/>
        </p:nvSpPr>
        <p:spPr>
          <a:xfrm>
            <a:off x="274320" y="3639240"/>
            <a:ext cx="85950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50" b="0" strike="noStrike" spc="-1">
                <a:solidFill>
                  <a:srgbClr val="000000"/>
                </a:solidFill>
                <a:latin typeface="Calibri"/>
                <a:ea typeface="Calibri"/>
              </a:rPr>
              <a:t>[27] S. Anwar et al., Medical image analysis using CNNs, Journal of Medical Systems, 2018.</a:t>
            </a:r>
            <a:endParaRPr lang="en-US" sz="950" b="0" strike="noStrike" spc="-1">
              <a:latin typeface="Arial"/>
            </a:endParaRPr>
          </a:p>
        </p:txBody>
      </p:sp>
      <p:sp>
        <p:nvSpPr>
          <p:cNvPr id="497" name="Text 17"/>
          <p:cNvSpPr/>
          <p:nvPr/>
        </p:nvSpPr>
        <p:spPr>
          <a:xfrm>
            <a:off x="274320" y="3877200"/>
            <a:ext cx="85950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50" b="0" strike="noStrike" spc="-1">
                <a:solidFill>
                  <a:srgbClr val="000000"/>
                </a:solidFill>
                <a:latin typeface="Calibri"/>
                <a:ea typeface="Calibri"/>
              </a:rPr>
              <a:t>[28] P. Tang et al., Automated breast cancer detection in mammography using DL, IEEE Trans. Med. Imaging, 2023.</a:t>
            </a:r>
            <a:endParaRPr lang="en-US" sz="950" b="0" strike="noStrike" spc="-1">
              <a:latin typeface="Arial"/>
            </a:endParaRPr>
          </a:p>
        </p:txBody>
      </p:sp>
      <p:sp>
        <p:nvSpPr>
          <p:cNvPr id="498" name="Text 18"/>
          <p:cNvSpPr/>
          <p:nvPr/>
        </p:nvSpPr>
        <p:spPr>
          <a:xfrm>
            <a:off x="274320" y="4114800"/>
            <a:ext cx="85950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50" b="0" strike="noStrike" spc="-1">
                <a:solidFill>
                  <a:srgbClr val="000000"/>
                </a:solidFill>
                <a:latin typeface="Calibri"/>
                <a:ea typeface="Calibri"/>
              </a:rPr>
              <a:t>[29] Z. Liu et al., A ConvNet for the 2020s, CVPR, 2022.</a:t>
            </a:r>
            <a:endParaRPr lang="en-US" sz="950" b="0" strike="noStrike" spc="-1">
              <a:latin typeface="Arial"/>
            </a:endParaRPr>
          </a:p>
        </p:txBody>
      </p:sp>
      <p:sp>
        <p:nvSpPr>
          <p:cNvPr id="499" name="Text 19"/>
          <p:cNvSpPr/>
          <p:nvPr/>
        </p:nvSpPr>
        <p:spPr>
          <a:xfrm>
            <a:off x="274320" y="4352400"/>
            <a:ext cx="85950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50" b="0" strike="noStrike" spc="-1">
                <a:solidFill>
                  <a:srgbClr val="000000"/>
                </a:solidFill>
                <a:latin typeface="Calibri"/>
                <a:ea typeface="Calibri"/>
              </a:rPr>
              <a:t>[30] Hugging Face, LLaMA: Open foundation language models, Meta AI, 2023.</a:t>
            </a:r>
            <a:endParaRPr lang="en-US" sz="950" b="0" strike="noStrike" spc="-1">
              <a:latin typeface="Arial"/>
            </a:endParaRPr>
          </a:p>
        </p:txBody>
      </p:sp>
      <p:sp>
        <p:nvSpPr>
          <p:cNvPr id="500" name="Shape 20"/>
          <p:cNvSpPr/>
          <p:nvPr/>
        </p:nvSpPr>
        <p:spPr>
          <a:xfrm>
            <a:off x="0" y="4919400"/>
            <a:ext cx="9143640" cy="223560"/>
          </a:xfrm>
          <a:prstGeom prst="rect">
            <a:avLst/>
          </a:prstGeom>
          <a:solidFill>
            <a:srgbClr val="D9D9D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01" name="Text 21"/>
          <p:cNvSpPr/>
          <p:nvPr/>
        </p:nvSpPr>
        <p:spPr>
          <a:xfrm>
            <a:off x="0" y="4919400"/>
            <a:ext cx="9143640" cy="223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00" b="0" strike="noStrike" spc="-1">
                <a:solidFill>
                  <a:srgbClr val="808080"/>
                </a:solidFill>
                <a:latin typeface="Calibri"/>
                <a:ea typeface="Calibri"/>
              </a:rPr>
              <a:t>Department Of CSE  |  KGiSL Institute of Technology, Coimbatore</a:t>
            </a:r>
            <a:endParaRPr lang="en-US" sz="9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Shape 0"/>
          <p:cNvSpPr/>
          <p:nvPr/>
        </p:nvSpPr>
        <p:spPr>
          <a:xfrm>
            <a:off x="0" y="0"/>
            <a:ext cx="9143640" cy="502560"/>
          </a:xfrm>
          <a:prstGeom prst="rect">
            <a:avLst/>
          </a:prstGeom>
          <a:solidFill>
            <a:schemeClr val="bg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03" name="Text 1"/>
          <p:cNvSpPr/>
          <p:nvPr/>
        </p:nvSpPr>
        <p:spPr>
          <a:xfrm>
            <a:off x="182880" y="73080"/>
            <a:ext cx="8777880" cy="356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0" b="1" strike="noStrike" spc="-1" dirty="0">
                <a:latin typeface="Calibri"/>
                <a:ea typeface="Calibri"/>
              </a:rPr>
              <a:t>KGiSL INSTITUTE OF TECHNOLOGY — DEPARTMENT OF COMPUTER SCIENCE &amp; ENGINEERING</a:t>
            </a:r>
            <a:endParaRPr lang="en-US" sz="1100" b="0" strike="noStrike" spc="-1" dirty="0">
              <a:latin typeface="Arial"/>
            </a:endParaRPr>
          </a:p>
        </p:txBody>
      </p:sp>
      <p:sp>
        <p:nvSpPr>
          <p:cNvPr id="504" name="Text 2"/>
          <p:cNvSpPr/>
          <p:nvPr/>
        </p:nvSpPr>
        <p:spPr>
          <a:xfrm>
            <a:off x="457200" y="1371600"/>
            <a:ext cx="8229240" cy="1096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6000" b="1" strike="noStrike" spc="599">
                <a:solidFill>
                  <a:srgbClr val="1F3864"/>
                </a:solidFill>
                <a:latin typeface="Calibri"/>
                <a:ea typeface="Calibri"/>
              </a:rPr>
              <a:t>THANK YOU</a:t>
            </a:r>
            <a:endParaRPr lang="en-US" sz="6000" b="0" strike="noStrike" spc="-1">
              <a:latin typeface="Arial"/>
            </a:endParaRPr>
          </a:p>
        </p:txBody>
      </p:sp>
      <p:sp>
        <p:nvSpPr>
          <p:cNvPr id="505" name="Shape 3"/>
          <p:cNvSpPr/>
          <p:nvPr/>
        </p:nvSpPr>
        <p:spPr>
          <a:xfrm>
            <a:off x="1828800" y="2578680"/>
            <a:ext cx="5486040" cy="45360"/>
          </a:xfrm>
          <a:prstGeom prst="rect">
            <a:avLst/>
          </a:prstGeom>
          <a:solidFill>
            <a:srgbClr val="2E74B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06" name="Text 4"/>
          <p:cNvSpPr/>
          <p:nvPr/>
        </p:nvSpPr>
        <p:spPr>
          <a:xfrm>
            <a:off x="457200" y="2697480"/>
            <a:ext cx="822924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300" b="1" strike="noStrike" spc="-1">
                <a:solidFill>
                  <a:srgbClr val="1F3864"/>
                </a:solidFill>
                <a:latin typeface="Calibri"/>
                <a:ea typeface="Calibri"/>
              </a:rPr>
              <a:t>Parallel Dual-Stream Vision Transformer Network for</a:t>
            </a:r>
            <a:endParaRPr lang="en-US" sz="1300" b="0" strike="noStrike" spc="-1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300" b="1" strike="noStrike" spc="-1">
                <a:solidFill>
                  <a:srgbClr val="1F3864"/>
                </a:solidFill>
                <a:latin typeface="Calibri"/>
                <a:ea typeface="Calibri"/>
              </a:rPr>
              <a:t>Breast Cancer Classification in Mammography Images</a:t>
            </a:r>
            <a:endParaRPr lang="en-US" sz="1300" b="0" strike="noStrike" spc="-1">
              <a:latin typeface="Arial"/>
            </a:endParaRPr>
          </a:p>
        </p:txBody>
      </p:sp>
      <p:sp>
        <p:nvSpPr>
          <p:cNvPr id="507" name="Text 5"/>
          <p:cNvSpPr/>
          <p:nvPr/>
        </p:nvSpPr>
        <p:spPr>
          <a:xfrm>
            <a:off x="457200" y="3474720"/>
            <a:ext cx="822924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0" b="0" strike="noStrike" spc="-1">
                <a:solidFill>
                  <a:srgbClr val="595959"/>
                </a:solidFill>
                <a:latin typeface="Calibri"/>
                <a:ea typeface="Calibri"/>
              </a:rPr>
              <a:t>Ms. Dhamayanthi P  |  Keerthi R V  |  Mahesh Kanna K  |  Loganathan S  |  Arunadevi D</a:t>
            </a:r>
            <a:endParaRPr lang="en-US" sz="1100" b="0" strike="noStrike" spc="-1">
              <a:latin typeface="Arial"/>
            </a:endParaRPr>
          </a:p>
        </p:txBody>
      </p:sp>
      <p:sp>
        <p:nvSpPr>
          <p:cNvPr id="508" name="Text 6"/>
          <p:cNvSpPr/>
          <p:nvPr/>
        </p:nvSpPr>
        <p:spPr>
          <a:xfrm>
            <a:off x="457200" y="374904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50" b="0" strike="noStrike" spc="-1">
                <a:solidFill>
                  <a:srgbClr val="595959"/>
                </a:solidFill>
                <a:latin typeface="Calibri"/>
                <a:ea typeface="Calibri"/>
              </a:rPr>
              <a:t>Department of Computer Science &amp; Engineering  |  KGiSL Institute of Technology, Coimbatore</a:t>
            </a:r>
            <a:endParaRPr lang="en-US" sz="1050" b="0" strike="noStrike" spc="-1">
              <a:latin typeface="Arial"/>
            </a:endParaRPr>
          </a:p>
        </p:txBody>
      </p:sp>
      <p:sp>
        <p:nvSpPr>
          <p:cNvPr id="509" name="Text 7"/>
          <p:cNvSpPr/>
          <p:nvPr/>
        </p:nvSpPr>
        <p:spPr>
          <a:xfrm>
            <a:off x="457200" y="4041720"/>
            <a:ext cx="82292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50" b="0" strike="noStrike" spc="-1" dirty="0">
                <a:latin typeface="Calibri"/>
                <a:ea typeface="Calibri"/>
              </a:rPr>
              <a:t>MSW Management Journal  |  ISSN: 1053-7899  |  Vol. 36, Issue 1, 2026  |  Pages: 3334–3339</a:t>
            </a:r>
            <a:endParaRPr lang="en-US" sz="950" b="0" strike="noStrike" spc="-1" dirty="0">
              <a:latin typeface="Arial"/>
            </a:endParaRPr>
          </a:p>
        </p:txBody>
      </p:sp>
      <p:sp>
        <p:nvSpPr>
          <p:cNvPr id="510" name="Shape 8"/>
          <p:cNvSpPr/>
          <p:nvPr/>
        </p:nvSpPr>
        <p:spPr>
          <a:xfrm>
            <a:off x="0" y="4919400"/>
            <a:ext cx="9143640" cy="223560"/>
          </a:xfrm>
          <a:prstGeom prst="rect">
            <a:avLst/>
          </a:prstGeom>
          <a:solidFill>
            <a:srgbClr val="D9D9D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11" name="Text 9"/>
          <p:cNvSpPr/>
          <p:nvPr/>
        </p:nvSpPr>
        <p:spPr>
          <a:xfrm>
            <a:off x="0" y="4919400"/>
            <a:ext cx="9143640" cy="223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00" b="0" strike="noStrike" spc="-1">
                <a:solidFill>
                  <a:srgbClr val="808080"/>
                </a:solidFill>
                <a:latin typeface="Calibri"/>
                <a:ea typeface="Calibri"/>
              </a:rPr>
              <a:t>Department Of CSE  |  KGiSL Institute of Technology, Coimbatore</a:t>
            </a:r>
            <a:endParaRPr lang="en-US" sz="900" b="0" strike="noStrike" spc="-1">
              <a:latin typeface="Arial"/>
            </a:endParaRPr>
          </a:p>
        </p:txBody>
      </p:sp>
      <p:sp>
        <p:nvSpPr>
          <p:cNvPr id="512" name="Text 10"/>
          <p:cNvSpPr/>
          <p:nvPr/>
        </p:nvSpPr>
        <p:spPr>
          <a:xfrm>
            <a:off x="8778240" y="4846320"/>
            <a:ext cx="27396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00" b="0" strike="noStrike" spc="-1">
                <a:solidFill>
                  <a:srgbClr val="808080"/>
                </a:solidFill>
                <a:latin typeface="Calibri"/>
              </a:rPr>
              <a:t>27</a:t>
            </a:r>
            <a:endParaRPr lang="en-US" sz="1000" b="0" strike="noStrike" spc="-1"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1166</TotalTime>
  <Words>4887</Words>
  <Application>Microsoft Office PowerPoint</Application>
  <PresentationFormat>On-screen Show (16:9)</PresentationFormat>
  <Paragraphs>605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40" baseType="lpstr">
      <vt:lpstr>Arial</vt:lpstr>
      <vt:lpstr>Calibri</vt:lpstr>
      <vt:lpstr>Courier New</vt:lpstr>
      <vt:lpstr>Google Sans Text</vt:lpstr>
      <vt:lpstr>Symbol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Parallel Dual-Stream Vision Transformer for Breast Cancer Classification</dc:title>
  <dc:subject>PptxGenJS Presentation</dc:subject>
  <dc:creator>PptxGenJS</dc:creator>
  <dc:description/>
  <cp:lastModifiedBy>keerthi Rajkumar</cp:lastModifiedBy>
  <cp:revision>27</cp:revision>
  <dcterms:created xsi:type="dcterms:W3CDTF">2026-03-17T16:59:24Z</dcterms:created>
  <dcterms:modified xsi:type="dcterms:W3CDTF">2026-03-22T13:35:08Z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27</vt:i4>
  </property>
  <property fmtid="{D5CDD505-2E9C-101B-9397-08002B2CF9AE}" pid="3" name="PresentationFormat">
    <vt:lpwstr>On-screen Show (16:9)</vt:lpwstr>
  </property>
  <property fmtid="{D5CDD505-2E9C-101B-9397-08002B2CF9AE}" pid="4" name="Slides">
    <vt:i4>27</vt:i4>
  </property>
</Properties>
</file>